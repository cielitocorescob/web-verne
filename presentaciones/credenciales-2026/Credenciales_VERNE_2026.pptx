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5"/>
  </p:notesMasterIdLst>
  <p:handoutMasterIdLst>
    <p:handoutMasterId r:id="rId16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80822"/>
  </p:normalViewPr>
  <p:slideViewPr>
    <p:cSldViewPr snapToGrid="0" snapToObjects="1">
      <p:cViewPr varScale="1">
        <p:scale>
          <a:sx n="101" d="100"/>
          <a:sy n="101" d="100"/>
        </p:scale>
        <p:origin x="154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72" d="100"/>
          <a:sy n="72" d="100"/>
        </p:scale>
        <p:origin x="4872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ED468A17-14F2-0492-80D3-E68B7A915D3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80F9C3C-E504-791C-BF65-E19B6CA87E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B8ABE4-1F0C-5A4A-BB38-D28C5F4C7840}" type="datetimeFigureOut">
              <a:rPr lang="es-PE" smtClean="0"/>
              <a:t>1/10/26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CE92177-3E7C-C5BB-200B-82E4DA03D01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D6F8527-29A5-3940-FD05-718AD4DF878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73F708-9E72-5340-8196-40503EE965B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558954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18588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18610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6177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compartamos-banco/f5aa2cae-8dfb-5efa-902a-389d1c1ca7cd/scratchpad/build/a/verne_purple.png">
            <a:extLst>
              <a:ext uri="{FF2B5EF4-FFF2-40B4-BE49-F238E27FC236}">
                <a16:creationId xmlns:a16="http://schemas.microsoft.com/office/drawing/2014/main" id="{FBB6DC3B-FB91-824D-CEFF-13DEA329E68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945368" y="384048"/>
            <a:ext cx="960120" cy="337771"/>
          </a:xfrm>
          <a:prstGeom prst="rect">
            <a:avLst/>
          </a:prstGeom>
        </p:spPr>
      </p:pic>
      <p:sp>
        <p:nvSpPr>
          <p:cNvPr id="3" name="Text 19">
            <a:extLst>
              <a:ext uri="{FF2B5EF4-FFF2-40B4-BE49-F238E27FC236}">
                <a16:creationId xmlns:a16="http://schemas.microsoft.com/office/drawing/2014/main" id="{7A0CFB29-85BB-E5E4-3FF9-FD0648AF6788}"/>
              </a:ext>
            </a:extLst>
          </p:cNvPr>
          <p:cNvSpPr txBox="1"/>
          <p:nvPr userDrawn="1"/>
        </p:nvSpPr>
        <p:spPr>
          <a:xfrm>
            <a:off x="10076688" y="64190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s-PE" altLang="en-US" sz="900" dirty="0">
                <a:solidFill>
                  <a:srgbClr val="8A8CA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www.verne.la</a:t>
            </a:r>
            <a:endParaRPr lang="es-PE" sz="900" dirty="0"/>
          </a:p>
        </p:txBody>
      </p:sp>
      <p:sp>
        <p:nvSpPr>
          <p:cNvPr id="5" name="Google Shape;6;g3a6107b0a18_10_0">
            <a:extLst>
              <a:ext uri="{FF2B5EF4-FFF2-40B4-BE49-F238E27FC236}">
                <a16:creationId xmlns:a16="http://schemas.microsoft.com/office/drawing/2014/main" id="{6C4E5576-B09F-ADF2-2BBB-D511D116F8AB}"/>
              </a:ext>
            </a:extLst>
          </p:cNvPr>
          <p:cNvSpPr txBox="1"/>
          <p:nvPr userDrawn="1"/>
        </p:nvSpPr>
        <p:spPr>
          <a:xfrm>
            <a:off x="-255255" y="6453553"/>
            <a:ext cx="929600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en" sz="1100" b="1" i="0" u="none" strike="noStrike" cap="none">
                <a:solidFill>
                  <a:srgbClr val="25283D"/>
                </a:solidFill>
                <a:latin typeface="Poppins"/>
                <a:ea typeface="Poppins"/>
                <a:cs typeface="Poppins"/>
                <a:sym typeface="Poppins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t>‹Nº›</a:t>
            </a:fld>
            <a:endParaRPr sz="1100" b="1" i="0" u="none" strike="noStrike" cap="none" dirty="0">
              <a:solidFill>
                <a:srgbClr val="25283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189482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26" Type="http://schemas.openxmlformats.org/officeDocument/2006/relationships/image" Target="../media/image26.png"/><Relationship Id="rId3" Type="http://schemas.openxmlformats.org/officeDocument/2006/relationships/image" Target="../media/image3.png"/><Relationship Id="rId21" Type="http://schemas.openxmlformats.org/officeDocument/2006/relationships/image" Target="../media/image21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5" Type="http://schemas.openxmlformats.org/officeDocument/2006/relationships/image" Target="../media/image25.png"/><Relationship Id="rId33" Type="http://schemas.openxmlformats.org/officeDocument/2006/relationships/image" Target="../media/image33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29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24" Type="http://schemas.openxmlformats.org/officeDocument/2006/relationships/image" Target="../media/image24.png"/><Relationship Id="rId32" Type="http://schemas.openxmlformats.org/officeDocument/2006/relationships/image" Target="../media/image32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23" Type="http://schemas.openxmlformats.org/officeDocument/2006/relationships/image" Target="../media/image23.png"/><Relationship Id="rId28" Type="http://schemas.openxmlformats.org/officeDocument/2006/relationships/image" Target="../media/image28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31" Type="http://schemas.openxmlformats.org/officeDocument/2006/relationships/image" Target="../media/image31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22.png"/><Relationship Id="rId27" Type="http://schemas.openxmlformats.org/officeDocument/2006/relationships/image" Target="../media/image27.png"/><Relationship Id="rId30" Type="http://schemas.openxmlformats.org/officeDocument/2006/relationships/image" Target="../media/image30.png"/><Relationship Id="rId8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20.png"/><Relationship Id="rId3" Type="http://schemas.openxmlformats.org/officeDocument/2006/relationships/image" Target="../media/image34.jpg"/><Relationship Id="rId7" Type="http://schemas.openxmlformats.org/officeDocument/2006/relationships/image" Target="../media/image3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13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25.png"/><Relationship Id="rId9" Type="http://schemas.openxmlformats.org/officeDocument/2006/relationships/image" Target="../media/image6.png"/><Relationship Id="rId14" Type="http://schemas.openxmlformats.org/officeDocument/2006/relationships/image" Target="../media/image3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35.jp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9.png"/><Relationship Id="rId9" Type="http://schemas.openxmlformats.org/officeDocument/2006/relationships/image" Target="../media/image3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11" Type="http://schemas.openxmlformats.org/officeDocument/2006/relationships/image" Target="../media/image49.png"/><Relationship Id="rId5" Type="http://schemas.openxmlformats.org/officeDocument/2006/relationships/image" Target="../media/image43.png"/><Relationship Id="rId10" Type="http://schemas.openxmlformats.org/officeDocument/2006/relationships/image" Target="../media/image48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Relationship Id="rId9" Type="http://schemas.openxmlformats.org/officeDocument/2006/relationships/image" Target="../media/image5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compartamos-banco/f5aa2cae-8dfb-5efa-902a-389d1c1ca7cd/scratchpad/cbuild/a/cov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94360" y="221742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s-PE" altLang="en-US" sz="1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Consultora Estratégica de Comunicación Digital, potenciada con Inteligencia Artificial</a:t>
            </a:r>
            <a:endParaRPr lang="es-PE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6263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100" dirty="0">
                <a:solidFill>
                  <a:srgbClr val="D8D4E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www.verne.la</a:t>
            </a:r>
            <a:endParaRPr lang="es-PE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94360" y="9144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050" b="1" kern="0" spc="300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QUIÉNES SOMOS</a:t>
            </a:r>
            <a:endParaRPr lang="es-PE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18872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3400" b="1" dirty="0">
                <a:solidFill>
                  <a:srgbClr val="252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nexo entre la comunicación y la IA</a:t>
            </a:r>
            <a:endParaRPr lang="es-PE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901952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400" dirty="0">
                <a:solidFill>
                  <a:srgbClr val="6B6E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comunicación estratégica ya no vive solo en los medios. Hoy se juega en tres frentes:</a:t>
            </a:r>
            <a:endParaRPr lang="es-PE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2487168"/>
            <a:ext cx="384048" cy="38404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6D4AB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" name="Text 5"/>
          <p:cNvSpPr txBox="1"/>
          <p:nvPr/>
        </p:nvSpPr>
        <p:spPr>
          <a:xfrm>
            <a:off x="594360" y="2487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altLang="en-US" sz="1200" b="1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s-PE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124712" y="2487168"/>
            <a:ext cx="28142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altLang="en-US" sz="1350" b="1" dirty="0">
                <a:solidFill>
                  <a:srgbClr val="252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Reputación y liderazgo</a:t>
            </a:r>
            <a:endParaRPr lang="es-PE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3035808"/>
            <a:ext cx="334457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altLang="en-US" sz="5800" b="1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3x</a:t>
            </a:r>
            <a:endParaRPr lang="es-PE" sz="58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3950208"/>
            <a:ext cx="33628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s-PE" altLang="en-US" sz="11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más confianza cuando la información la comparte un directivo o colaborador que la cuenta institucional.</a:t>
            </a:r>
            <a:endParaRPr lang="es-PE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4645152"/>
            <a:ext cx="33628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900" i="1" dirty="0">
                <a:solidFill>
                  <a:srgbClr val="9A9CA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Fuente. Edelman Trust Barometer</a:t>
            </a:r>
            <a:endParaRPr lang="es-PE" sz="900" dirty="0"/>
          </a:p>
        </p:txBody>
      </p:sp>
      <p:sp>
        <p:nvSpPr>
          <p:cNvPr id="12" name="Shape 10"/>
          <p:cNvSpPr/>
          <p:nvPr/>
        </p:nvSpPr>
        <p:spPr>
          <a:xfrm>
            <a:off x="594360" y="4956048"/>
            <a:ext cx="3362858" cy="0"/>
          </a:xfrm>
          <a:prstGeom prst="line">
            <a:avLst/>
          </a:prstGeom>
          <a:noFill/>
          <a:ln w="9525">
            <a:solidFill>
              <a:srgbClr val="E3E1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 txBox="1"/>
          <p:nvPr/>
        </p:nvSpPr>
        <p:spPr>
          <a:xfrm>
            <a:off x="594360" y="5047488"/>
            <a:ext cx="33628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s-PE" altLang="en-US" sz="1200" b="1" dirty="0">
                <a:solidFill>
                  <a:srgbClr val="252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Posicionamos a la marca corporativa, a sus líderes y embajadores en el ecosistema digital.</a:t>
            </a:r>
            <a:endParaRPr lang="es-PE" sz="1200" dirty="0"/>
          </a:p>
        </p:txBody>
      </p:sp>
      <p:sp>
        <p:nvSpPr>
          <p:cNvPr id="14" name="Shape 12"/>
          <p:cNvSpPr/>
          <p:nvPr/>
        </p:nvSpPr>
        <p:spPr>
          <a:xfrm>
            <a:off x="4185818" y="2487168"/>
            <a:ext cx="0" cy="3154680"/>
          </a:xfrm>
          <a:prstGeom prst="line">
            <a:avLst/>
          </a:prstGeom>
          <a:noFill/>
          <a:ln w="9525">
            <a:solidFill>
              <a:srgbClr val="E3E1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5" name="Shape 13"/>
          <p:cNvSpPr/>
          <p:nvPr/>
        </p:nvSpPr>
        <p:spPr>
          <a:xfrm>
            <a:off x="4414418" y="2487168"/>
            <a:ext cx="384048" cy="38404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6D4AB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6" name="Text 14"/>
          <p:cNvSpPr txBox="1"/>
          <p:nvPr/>
        </p:nvSpPr>
        <p:spPr>
          <a:xfrm>
            <a:off x="4414418" y="2487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altLang="en-US" sz="1200" b="1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s-PE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944770" y="2487168"/>
            <a:ext cx="28142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altLang="en-US" sz="1350" b="1" dirty="0">
                <a:solidFill>
                  <a:srgbClr val="252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Visibilidad y presencia digital</a:t>
            </a:r>
            <a:endParaRPr lang="es-PE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4414418" y="3035808"/>
            <a:ext cx="33628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altLang="en-US" sz="5800" b="1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70%</a:t>
            </a:r>
            <a:endParaRPr lang="es-PE" sz="5800" dirty="0"/>
          </a:p>
        </p:txBody>
      </p:sp>
      <p:sp>
        <p:nvSpPr>
          <p:cNvPr id="19" name="Text 17"/>
          <p:cNvSpPr txBox="1"/>
          <p:nvPr/>
        </p:nvSpPr>
        <p:spPr>
          <a:xfrm>
            <a:off x="4414418" y="3950208"/>
            <a:ext cx="33628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s-PE" altLang="en-US" sz="11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 los consumidores peruanos usa IA para informarse antes de comprar o contratar.</a:t>
            </a:r>
            <a:endParaRPr lang="es-PE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4414418" y="4645152"/>
            <a:ext cx="33628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900" i="1" dirty="0">
                <a:solidFill>
                  <a:srgbClr val="9A9CA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Fuente. Impronta Research, ago 2025</a:t>
            </a:r>
            <a:endParaRPr lang="es-PE" sz="900" dirty="0"/>
          </a:p>
        </p:txBody>
      </p:sp>
      <p:sp>
        <p:nvSpPr>
          <p:cNvPr id="21" name="Shape 19"/>
          <p:cNvSpPr/>
          <p:nvPr/>
        </p:nvSpPr>
        <p:spPr>
          <a:xfrm>
            <a:off x="4414418" y="4956048"/>
            <a:ext cx="3362858" cy="0"/>
          </a:xfrm>
          <a:prstGeom prst="line">
            <a:avLst/>
          </a:prstGeom>
          <a:noFill/>
          <a:ln w="9525">
            <a:solidFill>
              <a:srgbClr val="E3E1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2" name="Text 20"/>
          <p:cNvSpPr txBox="1"/>
          <p:nvPr/>
        </p:nvSpPr>
        <p:spPr>
          <a:xfrm>
            <a:off x="4414418" y="5047488"/>
            <a:ext cx="33628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s-PE" altLang="en-US" sz="1200" b="1" dirty="0">
                <a:solidFill>
                  <a:srgbClr val="252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Logramos que te encuentren, citen y recomienden en buscadores, IA y medios.</a:t>
            </a:r>
            <a:endParaRPr lang="es-PE" sz="1200" dirty="0"/>
          </a:p>
        </p:txBody>
      </p:sp>
      <p:sp>
        <p:nvSpPr>
          <p:cNvPr id="23" name="Shape 21"/>
          <p:cNvSpPr/>
          <p:nvPr/>
        </p:nvSpPr>
        <p:spPr>
          <a:xfrm>
            <a:off x="8005877" y="2487168"/>
            <a:ext cx="0" cy="3154680"/>
          </a:xfrm>
          <a:prstGeom prst="line">
            <a:avLst/>
          </a:prstGeom>
          <a:noFill/>
          <a:ln w="9525">
            <a:solidFill>
              <a:srgbClr val="E3E1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4" name="Shape 22"/>
          <p:cNvSpPr/>
          <p:nvPr/>
        </p:nvSpPr>
        <p:spPr>
          <a:xfrm>
            <a:off x="8234477" y="2487168"/>
            <a:ext cx="384048" cy="38404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6D4AB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5" name="Text 23"/>
          <p:cNvSpPr txBox="1"/>
          <p:nvPr/>
        </p:nvSpPr>
        <p:spPr>
          <a:xfrm>
            <a:off x="8234477" y="2487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altLang="en-US" sz="1200" b="1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s-PE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764829" y="2487168"/>
            <a:ext cx="28142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altLang="en-US" sz="1350" b="1" dirty="0">
                <a:solidFill>
                  <a:srgbClr val="252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Adopción y capacidades de IA</a:t>
            </a:r>
            <a:endParaRPr lang="es-PE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8234477" y="3035808"/>
            <a:ext cx="33628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altLang="en-US" sz="5800" b="1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90%</a:t>
            </a:r>
            <a:endParaRPr lang="es-PE" sz="5800" dirty="0"/>
          </a:p>
        </p:txBody>
      </p:sp>
      <p:sp>
        <p:nvSpPr>
          <p:cNvPr id="28" name="Text 26"/>
          <p:cNvSpPr txBox="1"/>
          <p:nvPr/>
        </p:nvSpPr>
        <p:spPr>
          <a:xfrm>
            <a:off x="8234477" y="3950208"/>
            <a:ext cx="33628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s-PE" altLang="en-US" sz="11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 las áreas de Comunicación y Marketing en el mundo ya experimenta con IA.</a:t>
            </a:r>
            <a:endParaRPr lang="es-PE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8234477" y="4645152"/>
            <a:ext cx="33628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900" i="1" dirty="0">
                <a:solidFill>
                  <a:srgbClr val="9A9CA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Fuente. McKinsey, 2026</a:t>
            </a:r>
            <a:endParaRPr lang="es-PE" sz="900" dirty="0"/>
          </a:p>
        </p:txBody>
      </p:sp>
      <p:sp>
        <p:nvSpPr>
          <p:cNvPr id="30" name="Shape 28"/>
          <p:cNvSpPr/>
          <p:nvPr/>
        </p:nvSpPr>
        <p:spPr>
          <a:xfrm>
            <a:off x="8234477" y="4956048"/>
            <a:ext cx="3362858" cy="0"/>
          </a:xfrm>
          <a:prstGeom prst="line">
            <a:avLst/>
          </a:prstGeom>
          <a:noFill/>
          <a:ln w="9525">
            <a:solidFill>
              <a:srgbClr val="E3E1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1" name="Text 29"/>
          <p:cNvSpPr txBox="1"/>
          <p:nvPr/>
        </p:nvSpPr>
        <p:spPr>
          <a:xfrm>
            <a:off x="8234477" y="5047488"/>
            <a:ext cx="33628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s-PE" altLang="en-US" sz="1200" b="1" dirty="0">
                <a:solidFill>
                  <a:srgbClr val="252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Habilitamos a los equipos para usar IA generativa en su día a día.</a:t>
            </a:r>
            <a:endParaRPr lang="es-PE" sz="1200" dirty="0"/>
          </a:p>
        </p:txBody>
      </p:sp>
      <p:sp>
        <p:nvSpPr>
          <p:cNvPr id="32" name="Shape 30"/>
          <p:cNvSpPr/>
          <p:nvPr/>
        </p:nvSpPr>
        <p:spPr>
          <a:xfrm>
            <a:off x="594360" y="5870448"/>
            <a:ext cx="11002975" cy="457200"/>
          </a:xfrm>
          <a:prstGeom prst="rect">
            <a:avLst/>
          </a:prstGeom>
          <a:solidFill>
            <a:srgbClr val="25283D"/>
          </a:solidFill>
          <a:ln w="12700">
            <a:solidFill>
              <a:srgbClr val="25283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3" name="Text 31"/>
          <p:cNvSpPr txBox="1"/>
          <p:nvPr/>
        </p:nvSpPr>
        <p:spPr>
          <a:xfrm>
            <a:off x="594360" y="5870448"/>
            <a:ext cx="11002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alt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 solo tecnología ni solo comunicación tradicional.</a:t>
            </a:r>
            <a:endParaRPr lang="es-PE" sz="1500" dirty="0"/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F6924A21-A96D-E5FF-1826-4AC1957E78F1}"/>
              </a:ext>
            </a:extLst>
          </p:cNvPr>
          <p:cNvSpPr txBox="1"/>
          <p:nvPr/>
        </p:nvSpPr>
        <p:spPr>
          <a:xfrm>
            <a:off x="12623800" y="31496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P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94360" y="9144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050" b="1" kern="0" spc="300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 QUIÉNES TRABAJAMOS</a:t>
            </a:r>
            <a:endParaRPr lang="es-PE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18872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3400" b="1" dirty="0">
                <a:solidFill>
                  <a:srgbClr val="252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Confían en nosotros</a:t>
            </a:r>
            <a:endParaRPr lang="es-PE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9019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400" dirty="0">
                <a:solidFill>
                  <a:srgbClr val="6B6E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Empresas líderes de sectores regulados y competitivos.</a:t>
            </a:r>
            <a:endParaRPr lang="es-PE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2514600"/>
            <a:ext cx="5364328" cy="1965960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" name="Shape 5"/>
          <p:cNvSpPr/>
          <p:nvPr/>
        </p:nvSpPr>
        <p:spPr>
          <a:xfrm>
            <a:off x="594360" y="2514600"/>
            <a:ext cx="91" cy="1965960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 txBox="1"/>
          <p:nvPr/>
        </p:nvSpPr>
        <p:spPr>
          <a:xfrm>
            <a:off x="868680" y="2679192"/>
            <a:ext cx="4815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250" b="1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Energía, Minería e Hidrocarburos</a:t>
            </a:r>
            <a:endParaRPr lang="es-PE" sz="1250" dirty="0"/>
          </a:p>
        </p:txBody>
      </p:sp>
      <p:pic>
        <p:nvPicPr>
          <p:cNvPr id="9" name="Image 0" descr="/tmp/claude-0/-home-user-compartamos-banco/f5aa2cae-8dfb-5efa-902a-389d1c1ca7cd/scratchpad/cbuild/a/s3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161426"/>
            <a:ext cx="798546" cy="169388"/>
          </a:xfrm>
          <a:prstGeom prst="rect">
            <a:avLst/>
          </a:prstGeom>
        </p:spPr>
      </p:pic>
      <p:pic>
        <p:nvPicPr>
          <p:cNvPr id="10" name="Image 1" descr="/tmp/claude-0/-home-user-compartamos-banco/f5aa2cae-8dfb-5efa-902a-389d1c1ca7cd/scratchpad/cbuild/a/s3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6035" y="3081528"/>
            <a:ext cx="244974" cy="329184"/>
          </a:xfrm>
          <a:prstGeom prst="rect">
            <a:avLst/>
          </a:prstGeom>
        </p:spPr>
      </p:pic>
      <p:pic>
        <p:nvPicPr>
          <p:cNvPr id="11" name="Image 2" descr="/tmp/claude-0/-home-user-compartamos-banco/f5aa2cae-8dfb-5efa-902a-389d1c1ca7cd/scratchpad/cbuild/a/s3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1244" y="3081528"/>
            <a:ext cx="670560" cy="329184"/>
          </a:xfrm>
          <a:prstGeom prst="rect">
            <a:avLst/>
          </a:prstGeom>
        </p:spPr>
      </p:pic>
      <p:pic>
        <p:nvPicPr>
          <p:cNvPr id="12" name="Image 3" descr="/tmp/claude-0/-home-user-compartamos-banco/f5aa2cae-8dfb-5efa-902a-389d1c1ca7cd/scratchpad/cbuild/a/s3_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95253" y="3163827"/>
            <a:ext cx="798546" cy="164586"/>
          </a:xfrm>
          <a:prstGeom prst="rect">
            <a:avLst/>
          </a:prstGeom>
        </p:spPr>
      </p:pic>
      <p:pic>
        <p:nvPicPr>
          <p:cNvPr id="13" name="Image 4" descr="/tmp/claude-0/-home-user-compartamos-banco/f5aa2cae-8dfb-5efa-902a-389d1c1ca7cd/scratchpad/cbuild/a/s3_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3254" y="3118353"/>
            <a:ext cx="798546" cy="255535"/>
          </a:xfrm>
          <a:prstGeom prst="rect">
            <a:avLst/>
          </a:prstGeom>
        </p:spPr>
      </p:pic>
      <p:pic>
        <p:nvPicPr>
          <p:cNvPr id="14" name="Image 5" descr="/tmp/claude-0/-home-user-compartamos-banco/f5aa2cae-8dfb-5efa-902a-389d1c1ca7cd/scratchpad/cbuild/a/s3_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2927" y="3538728"/>
            <a:ext cx="755187" cy="329184"/>
          </a:xfrm>
          <a:prstGeom prst="rect">
            <a:avLst/>
          </a:prstGeom>
        </p:spPr>
      </p:pic>
      <p:pic>
        <p:nvPicPr>
          <p:cNvPr id="15" name="Image 6" descr="/tmp/claude-0/-home-user-compartamos-banco/f5aa2cae-8dfb-5efa-902a-389d1c1ca7cd/scratchpad/cbuild/a/s3_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59250" y="3563815"/>
            <a:ext cx="798546" cy="279010"/>
          </a:xfrm>
          <a:prstGeom prst="rect">
            <a:avLst/>
          </a:prstGeom>
        </p:spPr>
      </p:pic>
      <p:pic>
        <p:nvPicPr>
          <p:cNvPr id="16" name="Image 7" descr="/tmp/claude-0/-home-user-compartamos-banco/f5aa2cae-8dfb-5efa-902a-389d1c1ca7cd/scratchpad/cbuild/a/s3_7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77251" y="3559831"/>
            <a:ext cx="798546" cy="286977"/>
          </a:xfrm>
          <a:prstGeom prst="rect">
            <a:avLst/>
          </a:prstGeom>
        </p:spPr>
      </p:pic>
      <p:pic>
        <p:nvPicPr>
          <p:cNvPr id="17" name="Image 8" descr="/tmp/claude-0/-home-user-compartamos-banco/f5aa2cae-8dfb-5efa-902a-389d1c1ca7cd/scratchpad/cbuild/a/s3_9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95253" y="3547083"/>
            <a:ext cx="798546" cy="312474"/>
          </a:xfrm>
          <a:prstGeom prst="rect">
            <a:avLst/>
          </a:prstGeom>
        </p:spPr>
      </p:pic>
      <p:pic>
        <p:nvPicPr>
          <p:cNvPr id="18" name="Image 9" descr="/tmp/claude-0/-home-user-compartamos-banco/f5aa2cae-8dfb-5efa-902a-389d1c1ca7cd/scratchpad/cbuild/a/s3_10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00978" y="3538728"/>
            <a:ext cx="623098" cy="329184"/>
          </a:xfrm>
          <a:prstGeom prst="rect">
            <a:avLst/>
          </a:prstGeom>
        </p:spPr>
      </p:pic>
      <p:pic>
        <p:nvPicPr>
          <p:cNvPr id="19" name="Image 10" descr="/tmp/claude-0/-home-user-compartamos-banco/f5aa2cae-8dfb-5efa-902a-389d1c1ca7cd/scratchpad/cbuild/a/s3_11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933079" y="3995928"/>
            <a:ext cx="650887" cy="329184"/>
          </a:xfrm>
          <a:prstGeom prst="rect">
            <a:avLst/>
          </a:prstGeom>
        </p:spPr>
      </p:pic>
      <p:pic>
        <p:nvPicPr>
          <p:cNvPr id="20" name="Image 11" descr="/tmp/claude-0/-home-user-compartamos-banco/f5aa2cae-8dfb-5efa-902a-389d1c1ca7cd/scratchpad/cbuild/a/s3_12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877251" y="4042639"/>
            <a:ext cx="798546" cy="235761"/>
          </a:xfrm>
          <a:prstGeom prst="rect">
            <a:avLst/>
          </a:prstGeom>
        </p:spPr>
      </p:pic>
      <p:pic>
        <p:nvPicPr>
          <p:cNvPr id="21" name="Image 12" descr="/tmp/claude-0/-home-user-compartamos-banco/f5aa2cae-8dfb-5efa-902a-389d1c1ca7cd/scratchpad/cbuild/a/s3_8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901749" y="3995928"/>
            <a:ext cx="785553" cy="329184"/>
          </a:xfrm>
          <a:prstGeom prst="rect">
            <a:avLst/>
          </a:prstGeom>
        </p:spPr>
      </p:pic>
      <p:sp>
        <p:nvSpPr>
          <p:cNvPr id="22" name="Shape 7"/>
          <p:cNvSpPr/>
          <p:nvPr/>
        </p:nvSpPr>
        <p:spPr>
          <a:xfrm>
            <a:off x="6233008" y="2514600"/>
            <a:ext cx="5364328" cy="1965960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3" name="Shape 8"/>
          <p:cNvSpPr/>
          <p:nvPr/>
        </p:nvSpPr>
        <p:spPr>
          <a:xfrm>
            <a:off x="6233008" y="2514600"/>
            <a:ext cx="91" cy="1965960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4" name="Text 9"/>
          <p:cNvSpPr txBox="1"/>
          <p:nvPr/>
        </p:nvSpPr>
        <p:spPr>
          <a:xfrm>
            <a:off x="6507328" y="2679192"/>
            <a:ext cx="4815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250" b="1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Banca y Servicios Financieros</a:t>
            </a:r>
            <a:endParaRPr lang="es-PE" sz="1250" dirty="0"/>
          </a:p>
        </p:txBody>
      </p:sp>
      <p:pic>
        <p:nvPicPr>
          <p:cNvPr id="25" name="Image 13" descr="/tmp/claude-0/-home-user-compartamos-banco/f5aa2cae-8dfb-5efa-902a-389d1c1ca7cd/scratchpad/cbuild/a/s3_13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79896" y="3220126"/>
            <a:ext cx="1477213" cy="280588"/>
          </a:xfrm>
          <a:prstGeom prst="rect">
            <a:avLst/>
          </a:prstGeom>
        </p:spPr>
      </p:pic>
      <p:pic>
        <p:nvPicPr>
          <p:cNvPr id="26" name="Image 14" descr="/tmp/claude-0/-home-user-compartamos-banco/f5aa2cae-8dfb-5efa-902a-389d1c1ca7cd/scratchpad/cbuild/a/s3_14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225942" y="3195828"/>
            <a:ext cx="1378458" cy="329184"/>
          </a:xfrm>
          <a:prstGeom prst="rect">
            <a:avLst/>
          </a:prstGeom>
        </p:spPr>
      </p:pic>
      <p:pic>
        <p:nvPicPr>
          <p:cNvPr id="27" name="Image 15" descr="/tmp/claude-0/-home-user-compartamos-banco/f5aa2cae-8dfb-5efa-902a-389d1c1ca7cd/scratchpad/cbuild/a/s3_15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931527" y="3195828"/>
            <a:ext cx="1360627" cy="329184"/>
          </a:xfrm>
          <a:prstGeom prst="rect">
            <a:avLst/>
          </a:prstGeom>
        </p:spPr>
      </p:pic>
      <p:pic>
        <p:nvPicPr>
          <p:cNvPr id="28" name="Image 16" descr="/tmp/claude-0/-home-user-compartamos-banco/f5aa2cae-8dfb-5efa-902a-389d1c1ca7cd/scratchpad/cbuild/a/s3_16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334137" y="3881628"/>
            <a:ext cx="1465400" cy="329184"/>
          </a:xfrm>
          <a:prstGeom prst="rect">
            <a:avLst/>
          </a:prstGeom>
        </p:spPr>
      </p:pic>
      <p:pic>
        <p:nvPicPr>
          <p:cNvPr id="29" name="Image 17" descr="/tmp/claude-0/-home-user-compartamos-banco/f5aa2cae-8dfb-5efa-902a-389d1c1ca7cd/scratchpad/cbuild/a/s3_17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024899" y="3911928"/>
            <a:ext cx="1477213" cy="268584"/>
          </a:xfrm>
          <a:prstGeom prst="rect">
            <a:avLst/>
          </a:prstGeom>
        </p:spPr>
      </p:pic>
      <p:sp>
        <p:nvSpPr>
          <p:cNvPr id="30" name="Shape 10"/>
          <p:cNvSpPr/>
          <p:nvPr/>
        </p:nvSpPr>
        <p:spPr>
          <a:xfrm>
            <a:off x="594360" y="4663440"/>
            <a:ext cx="5364328" cy="1554480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1" name="Shape 11"/>
          <p:cNvSpPr/>
          <p:nvPr/>
        </p:nvSpPr>
        <p:spPr>
          <a:xfrm>
            <a:off x="594360" y="4663440"/>
            <a:ext cx="91" cy="1554480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2" name="Text 12"/>
          <p:cNvSpPr txBox="1"/>
          <p:nvPr/>
        </p:nvSpPr>
        <p:spPr>
          <a:xfrm>
            <a:off x="868680" y="4828032"/>
            <a:ext cx="4815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250" b="1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Consumo, Retail e Industria</a:t>
            </a:r>
            <a:endParaRPr lang="es-PE" sz="1250" dirty="0"/>
          </a:p>
        </p:txBody>
      </p:sp>
      <p:pic>
        <p:nvPicPr>
          <p:cNvPr id="33" name="Image 18" descr="/tmp/claude-0/-home-user-compartamos-banco/f5aa2cae-8dfb-5efa-902a-389d1c1ca7cd/scratchpad/cbuild/a/s3_29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41248" y="5562716"/>
            <a:ext cx="1053046" cy="167407"/>
          </a:xfrm>
          <a:prstGeom prst="rect">
            <a:avLst/>
          </a:prstGeom>
        </p:spPr>
      </p:pic>
      <p:pic>
        <p:nvPicPr>
          <p:cNvPr id="34" name="Image 19" descr="/tmp/claude-0/-home-user-compartamos-banco/f5aa2cae-8dfb-5efa-902a-389d1c1ca7cd/scratchpad/cbuild/a/s3_18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349298" y="5481828"/>
            <a:ext cx="581950" cy="329184"/>
          </a:xfrm>
          <a:prstGeom prst="rect">
            <a:avLst/>
          </a:prstGeom>
        </p:spPr>
      </p:pic>
      <p:pic>
        <p:nvPicPr>
          <p:cNvPr id="35" name="Image 20" descr="/tmp/claude-0/-home-user-compartamos-banco/f5aa2cae-8dfb-5efa-902a-389d1c1ca7cd/scratchpad/cbuild/a/s3_30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386252" y="5513982"/>
            <a:ext cx="1053046" cy="264877"/>
          </a:xfrm>
          <a:prstGeom prst="rect">
            <a:avLst/>
          </a:prstGeom>
        </p:spPr>
      </p:pic>
      <p:pic>
        <p:nvPicPr>
          <p:cNvPr id="36" name="Image 21" descr="/tmp/claude-0/-home-user-compartamos-banco/f5aa2cae-8dfb-5efa-902a-389d1c1ca7cd/scratchpad/cbuild/a/s3_19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658754" y="5565416"/>
            <a:ext cx="1053046" cy="162007"/>
          </a:xfrm>
          <a:prstGeom prst="rect">
            <a:avLst/>
          </a:prstGeom>
        </p:spPr>
      </p:pic>
      <p:sp>
        <p:nvSpPr>
          <p:cNvPr id="37" name="Shape 13"/>
          <p:cNvSpPr/>
          <p:nvPr/>
        </p:nvSpPr>
        <p:spPr>
          <a:xfrm>
            <a:off x="6233008" y="4663440"/>
            <a:ext cx="5364328" cy="1554480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8" name="Shape 14"/>
          <p:cNvSpPr/>
          <p:nvPr/>
        </p:nvSpPr>
        <p:spPr>
          <a:xfrm>
            <a:off x="6233008" y="4663440"/>
            <a:ext cx="91" cy="1554480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9" name="Text 15"/>
          <p:cNvSpPr txBox="1"/>
          <p:nvPr/>
        </p:nvSpPr>
        <p:spPr>
          <a:xfrm>
            <a:off x="6507328" y="4828032"/>
            <a:ext cx="4815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250" b="1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Educación, Servicios e Infraestructura</a:t>
            </a:r>
            <a:endParaRPr lang="es-PE" sz="1250" dirty="0"/>
          </a:p>
        </p:txBody>
      </p:sp>
      <p:pic>
        <p:nvPicPr>
          <p:cNvPr id="40" name="Image 22" descr="/tmp/claude-0/-home-user-compartamos-banco/f5aa2cae-8dfb-5efa-902a-389d1c1ca7cd/scratchpad/cbuild/a/s3_20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479896" y="5272368"/>
            <a:ext cx="798546" cy="268043"/>
          </a:xfrm>
          <a:prstGeom prst="rect">
            <a:avLst/>
          </a:prstGeom>
        </p:spPr>
      </p:pic>
      <p:pic>
        <p:nvPicPr>
          <p:cNvPr id="41" name="Image 23" descr="/tmp/claude-0/-home-user-compartamos-banco/f5aa2cae-8dfb-5efa-902a-389d1c1ca7cd/scratchpad/cbuild/a/s3_21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638525" y="5241798"/>
            <a:ext cx="517289" cy="329184"/>
          </a:xfrm>
          <a:prstGeom prst="rect">
            <a:avLst/>
          </a:prstGeom>
        </p:spPr>
      </p:pic>
      <p:pic>
        <p:nvPicPr>
          <p:cNvPr id="42" name="Image 24" descr="/tmp/claude-0/-home-user-compartamos-banco/f5aa2cae-8dfb-5efa-902a-389d1c1ca7cd/scratchpad/cbuild/a/s3_22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515899" y="5256549"/>
            <a:ext cx="798546" cy="299683"/>
          </a:xfrm>
          <a:prstGeom prst="rect">
            <a:avLst/>
          </a:prstGeom>
        </p:spPr>
      </p:pic>
      <p:pic>
        <p:nvPicPr>
          <p:cNvPr id="43" name="Image 25" descr="/tmp/claude-0/-home-user-compartamos-banco/f5aa2cae-8dfb-5efa-902a-389d1c1ca7cd/scratchpad/cbuild/a/s3_23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568912" y="5241798"/>
            <a:ext cx="728522" cy="329184"/>
          </a:xfrm>
          <a:prstGeom prst="rect">
            <a:avLst/>
          </a:prstGeom>
        </p:spPr>
      </p:pic>
      <p:pic>
        <p:nvPicPr>
          <p:cNvPr id="44" name="Image 26" descr="/tmp/claude-0/-home-user-compartamos-banco/f5aa2cae-8dfb-5efa-902a-389d1c1ca7cd/scratchpad/cbuild/a/s3_24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551902" y="5277394"/>
            <a:ext cx="798546" cy="257992"/>
          </a:xfrm>
          <a:prstGeom prst="rect">
            <a:avLst/>
          </a:prstGeom>
        </p:spPr>
      </p:pic>
      <p:pic>
        <p:nvPicPr>
          <p:cNvPr id="45" name="Image 27" descr="/tmp/claude-0/-home-user-compartamos-banco/f5aa2cae-8dfb-5efa-902a-389d1c1ca7cd/scratchpad/cbuild/a/s3_25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988896" y="5776791"/>
            <a:ext cx="798546" cy="219319"/>
          </a:xfrm>
          <a:prstGeom prst="rect">
            <a:avLst/>
          </a:prstGeom>
        </p:spPr>
      </p:pic>
      <p:pic>
        <p:nvPicPr>
          <p:cNvPr id="46" name="Image 28" descr="/tmp/claude-0/-home-user-compartamos-banco/f5aa2cae-8dfb-5efa-902a-389d1c1ca7cd/scratchpad/cbuild/a/s3_26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006898" y="5753359"/>
            <a:ext cx="798546" cy="266182"/>
          </a:xfrm>
          <a:prstGeom prst="rect">
            <a:avLst/>
          </a:prstGeom>
        </p:spPr>
      </p:pic>
      <p:pic>
        <p:nvPicPr>
          <p:cNvPr id="47" name="Image 29" descr="/tmp/claude-0/-home-user-compartamos-banco/f5aa2cae-8dfb-5efa-902a-389d1c1ca7cd/scratchpad/cbuild/a/s3_27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9024899" y="5767369"/>
            <a:ext cx="798546" cy="238163"/>
          </a:xfrm>
          <a:prstGeom prst="rect">
            <a:avLst/>
          </a:prstGeom>
        </p:spPr>
      </p:pic>
      <p:pic>
        <p:nvPicPr>
          <p:cNvPr id="48" name="Image 30" descr="/tmp/claude-0/-home-user-compartamos-banco/f5aa2cae-8dfb-5efa-902a-389d1c1ca7cd/scratchpad/cbuild/a/s3_28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0042901" y="5801756"/>
            <a:ext cx="798546" cy="169388"/>
          </a:xfrm>
          <a:prstGeom prst="rect">
            <a:avLst/>
          </a:prstGeom>
        </p:spPr>
      </p:pic>
      <p:sp>
        <p:nvSpPr>
          <p:cNvPr id="49" name="Text 16"/>
          <p:cNvSpPr txBox="1"/>
          <p:nvPr/>
        </p:nvSpPr>
        <p:spPr>
          <a:xfrm>
            <a:off x="11048695" y="640080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s-PE" altLang="en-US" sz="900" b="1" dirty="0">
                <a:solidFill>
                  <a:srgbClr val="9A9CA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s-PE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altLang="en-US" sz="1500" b="1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verne</a:t>
            </a:r>
            <a:r>
              <a:rPr lang="es-PE" altLang="en-US" sz="850" dirty="0">
                <a:solidFill>
                  <a:srgbClr val="6B6E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Comunicación e Innovación</a:t>
            </a:r>
            <a:endParaRPr lang="es-PE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9144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050" b="1" kern="0" spc="300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QUÉ HACEMOS</a:t>
            </a:r>
            <a:endParaRPr lang="es-PE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18872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3400" b="1" dirty="0">
                <a:solidFill>
                  <a:srgbClr val="252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Nuestros servicios</a:t>
            </a:r>
            <a:endParaRPr lang="es-PE" sz="3400" dirty="0"/>
          </a:p>
        </p:txBody>
      </p:sp>
      <p:sp>
        <p:nvSpPr>
          <p:cNvPr id="5" name="Shape 3"/>
          <p:cNvSpPr/>
          <p:nvPr/>
        </p:nvSpPr>
        <p:spPr>
          <a:xfrm>
            <a:off x="3685032" y="2057400"/>
            <a:ext cx="3873856" cy="685800"/>
          </a:xfrm>
          <a:prstGeom prst="rect">
            <a:avLst/>
          </a:prstGeom>
          <a:solidFill>
            <a:srgbClr val="25283D"/>
          </a:solidFill>
          <a:ln w="12700">
            <a:solidFill>
              <a:srgbClr val="25283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 txBox="1"/>
          <p:nvPr/>
        </p:nvSpPr>
        <p:spPr>
          <a:xfrm>
            <a:off x="4005072" y="2057400"/>
            <a:ext cx="34166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altLang="en-US" sz="1500" b="1" kern="0" spc="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CONSULTORÍA</a:t>
            </a:r>
            <a:endParaRPr lang="es-PE" sz="1500" dirty="0"/>
          </a:p>
          <a:p>
            <a:pPr marL="0" indent="0">
              <a:buNone/>
            </a:pPr>
            <a:r>
              <a:rPr lang="es-PE" altLang="en-US" sz="1150" dirty="0">
                <a:solidFill>
                  <a:srgbClr val="C0B0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(lo hacemos por ti)</a:t>
            </a:r>
            <a:endParaRPr lang="es-PE" sz="1500" dirty="0"/>
          </a:p>
        </p:txBody>
      </p:sp>
      <p:sp>
        <p:nvSpPr>
          <p:cNvPr id="7" name="Shape 5"/>
          <p:cNvSpPr/>
          <p:nvPr/>
        </p:nvSpPr>
        <p:spPr>
          <a:xfrm>
            <a:off x="7723480" y="2057400"/>
            <a:ext cx="3873856" cy="685800"/>
          </a:xfrm>
          <a:prstGeom prst="rect">
            <a:avLst/>
          </a:prstGeom>
          <a:solidFill>
            <a:srgbClr val="6D4ABE"/>
          </a:solidFill>
          <a:ln w="12700">
            <a:solidFill>
              <a:srgbClr val="6D4AB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 txBox="1"/>
          <p:nvPr/>
        </p:nvSpPr>
        <p:spPr>
          <a:xfrm>
            <a:off x="8043520" y="2057400"/>
            <a:ext cx="34166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altLang="en-US" sz="1500" b="1" kern="0" spc="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FORMACIÓN</a:t>
            </a:r>
            <a:endParaRPr lang="es-PE" sz="1500" dirty="0"/>
          </a:p>
          <a:p>
            <a:pPr marL="0" indent="0">
              <a:buNone/>
            </a:pPr>
            <a:r>
              <a:rPr lang="es-PE" altLang="en-US" sz="1150" dirty="0">
                <a:solidFill>
                  <a:srgbClr val="EDE7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(habilitamos a tu equipo)</a:t>
            </a:r>
            <a:endParaRPr lang="es-PE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2852928"/>
            <a:ext cx="2926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altLang="en-US" sz="2600" b="1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r>
              <a:rPr lang="es-PE" altLang="en-US" sz="1400" b="1" dirty="0">
                <a:solidFill>
                  <a:srgbClr val="252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Reputación y liderazgo</a:t>
            </a:r>
            <a:endParaRPr lang="es-PE" sz="2600" dirty="0"/>
          </a:p>
        </p:txBody>
      </p:sp>
      <p:sp>
        <p:nvSpPr>
          <p:cNvPr id="10" name="Shape 8"/>
          <p:cNvSpPr/>
          <p:nvPr/>
        </p:nvSpPr>
        <p:spPr>
          <a:xfrm>
            <a:off x="3685032" y="2852928"/>
            <a:ext cx="3873856" cy="804672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Shape 9"/>
          <p:cNvSpPr/>
          <p:nvPr/>
        </p:nvSpPr>
        <p:spPr>
          <a:xfrm>
            <a:off x="7723480" y="2852928"/>
            <a:ext cx="3873856" cy="804672"/>
          </a:xfrm>
          <a:prstGeom prst="rect">
            <a:avLst/>
          </a:prstGeom>
          <a:solidFill>
            <a:srgbClr val="F3F0FB"/>
          </a:solidFill>
          <a:ln w="12700">
            <a:solidFill>
              <a:srgbClr val="F3F0F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2" name="Text 10"/>
          <p:cNvSpPr txBox="1"/>
          <p:nvPr/>
        </p:nvSpPr>
        <p:spPr>
          <a:xfrm>
            <a:off x="3959352" y="2852928"/>
            <a:ext cx="34166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200"/>
              </a:spcAft>
              <a:buSzPct val="100000"/>
              <a:buChar char="■"/>
            </a:pPr>
            <a:r>
              <a:rPr lang="es-PE" altLang="en-US" sz="11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Marca Directiva y Corporativa</a:t>
            </a:r>
            <a:endParaRPr lang="es-PE" sz="1150" dirty="0"/>
          </a:p>
          <a:p>
            <a:pPr marL="177800" indent="-177800">
              <a:spcAft>
                <a:spcPts val="200"/>
              </a:spcAft>
              <a:buSzPct val="100000"/>
              <a:buChar char="■"/>
            </a:pPr>
            <a:r>
              <a:rPr lang="es-PE" altLang="en-US" sz="11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Embajadores digitales</a:t>
            </a:r>
            <a:endParaRPr lang="es-PE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7997800" y="2852928"/>
            <a:ext cx="34166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200"/>
              </a:spcAft>
              <a:buSzPct val="100000"/>
              <a:buChar char="■"/>
            </a:pPr>
            <a:r>
              <a:rPr lang="es-PE" altLang="en-US" sz="11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Talleres de Marca Directiva y Embajadores</a:t>
            </a:r>
            <a:endParaRPr lang="es-PE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374904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altLang="en-US" sz="2600" b="1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r>
              <a:rPr lang="es-PE" altLang="en-US" sz="1400" b="1" dirty="0">
                <a:solidFill>
                  <a:srgbClr val="252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Visibilidad y presencia digital</a:t>
            </a:r>
            <a:endParaRPr lang="es-PE" sz="2600" dirty="0"/>
          </a:p>
        </p:txBody>
      </p:sp>
      <p:sp>
        <p:nvSpPr>
          <p:cNvPr id="15" name="Shape 13"/>
          <p:cNvSpPr/>
          <p:nvPr/>
        </p:nvSpPr>
        <p:spPr>
          <a:xfrm>
            <a:off x="3685032" y="3749040"/>
            <a:ext cx="3873856" cy="960120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6" name="Shape 14"/>
          <p:cNvSpPr/>
          <p:nvPr/>
        </p:nvSpPr>
        <p:spPr>
          <a:xfrm>
            <a:off x="7723480" y="3749040"/>
            <a:ext cx="3873856" cy="960120"/>
          </a:xfrm>
          <a:prstGeom prst="rect">
            <a:avLst/>
          </a:prstGeom>
          <a:solidFill>
            <a:srgbClr val="F3F0FB"/>
          </a:solidFill>
          <a:ln w="12700">
            <a:solidFill>
              <a:srgbClr val="F3F0F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7" name="Text 15"/>
          <p:cNvSpPr txBox="1"/>
          <p:nvPr/>
        </p:nvSpPr>
        <p:spPr>
          <a:xfrm>
            <a:off x="3959352" y="3749040"/>
            <a:ext cx="34166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200"/>
              </a:spcAft>
              <a:buSzPct val="100000"/>
              <a:buChar char="■"/>
            </a:pPr>
            <a:r>
              <a:rPr lang="es-PE" altLang="en-US" sz="11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Posicionamiento GEO</a:t>
            </a:r>
            <a:endParaRPr lang="es-PE" sz="1150" dirty="0"/>
          </a:p>
          <a:p>
            <a:pPr marL="177800" indent="-177800">
              <a:spcAft>
                <a:spcPts val="200"/>
              </a:spcAft>
              <a:buSzPct val="100000"/>
              <a:buChar char="■"/>
            </a:pPr>
            <a:r>
              <a:rPr lang="es-PE" altLang="en-US" sz="11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Marketing de Contenidos</a:t>
            </a:r>
            <a:endParaRPr lang="es-PE" sz="1150" dirty="0"/>
          </a:p>
          <a:p>
            <a:pPr marL="177800" indent="-177800">
              <a:spcAft>
                <a:spcPts val="200"/>
              </a:spcAft>
              <a:buSzPct val="100000"/>
              <a:buChar char="■"/>
            </a:pPr>
            <a:r>
              <a:rPr lang="es-PE" altLang="en-US" sz="11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Asuntos Públicos</a:t>
            </a:r>
            <a:endParaRPr lang="es-PE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7997800" y="3749040"/>
            <a:ext cx="34166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200"/>
              </a:spcAft>
              <a:buSzPct val="100000"/>
              <a:buChar char="■"/>
            </a:pPr>
            <a:r>
              <a:rPr lang="es-PE" altLang="en-US" sz="11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Formación para periodistas</a:t>
            </a:r>
            <a:endParaRPr lang="es-PE" sz="1150" dirty="0"/>
          </a:p>
          <a:p>
            <a:pPr marL="177800" indent="-177800">
              <a:spcAft>
                <a:spcPts val="200"/>
              </a:spcAft>
              <a:buSzPct val="100000"/>
              <a:buChar char="■"/>
            </a:pPr>
            <a:r>
              <a:rPr lang="es-PE" altLang="en-US" sz="11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Political Intelligence AI</a:t>
            </a:r>
            <a:endParaRPr lang="es-PE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594360" y="480060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altLang="en-US" sz="2600" b="1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r>
              <a:rPr lang="es-PE" altLang="en-US" sz="1400" b="1" dirty="0">
                <a:solidFill>
                  <a:srgbClr val="252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Adopción y capacidades de IA</a:t>
            </a:r>
            <a:endParaRPr lang="es-PE" sz="2600" dirty="0"/>
          </a:p>
        </p:txBody>
      </p:sp>
      <p:sp>
        <p:nvSpPr>
          <p:cNvPr id="20" name="Shape 18"/>
          <p:cNvSpPr/>
          <p:nvPr/>
        </p:nvSpPr>
        <p:spPr>
          <a:xfrm>
            <a:off x="3685032" y="4800600"/>
            <a:ext cx="3873856" cy="1463040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1" name="Shape 19"/>
          <p:cNvSpPr/>
          <p:nvPr/>
        </p:nvSpPr>
        <p:spPr>
          <a:xfrm>
            <a:off x="7723480" y="4800600"/>
            <a:ext cx="3873856" cy="1463040"/>
          </a:xfrm>
          <a:prstGeom prst="rect">
            <a:avLst/>
          </a:prstGeom>
          <a:solidFill>
            <a:srgbClr val="F3F0FB"/>
          </a:solidFill>
          <a:ln w="12700">
            <a:solidFill>
              <a:srgbClr val="F3F0F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2" name="Text 20"/>
          <p:cNvSpPr txBox="1"/>
          <p:nvPr/>
        </p:nvSpPr>
        <p:spPr>
          <a:xfrm>
            <a:off x="3959352" y="4800600"/>
            <a:ext cx="341665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200"/>
              </a:spcAft>
              <a:buSzPct val="100000"/>
              <a:buChar char="■"/>
            </a:pPr>
            <a:r>
              <a:rPr lang="es-PE" altLang="en-US" sz="11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Diagnóstico de madurez digital</a:t>
            </a:r>
            <a:endParaRPr lang="es-PE" sz="1150" dirty="0"/>
          </a:p>
          <a:p>
            <a:pPr marL="177800" indent="-177800">
              <a:spcAft>
                <a:spcPts val="200"/>
              </a:spcAft>
              <a:buSzPct val="100000"/>
              <a:buChar char="■"/>
            </a:pPr>
            <a:r>
              <a:rPr lang="es-PE" altLang="en-US" sz="11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Agentic AI Studio</a:t>
            </a:r>
            <a:endParaRPr lang="es-PE" sz="1150" dirty="0"/>
          </a:p>
          <a:p>
            <a:pPr marL="177800" indent="-177800">
              <a:spcAft>
                <a:spcPts val="200"/>
              </a:spcAft>
              <a:buSzPct val="100000"/>
              <a:buChar char="■"/>
            </a:pPr>
            <a:r>
              <a:rPr lang="es-PE" altLang="en-US" sz="11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Agentic AI Reputation</a:t>
            </a:r>
            <a:endParaRPr lang="es-PE" sz="1150" dirty="0"/>
          </a:p>
          <a:p>
            <a:pPr marL="177800" indent="-177800">
              <a:spcAft>
                <a:spcPts val="200"/>
              </a:spcAft>
              <a:buSzPct val="100000"/>
              <a:buChar char="■"/>
            </a:pPr>
            <a:r>
              <a:rPr lang="es-PE" altLang="en-US" sz="11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GEO Rank</a:t>
            </a:r>
            <a:endParaRPr lang="es-PE" sz="1150" dirty="0"/>
          </a:p>
          <a:p>
            <a:pPr marL="177800" indent="-177800">
              <a:spcAft>
                <a:spcPts val="200"/>
              </a:spcAft>
              <a:buSzPct val="100000"/>
              <a:buChar char="■"/>
            </a:pPr>
            <a:r>
              <a:rPr lang="es-PE" altLang="en-US" sz="11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Pulse</a:t>
            </a:r>
            <a:endParaRPr lang="es-PE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7997800" y="4800600"/>
            <a:ext cx="341665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200"/>
              </a:spcAft>
              <a:buSzPct val="100000"/>
              <a:buChar char="■"/>
            </a:pPr>
            <a:r>
              <a:rPr lang="es-PE" altLang="en-US" sz="11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Talleres de IA, data y automatización</a:t>
            </a:r>
            <a:endParaRPr lang="es-PE" sz="1150" dirty="0"/>
          </a:p>
          <a:p>
            <a:pPr marL="177800" indent="-177800">
              <a:spcAft>
                <a:spcPts val="200"/>
              </a:spcAft>
              <a:buSzPct val="100000"/>
              <a:buChar char="■"/>
            </a:pPr>
            <a:r>
              <a:rPr lang="es-PE" altLang="en-US" sz="11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Taller de IA para comunicación y MKT</a:t>
            </a:r>
            <a:endParaRPr lang="es-PE" sz="1150" dirty="0"/>
          </a:p>
          <a:p>
            <a:pPr marL="177800" indent="-177800">
              <a:spcAft>
                <a:spcPts val="200"/>
              </a:spcAft>
              <a:buSzPct val="100000"/>
              <a:buChar char="■"/>
            </a:pPr>
            <a:r>
              <a:rPr lang="es-PE" altLang="en-US" sz="11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Claude AI para empresas</a:t>
            </a:r>
            <a:endParaRPr lang="es-PE" sz="1150" dirty="0"/>
          </a:p>
          <a:p>
            <a:pPr marL="177800" indent="-177800">
              <a:spcAft>
                <a:spcPts val="200"/>
              </a:spcAft>
              <a:buSzPct val="100000"/>
              <a:buChar char="■"/>
            </a:pPr>
            <a:r>
              <a:rPr lang="es-PE" altLang="en-US" sz="11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Taller IA Agéntica</a:t>
            </a:r>
            <a:endParaRPr lang="es-PE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11048695" y="640080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s-PE" altLang="en-US" sz="900" b="1" dirty="0">
                <a:solidFill>
                  <a:srgbClr val="9A9CA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s-PE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compartamos-banco/f5aa2cae-8dfb-5efa-902a-389d1c1ca7cd/scratchpad/cbuild/a/p_directiva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686800" y="0"/>
            <a:ext cx="35048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94360" y="3840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altLang="en-US" sz="1500" b="1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verne</a:t>
            </a:r>
            <a:r>
              <a:rPr lang="es-PE" altLang="en-US" sz="850" dirty="0">
                <a:solidFill>
                  <a:srgbClr val="6B6E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Comunicación e Innovación</a:t>
            </a:r>
            <a:endParaRPr lang="es-PE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594360" y="914400"/>
            <a:ext cx="7635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050" b="1" kern="0" spc="300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REPUTACIÓN Y LIDERAZGO · CONSULTORÍA</a:t>
            </a:r>
            <a:endParaRPr lang="es-PE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594360" y="1188720"/>
            <a:ext cx="7635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3000" b="1" dirty="0">
                <a:solidFill>
                  <a:srgbClr val="252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Marca Corporativa y Marca Directiva</a:t>
            </a:r>
            <a:endParaRPr lang="es-PE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1874520"/>
            <a:ext cx="7635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350" dirty="0">
                <a:solidFill>
                  <a:srgbClr val="6B6E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Construimos la marca de tu empresa a través de la voz de sus líderes. Los líderes cambian, la marca permanece. </a:t>
            </a:r>
            <a:endParaRPr lang="es-PE" sz="1350" dirty="0"/>
          </a:p>
        </p:txBody>
      </p:sp>
      <p:sp>
        <p:nvSpPr>
          <p:cNvPr id="7" name="Shape 4"/>
          <p:cNvSpPr/>
          <p:nvPr/>
        </p:nvSpPr>
        <p:spPr>
          <a:xfrm>
            <a:off x="594360" y="2468880"/>
            <a:ext cx="3726180" cy="1051560"/>
          </a:xfrm>
          <a:prstGeom prst="rect">
            <a:avLst/>
          </a:prstGeom>
          <a:solidFill>
            <a:srgbClr val="25283D"/>
          </a:solidFill>
          <a:ln w="12700">
            <a:solidFill>
              <a:srgbClr val="25283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5"/>
          <p:cNvSpPr txBox="1"/>
          <p:nvPr/>
        </p:nvSpPr>
        <p:spPr>
          <a:xfrm>
            <a:off x="868680" y="2578608"/>
            <a:ext cx="32689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Marca Corporativa</a:t>
            </a:r>
            <a:endParaRPr lang="es-PE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907792"/>
            <a:ext cx="32689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s-PE" altLang="en-US" sz="1100" dirty="0">
                <a:solidFill>
                  <a:srgbClr val="D8D4E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reputación y credibilidad de la empresa en el ecosistema digital. Es lo que permanece.</a:t>
            </a:r>
            <a:endParaRPr lang="es-PE" sz="1100" dirty="0"/>
          </a:p>
        </p:txBody>
      </p:sp>
      <p:sp>
        <p:nvSpPr>
          <p:cNvPr id="10" name="Shape 7"/>
          <p:cNvSpPr/>
          <p:nvPr/>
        </p:nvSpPr>
        <p:spPr>
          <a:xfrm>
            <a:off x="4503420" y="2468880"/>
            <a:ext cx="3726180" cy="1051560"/>
          </a:xfrm>
          <a:prstGeom prst="rect">
            <a:avLst/>
          </a:prstGeom>
          <a:solidFill>
            <a:srgbClr val="F3F0FB"/>
          </a:solidFill>
          <a:ln w="12700">
            <a:solidFill>
              <a:srgbClr val="F3F0F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ext 8"/>
          <p:cNvSpPr txBox="1"/>
          <p:nvPr/>
        </p:nvSpPr>
        <p:spPr>
          <a:xfrm>
            <a:off x="4777740" y="2578608"/>
            <a:ext cx="32689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400" b="1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Marca Directiva</a:t>
            </a:r>
            <a:endParaRPr lang="es-PE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4777740" y="2907792"/>
            <a:ext cx="32689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s-PE" altLang="en-US" sz="11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Tus C-level, directivos y voceros dan rostro y voz a esa narrativa. Es lo que la amplifica.</a:t>
            </a:r>
            <a:endParaRPr lang="es-PE" sz="1100" dirty="0"/>
          </a:p>
        </p:txBody>
      </p:sp>
      <p:sp>
        <p:nvSpPr>
          <p:cNvPr id="13" name="Shape 10"/>
          <p:cNvSpPr/>
          <p:nvPr/>
        </p:nvSpPr>
        <p:spPr>
          <a:xfrm>
            <a:off x="594360" y="3749040"/>
            <a:ext cx="2423160" cy="0"/>
          </a:xfrm>
          <a:prstGeom prst="line">
            <a:avLst/>
          </a:prstGeom>
          <a:noFill/>
          <a:ln w="19050">
            <a:solidFill>
              <a:srgbClr val="6D4AB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Text 11"/>
          <p:cNvSpPr txBox="1"/>
          <p:nvPr/>
        </p:nvSpPr>
        <p:spPr>
          <a:xfrm>
            <a:off x="594360" y="385876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300" b="1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r>
              <a:rPr lang="es-PE" altLang="en-US" sz="1300" b="1" dirty="0">
                <a:solidFill>
                  <a:srgbClr val="252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Diagnóstico</a:t>
            </a:r>
            <a:endParaRPr lang="es-PE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594360" y="420624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s-PE" altLang="en-US" sz="10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Analizamos la presencia digital de la empresa y de sus directivos, y la comparamos con la de sus pares en la industria.</a:t>
            </a:r>
            <a:endParaRPr lang="es-PE" sz="1050" dirty="0"/>
          </a:p>
        </p:txBody>
      </p:sp>
      <p:sp>
        <p:nvSpPr>
          <p:cNvPr id="16" name="Shape 13"/>
          <p:cNvSpPr/>
          <p:nvPr/>
        </p:nvSpPr>
        <p:spPr>
          <a:xfrm>
            <a:off x="3200400" y="3749040"/>
            <a:ext cx="2423160" cy="0"/>
          </a:xfrm>
          <a:prstGeom prst="line">
            <a:avLst/>
          </a:prstGeom>
          <a:noFill/>
          <a:ln w="19050">
            <a:solidFill>
              <a:srgbClr val="6D4AB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7" name="Text 14"/>
          <p:cNvSpPr txBox="1"/>
          <p:nvPr/>
        </p:nvSpPr>
        <p:spPr>
          <a:xfrm>
            <a:off x="3200400" y="385876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300" b="1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r>
              <a:rPr lang="es-PE" altLang="en-US" sz="1300" b="1" dirty="0">
                <a:solidFill>
                  <a:srgbClr val="252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Estrategia</a:t>
            </a:r>
            <a:endParaRPr lang="es-PE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3200400" y="420624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s-PE" altLang="en-US" sz="10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Definimos la narrativa corporativa, los ejes de contenido y el rol de cada vocero, para que el mensaje sea de la empresa y no dependa de una sola persona.</a:t>
            </a:r>
            <a:endParaRPr lang="es-PE" sz="1050" dirty="0"/>
          </a:p>
        </p:txBody>
      </p:sp>
      <p:sp>
        <p:nvSpPr>
          <p:cNvPr id="19" name="Shape 16"/>
          <p:cNvSpPr/>
          <p:nvPr/>
        </p:nvSpPr>
        <p:spPr>
          <a:xfrm>
            <a:off x="5806440" y="3749040"/>
            <a:ext cx="2423160" cy="0"/>
          </a:xfrm>
          <a:prstGeom prst="line">
            <a:avLst/>
          </a:prstGeom>
          <a:noFill/>
          <a:ln w="19050">
            <a:solidFill>
              <a:srgbClr val="6D4AB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0" name="Text 17"/>
          <p:cNvSpPr txBox="1"/>
          <p:nvPr/>
        </p:nvSpPr>
        <p:spPr>
          <a:xfrm>
            <a:off x="5806440" y="385876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300" b="1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r>
              <a:rPr lang="es-PE" altLang="en-US" sz="1300" b="1" dirty="0">
                <a:solidFill>
                  <a:srgbClr val="252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Gestión</a:t>
            </a:r>
            <a:endParaRPr lang="es-PE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806440" y="420624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s-PE" altLang="en-US" sz="10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Creamos contenidos, acompañamos a los voceros y medimos el desempeño de la marca corporativa y de sus líderes.</a:t>
            </a:r>
            <a:endParaRPr lang="es-PE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594360" y="5303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000" b="1" kern="0" spc="300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CLIENTES </a:t>
            </a:r>
            <a:endParaRPr lang="es-PE" sz="1000" dirty="0"/>
          </a:p>
        </p:txBody>
      </p:sp>
      <p:pic>
        <p:nvPicPr>
          <p:cNvPr id="23" name="Image 1" descr="/tmp/claude-0/-home-user-compartamos-banco/f5aa2cae-8dfb-5efa-902a-389d1c1ca7cd/scratchpad/cbuild/a/s5_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568" y="5616702"/>
            <a:ext cx="817245" cy="274320"/>
          </a:xfrm>
          <a:prstGeom prst="rect">
            <a:avLst/>
          </a:prstGeom>
        </p:spPr>
      </p:pic>
      <p:pic>
        <p:nvPicPr>
          <p:cNvPr id="24" name="Image 2" descr="/tmp/claude-0/-home-user-compartamos-banco/f5aa2cae-8dfb-5efa-902a-389d1c1ca7cd/scratchpad/cbuild/a/s5_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5745" y="5616702"/>
            <a:ext cx="785123" cy="274320"/>
          </a:xfrm>
          <a:prstGeom prst="rect">
            <a:avLst/>
          </a:prstGeom>
        </p:spPr>
      </p:pic>
      <p:pic>
        <p:nvPicPr>
          <p:cNvPr id="25" name="Image 3" descr="/tmp/claude-0/-home-user-compartamos-banco/f5aa2cae-8dfb-5efa-902a-389d1c1ca7cd/scratchpad/cbuild/a/s5_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5349" y="5616702"/>
            <a:ext cx="204145" cy="274320"/>
          </a:xfrm>
          <a:prstGeom prst="rect">
            <a:avLst/>
          </a:prstGeom>
        </p:spPr>
      </p:pic>
      <p:pic>
        <p:nvPicPr>
          <p:cNvPr id="26" name="Image 4" descr="/tmp/claude-0/-home-user-compartamos-banco/f5aa2cae-8dfb-5efa-902a-389d1c1ca7cd/scratchpad/cbuild/a/s5_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21708" y="5638292"/>
            <a:ext cx="1089660" cy="231140"/>
          </a:xfrm>
          <a:prstGeom prst="rect">
            <a:avLst/>
          </a:prstGeom>
        </p:spPr>
      </p:pic>
      <p:pic>
        <p:nvPicPr>
          <p:cNvPr id="27" name="Image 5" descr="/tmp/claude-0/-home-user-compartamos-banco/f5aa2cae-8dfb-5efa-902a-389d1c1ca7cd/scratchpad/cbuild/a/s5_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15765" y="5616702"/>
            <a:ext cx="919779" cy="274320"/>
          </a:xfrm>
          <a:prstGeom prst="rect">
            <a:avLst/>
          </a:prstGeom>
        </p:spPr>
      </p:pic>
      <p:pic>
        <p:nvPicPr>
          <p:cNvPr id="28" name="Image 6" descr="/tmp/claude-0/-home-user-compartamos-banco/f5aa2cae-8dfb-5efa-902a-389d1c1ca7cd/scratchpad/cbuild/a/s5_5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39940" y="5641569"/>
            <a:ext cx="1089660" cy="224586"/>
          </a:xfrm>
          <a:prstGeom prst="rect">
            <a:avLst/>
          </a:prstGeom>
        </p:spPr>
      </p:pic>
      <p:pic>
        <p:nvPicPr>
          <p:cNvPr id="29" name="Image 7" descr="/tmp/claude-0/-home-user-compartamos-banco/f5aa2cae-8dfb-5efa-902a-389d1c1ca7cd/scratchpad/cbuild/a/s5_6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29174" y="6005322"/>
            <a:ext cx="929148" cy="274320"/>
          </a:xfrm>
          <a:prstGeom prst="rect">
            <a:avLst/>
          </a:prstGeom>
        </p:spPr>
      </p:pic>
      <p:pic>
        <p:nvPicPr>
          <p:cNvPr id="30" name="Image 8" descr="/tmp/claude-0/-home-user-compartamos-banco/f5aa2cae-8dfb-5efa-902a-389d1c1ca7cd/scratchpad/cbuild/a/s5_7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831661" y="6005322"/>
            <a:ext cx="542405" cy="274320"/>
          </a:xfrm>
          <a:prstGeom prst="rect">
            <a:avLst/>
          </a:prstGeom>
        </p:spPr>
      </p:pic>
      <p:pic>
        <p:nvPicPr>
          <p:cNvPr id="31" name="Image 9" descr="/tmp/claude-0/-home-user-compartamos-banco/f5aa2cae-8dfb-5efa-902a-389d1c1ca7cd/scratchpad/cbuild/a/s5_8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084666" y="6005322"/>
            <a:ext cx="654627" cy="274320"/>
          </a:xfrm>
          <a:prstGeom prst="rect">
            <a:avLst/>
          </a:prstGeom>
        </p:spPr>
      </p:pic>
      <p:pic>
        <p:nvPicPr>
          <p:cNvPr id="32" name="Image 10" descr="/tmp/claude-0/-home-user-compartamos-banco/f5aa2cae-8dfb-5efa-902a-389d1c1ca7cd/scratchpad/cbuild/a/s5_9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176266" y="6043422"/>
            <a:ext cx="1089660" cy="198120"/>
          </a:xfrm>
          <a:prstGeom prst="rect">
            <a:avLst/>
          </a:prstGeom>
        </p:spPr>
      </p:pic>
      <p:pic>
        <p:nvPicPr>
          <p:cNvPr id="33" name="Image 11" descr="/tmp/claude-0/-home-user-compartamos-banco/f5aa2cae-8dfb-5efa-902a-389d1c1ca7cd/scratchpad/cbuild/a/s5_10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85382" y="6026912"/>
            <a:ext cx="1089660" cy="231140"/>
          </a:xfrm>
          <a:prstGeom prst="rect">
            <a:avLst/>
          </a:prstGeom>
        </p:spPr>
      </p:pic>
      <p:sp>
        <p:nvSpPr>
          <p:cNvPr id="34" name="Text 20"/>
          <p:cNvSpPr txBox="1"/>
          <p:nvPr/>
        </p:nvSpPr>
        <p:spPr>
          <a:xfrm>
            <a:off x="11048695" y="640080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s-PE" altLang="en-US" sz="900" b="1" dirty="0">
                <a:solidFill>
                  <a:srgbClr val="C0B0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s-PE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compartamos-banco/f5aa2cae-8dfb-5efa-902a-389d1c1ca7cd/scratchpad/cbuild/a/p_embajadores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3611880" cy="6858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206240" y="914400"/>
            <a:ext cx="7391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050" b="1" kern="0" spc="300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REPUTACIÓN Y LIDERAZGO · CONSULTORÍA</a:t>
            </a:r>
            <a:endParaRPr lang="es-PE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4206240" y="1188720"/>
            <a:ext cx="7391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3400" b="1" dirty="0">
                <a:solidFill>
                  <a:srgbClr val="252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Embajadores Digitales</a:t>
            </a:r>
            <a:endParaRPr lang="es-PE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4206240" y="1901952"/>
            <a:ext cx="69338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s-PE" altLang="en-US" sz="1400" dirty="0">
                <a:solidFill>
                  <a:srgbClr val="6B6E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Amplificamos la comunicación corporativa a través de tus colaboradores, quienes hablan como la voz más genuina de la marca.</a:t>
            </a:r>
            <a:endParaRPr lang="es-PE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206240" y="2880360"/>
            <a:ext cx="22198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4400" b="1" dirty="0">
                <a:solidFill>
                  <a:srgbClr val="C0B0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s-PE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4206240" y="3657600"/>
            <a:ext cx="22198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600" b="1" dirty="0">
                <a:solidFill>
                  <a:srgbClr val="252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Estrategia</a:t>
            </a:r>
            <a:endParaRPr lang="es-PE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4206240" y="4069080"/>
            <a:ext cx="22198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s-PE" altLang="en-US" sz="11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Seleccionamos y activamos embajadores alineados a los objetivos de la marca.</a:t>
            </a:r>
            <a:endParaRPr lang="es-PE" sz="1150" dirty="0"/>
          </a:p>
        </p:txBody>
      </p:sp>
      <p:sp>
        <p:nvSpPr>
          <p:cNvPr id="10" name="Shape 7"/>
          <p:cNvSpPr/>
          <p:nvPr/>
        </p:nvSpPr>
        <p:spPr>
          <a:xfrm>
            <a:off x="6608978" y="2926080"/>
            <a:ext cx="0" cy="2011680"/>
          </a:xfrm>
          <a:prstGeom prst="line">
            <a:avLst/>
          </a:prstGeom>
          <a:noFill/>
          <a:ln w="9525">
            <a:solidFill>
              <a:srgbClr val="E3E1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ext 8"/>
          <p:cNvSpPr txBox="1"/>
          <p:nvPr/>
        </p:nvSpPr>
        <p:spPr>
          <a:xfrm>
            <a:off x="6791858" y="2880360"/>
            <a:ext cx="22198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4400" b="1" dirty="0">
                <a:solidFill>
                  <a:srgbClr val="C0B0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s-PE" sz="4400" dirty="0"/>
          </a:p>
        </p:txBody>
      </p:sp>
      <p:sp>
        <p:nvSpPr>
          <p:cNvPr id="12" name="Text 9"/>
          <p:cNvSpPr txBox="1"/>
          <p:nvPr/>
        </p:nvSpPr>
        <p:spPr>
          <a:xfrm>
            <a:off x="6791858" y="3657600"/>
            <a:ext cx="22198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600" b="1" dirty="0">
                <a:solidFill>
                  <a:srgbClr val="252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Acompañamiento</a:t>
            </a:r>
            <a:endParaRPr lang="es-PE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6791858" y="4069080"/>
            <a:ext cx="22198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s-PE" altLang="en-US" sz="11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Buenas prácticas, benchmark y co-creación de contenidos, con soporte continuo.</a:t>
            </a:r>
            <a:endParaRPr lang="es-PE" sz="1150" dirty="0"/>
          </a:p>
        </p:txBody>
      </p:sp>
      <p:sp>
        <p:nvSpPr>
          <p:cNvPr id="14" name="Shape 11"/>
          <p:cNvSpPr/>
          <p:nvPr/>
        </p:nvSpPr>
        <p:spPr>
          <a:xfrm>
            <a:off x="9194597" y="2926080"/>
            <a:ext cx="0" cy="2011680"/>
          </a:xfrm>
          <a:prstGeom prst="line">
            <a:avLst/>
          </a:prstGeom>
          <a:noFill/>
          <a:ln w="9525">
            <a:solidFill>
              <a:srgbClr val="E3E1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5" name="Text 12"/>
          <p:cNvSpPr txBox="1"/>
          <p:nvPr/>
        </p:nvSpPr>
        <p:spPr>
          <a:xfrm>
            <a:off x="9377477" y="2880360"/>
            <a:ext cx="22198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4400" b="1" dirty="0">
                <a:solidFill>
                  <a:srgbClr val="C0B0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s-PE" sz="4400" dirty="0"/>
          </a:p>
        </p:txBody>
      </p:sp>
      <p:sp>
        <p:nvSpPr>
          <p:cNvPr id="16" name="Text 13"/>
          <p:cNvSpPr txBox="1"/>
          <p:nvPr/>
        </p:nvSpPr>
        <p:spPr>
          <a:xfrm>
            <a:off x="9377477" y="3657600"/>
            <a:ext cx="22198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600" b="1" dirty="0">
                <a:solidFill>
                  <a:srgbClr val="252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Medición</a:t>
            </a:r>
            <a:endParaRPr lang="es-PE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9377477" y="4069080"/>
            <a:ext cx="22198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s-PE" altLang="en-US" sz="11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pública, matriz de evaluación e informe mensual de desempeño, con Data Pulse.</a:t>
            </a:r>
            <a:endParaRPr lang="es-PE" sz="1150" dirty="0"/>
          </a:p>
        </p:txBody>
      </p:sp>
      <p:sp>
        <p:nvSpPr>
          <p:cNvPr id="18" name="Shape 15"/>
          <p:cNvSpPr/>
          <p:nvPr/>
        </p:nvSpPr>
        <p:spPr>
          <a:xfrm>
            <a:off x="4206240" y="5349240"/>
            <a:ext cx="7391095" cy="0"/>
          </a:xfrm>
          <a:prstGeom prst="line">
            <a:avLst/>
          </a:prstGeom>
          <a:noFill/>
          <a:ln w="9525">
            <a:solidFill>
              <a:srgbClr val="E3E1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9" name="Text 16"/>
          <p:cNvSpPr txBox="1"/>
          <p:nvPr/>
        </p:nvSpPr>
        <p:spPr>
          <a:xfrm>
            <a:off x="4206240" y="56235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altLang="en-US" sz="1000" b="1" kern="0" spc="300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CLIENTES</a:t>
            </a:r>
            <a:endParaRPr lang="es-PE" sz="1000" dirty="0"/>
          </a:p>
        </p:txBody>
      </p:sp>
      <p:pic>
        <p:nvPicPr>
          <p:cNvPr id="20" name="Image 1" descr="/tmp/claude-0/-home-user-compartamos-banco/f5aa2cae-8dfb-5efa-902a-389d1c1ca7cd/scratchpad/cbuild/a/s6_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7568" y="5715232"/>
            <a:ext cx="783793" cy="273855"/>
          </a:xfrm>
          <a:prstGeom prst="rect">
            <a:avLst/>
          </a:prstGeom>
        </p:spPr>
      </p:pic>
      <p:pic>
        <p:nvPicPr>
          <p:cNvPr id="21" name="Image 2" descr="/tmp/claude-0/-home-user-compartamos-banco/f5aa2cae-8dfb-5efa-902a-389d1c1ca7cd/scratchpad/cbuild/a/s6_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0817" y="5726753"/>
            <a:ext cx="783793" cy="250814"/>
          </a:xfrm>
          <a:prstGeom prst="rect">
            <a:avLst/>
          </a:prstGeom>
        </p:spPr>
      </p:pic>
      <p:pic>
        <p:nvPicPr>
          <p:cNvPr id="22" name="Image 3" descr="/tmp/claude-0/-home-user-compartamos-banco/f5aa2cae-8dfb-5efa-902a-389d1c1ca7cd/scratchpad/cbuild/a/s6_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50324" y="5705856"/>
            <a:ext cx="671277" cy="292608"/>
          </a:xfrm>
          <a:prstGeom prst="rect">
            <a:avLst/>
          </a:prstGeom>
        </p:spPr>
      </p:pic>
      <p:pic>
        <p:nvPicPr>
          <p:cNvPr id="23" name="Image 4" descr="/tmp/claude-0/-home-user-compartamos-banco/f5aa2cae-8dfb-5efa-902a-389d1c1ca7cd/scratchpad/cbuild/a/s6_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97316" y="5764125"/>
            <a:ext cx="783793" cy="176069"/>
          </a:xfrm>
          <a:prstGeom prst="rect">
            <a:avLst/>
          </a:prstGeom>
        </p:spPr>
      </p:pic>
      <p:pic>
        <p:nvPicPr>
          <p:cNvPr id="24" name="Image 5" descr="/tmp/claude-0/-home-user-compartamos-banco/f5aa2cae-8dfb-5efa-902a-389d1c1ca7cd/scratchpad/cbuild/a/s6_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00565" y="5769030"/>
            <a:ext cx="783793" cy="166259"/>
          </a:xfrm>
          <a:prstGeom prst="rect">
            <a:avLst/>
          </a:prstGeom>
        </p:spPr>
      </p:pic>
      <p:pic>
        <p:nvPicPr>
          <p:cNvPr id="25" name="Image 6" descr="/tmp/claude-0/-home-user-compartamos-banco/f5aa2cae-8dfb-5efa-902a-389d1c1ca7cd/scratchpad/cbuild/a/s6_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03814" y="5769030"/>
            <a:ext cx="783793" cy="166259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11048695" y="640080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s-PE" altLang="en-US" sz="900" b="1" dirty="0">
                <a:solidFill>
                  <a:srgbClr val="9A9CA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endParaRPr lang="es-PE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altLang="en-US" sz="1500" b="1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verne</a:t>
            </a:r>
            <a:r>
              <a:rPr lang="es-PE" altLang="en-US" sz="850" dirty="0">
                <a:solidFill>
                  <a:srgbClr val="6B6E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Comunicación e Innovación</a:t>
            </a:r>
            <a:endParaRPr lang="es-PE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9144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050" b="1" kern="0" spc="300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VISIBILIDAD Y PRESENCIA DIGITAL · CONSULTORÍA</a:t>
            </a:r>
            <a:endParaRPr lang="es-PE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18872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3400" b="1" dirty="0">
                <a:solidFill>
                  <a:srgbClr val="252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Posicionamiento GEO</a:t>
            </a:r>
            <a:endParaRPr lang="es-PE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901952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s-PE" altLang="en-US" sz="1400" dirty="0">
                <a:solidFill>
                  <a:srgbClr val="6B6E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Logramos que la IA cite y recomiende a tu marca. Trabajamos para que ChatGPT, Google AI Overview, Perplexity y Claude te mencionen en tu categoría.</a:t>
            </a:r>
            <a:endParaRPr lang="es-PE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2926080"/>
            <a:ext cx="2743200" cy="566928"/>
          </a:xfrm>
          <a:prstGeom prst="rect">
            <a:avLst/>
          </a:prstGeom>
          <a:solidFill>
            <a:srgbClr val="C0B0F4"/>
          </a:solidFill>
          <a:ln w="12700">
            <a:solidFill>
              <a:srgbClr val="C0B0F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" name="Text 5"/>
          <p:cNvSpPr txBox="1"/>
          <p:nvPr/>
        </p:nvSpPr>
        <p:spPr>
          <a:xfrm>
            <a:off x="795528" y="292608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altLang="en-US" sz="1300" b="1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  </a:t>
            </a:r>
            <a:r>
              <a:rPr lang="es-PE" altLang="en-US" sz="1300" b="1" dirty="0">
                <a:solidFill>
                  <a:srgbClr val="252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Diagnóstico (15 días)</a:t>
            </a:r>
            <a:endParaRPr lang="es-PE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3675888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s-PE" altLang="en-US" sz="11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Una radiografía de cómo aparece tu marca frente a la competencia, con brechas y oportunidades.</a:t>
            </a:r>
            <a:endParaRPr lang="es-PE" sz="1150" dirty="0"/>
          </a:p>
        </p:txBody>
      </p:sp>
      <p:sp>
        <p:nvSpPr>
          <p:cNvPr id="9" name="Shape 7"/>
          <p:cNvSpPr/>
          <p:nvPr/>
        </p:nvSpPr>
        <p:spPr>
          <a:xfrm>
            <a:off x="3447288" y="2926080"/>
            <a:ext cx="2743200" cy="566928"/>
          </a:xfrm>
          <a:prstGeom prst="rect">
            <a:avLst/>
          </a:prstGeom>
          <a:solidFill>
            <a:srgbClr val="6D4ABE"/>
          </a:solidFill>
          <a:ln w="12700">
            <a:solidFill>
              <a:srgbClr val="6D4AB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" name="Text 8"/>
          <p:cNvSpPr txBox="1"/>
          <p:nvPr/>
        </p:nvSpPr>
        <p:spPr>
          <a:xfrm>
            <a:off x="3648456" y="292608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altLang="en-US" sz="1300" b="1" dirty="0">
                <a:solidFill>
                  <a:srgbClr val="C0B0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  </a:t>
            </a:r>
            <a:r>
              <a:rPr lang="es-PE" alt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Estrategia (15 días)</a:t>
            </a:r>
            <a:endParaRPr lang="es-PE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447288" y="3675888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s-PE" altLang="en-US" sz="11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Definimos narrativas, arquitectura de contenidos y el recorrido del usuario en la IA.</a:t>
            </a:r>
            <a:endParaRPr lang="es-PE" sz="1150" dirty="0"/>
          </a:p>
        </p:txBody>
      </p:sp>
      <p:sp>
        <p:nvSpPr>
          <p:cNvPr id="12" name="Shape 10"/>
          <p:cNvSpPr/>
          <p:nvPr/>
        </p:nvSpPr>
        <p:spPr>
          <a:xfrm>
            <a:off x="6300216" y="2926080"/>
            <a:ext cx="5297119" cy="566928"/>
          </a:xfrm>
          <a:prstGeom prst="rect">
            <a:avLst/>
          </a:prstGeom>
          <a:solidFill>
            <a:srgbClr val="25283D"/>
          </a:solidFill>
          <a:ln w="12700">
            <a:solidFill>
              <a:srgbClr val="25283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 txBox="1"/>
          <p:nvPr/>
        </p:nvSpPr>
        <p:spPr>
          <a:xfrm>
            <a:off x="6501384" y="2926080"/>
            <a:ext cx="50227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altLang="en-US" sz="1300" b="1" dirty="0">
                <a:solidFill>
                  <a:srgbClr val="C0B0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  </a:t>
            </a:r>
            <a:r>
              <a:rPr lang="es-PE" alt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Implementación (60 días)</a:t>
            </a:r>
            <a:endParaRPr lang="es-PE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300216" y="3675888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s-PE" altLang="en-US" sz="11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Parrilla GEO, producción de contenidos y verificación de citación en las IAs.</a:t>
            </a:r>
            <a:endParaRPr lang="es-PE" sz="1150" dirty="0"/>
          </a:p>
        </p:txBody>
      </p:sp>
      <p:sp>
        <p:nvSpPr>
          <p:cNvPr id="15" name="Shape 13"/>
          <p:cNvSpPr/>
          <p:nvPr/>
        </p:nvSpPr>
        <p:spPr>
          <a:xfrm>
            <a:off x="594360" y="4983480"/>
            <a:ext cx="11002975" cy="566928"/>
          </a:xfrm>
          <a:prstGeom prst="rect">
            <a:avLst/>
          </a:prstGeom>
          <a:solidFill>
            <a:srgbClr val="F3F0FB"/>
          </a:solidFill>
          <a:ln w="12700">
            <a:solidFill>
              <a:srgbClr val="F3F0F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6" name="Text 14"/>
          <p:cNvSpPr txBox="1"/>
          <p:nvPr/>
        </p:nvSpPr>
        <p:spPr>
          <a:xfrm>
            <a:off x="868680" y="4983480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altLang="en-US" sz="1400" b="1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Resultados medibles en visibilidad, posición, citaciones y share of voice en IA.</a:t>
            </a:r>
            <a:endParaRPr lang="es-PE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" y="5806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altLang="en-US" sz="1000" b="1" kern="0" spc="300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CLIENTES  </a:t>
            </a:r>
            <a:r>
              <a:rPr lang="es-PE" altLang="en-US" sz="1300" b="1" dirty="0">
                <a:solidFill>
                  <a:srgbClr val="252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Gloria · ISA</a:t>
            </a:r>
            <a:endParaRPr lang="es-PE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1048695" y="640080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s-PE" altLang="en-US" sz="900" b="1" dirty="0">
                <a:solidFill>
                  <a:srgbClr val="9A9CA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</a:t>
            </a:r>
            <a:endParaRPr lang="es-PE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altLang="en-US" sz="1500" b="1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verne</a:t>
            </a:r>
            <a:r>
              <a:rPr lang="es-PE" altLang="en-US" sz="850" dirty="0">
                <a:solidFill>
                  <a:srgbClr val="6B6E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Comunicación e Innovación</a:t>
            </a:r>
            <a:endParaRPr lang="es-PE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9144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050" b="1" kern="0" spc="300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ADOPCIÓN Y CAPACIDADES DE IA · CONSULTORÍA</a:t>
            </a:r>
            <a:endParaRPr lang="es-PE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188720"/>
            <a:ext cx="4114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s-PE" altLang="en-US" sz="3400" b="1" dirty="0">
                <a:solidFill>
                  <a:srgbClr val="252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Diagnóstico de Madurez Digital</a:t>
            </a:r>
            <a:endParaRPr lang="es-PE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69748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s-PE" altLang="en-US" sz="1600" dirty="0">
                <a:solidFill>
                  <a:srgbClr val="6B6E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 decimos qué tan bien usan tus equipos la IA y dónde invertir primero.</a:t>
            </a:r>
            <a:endParaRPr lang="es-PE" sz="1600" dirty="0"/>
          </a:p>
        </p:txBody>
      </p:sp>
      <p:sp>
        <p:nvSpPr>
          <p:cNvPr id="6" name="Shape 4"/>
          <p:cNvSpPr/>
          <p:nvPr/>
        </p:nvSpPr>
        <p:spPr>
          <a:xfrm>
            <a:off x="594360" y="3931920"/>
            <a:ext cx="3931920" cy="640080"/>
          </a:xfrm>
          <a:prstGeom prst="rect">
            <a:avLst/>
          </a:prstGeom>
          <a:solidFill>
            <a:srgbClr val="25283D"/>
          </a:solidFill>
          <a:ln w="12700">
            <a:solidFill>
              <a:srgbClr val="25283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" name="Text 5"/>
          <p:cNvSpPr txBox="1"/>
          <p:nvPr/>
        </p:nvSpPr>
        <p:spPr>
          <a:xfrm>
            <a:off x="850392" y="39319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altLang="en-US" sz="12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Los niveles se inspiran en el modelo CMMI.</a:t>
            </a:r>
            <a:endParaRPr lang="es-PE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48463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altLang="en-US" sz="1000" b="1" kern="0" spc="300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CLIENTES  </a:t>
            </a:r>
            <a:r>
              <a:rPr lang="es-PE" altLang="en-US" sz="1300" b="1" dirty="0">
                <a:solidFill>
                  <a:srgbClr val="252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BCP / Credicorp · Primax</a:t>
            </a:r>
            <a:endParaRPr lang="es-PE" sz="1000" dirty="0"/>
          </a:p>
        </p:txBody>
      </p:sp>
      <p:sp>
        <p:nvSpPr>
          <p:cNvPr id="9" name="Shape 7"/>
          <p:cNvSpPr/>
          <p:nvPr/>
        </p:nvSpPr>
        <p:spPr>
          <a:xfrm>
            <a:off x="5166360" y="1234440"/>
            <a:ext cx="6430975" cy="1481328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" name="Text 8"/>
          <p:cNvSpPr txBox="1"/>
          <p:nvPr/>
        </p:nvSpPr>
        <p:spPr>
          <a:xfrm>
            <a:off x="5486400" y="1234440"/>
            <a:ext cx="100584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altLang="en-US" sz="4000" b="1" dirty="0">
                <a:solidFill>
                  <a:srgbClr val="C0B0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s-PE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6629400" y="1490472"/>
            <a:ext cx="46936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600" b="1" dirty="0">
                <a:solidFill>
                  <a:srgbClr val="252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Medimos la adopción</a:t>
            </a:r>
            <a:endParaRPr lang="es-PE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629400" y="1856232"/>
            <a:ext cx="46936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s-PE" altLang="en-US" sz="11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través de una encuesta digital representativa y entrevistas a profundidad con quienes deciden, habilitan y construyen soluciones.</a:t>
            </a:r>
            <a:endParaRPr lang="es-PE" sz="1150" dirty="0"/>
          </a:p>
        </p:txBody>
      </p:sp>
      <p:sp>
        <p:nvSpPr>
          <p:cNvPr id="13" name="Shape 11"/>
          <p:cNvSpPr/>
          <p:nvPr/>
        </p:nvSpPr>
        <p:spPr>
          <a:xfrm>
            <a:off x="5166360" y="2825496"/>
            <a:ext cx="6430975" cy="1481328"/>
          </a:xfrm>
          <a:prstGeom prst="rect">
            <a:avLst/>
          </a:prstGeom>
          <a:solidFill>
            <a:srgbClr val="F3F0FB"/>
          </a:solidFill>
          <a:ln w="12700">
            <a:solidFill>
              <a:srgbClr val="F3F0F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 txBox="1"/>
          <p:nvPr/>
        </p:nvSpPr>
        <p:spPr>
          <a:xfrm>
            <a:off x="5486400" y="2825496"/>
            <a:ext cx="100584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altLang="en-US" sz="4000" b="1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s-PE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6629400" y="3081528"/>
            <a:ext cx="46936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600" b="1" dirty="0">
                <a:solidFill>
                  <a:srgbClr val="252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Comparamos</a:t>
            </a:r>
            <a:endParaRPr lang="es-PE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629400" y="3447288"/>
            <a:ext cx="46936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s-PE" altLang="en-US" sz="11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Ubicamos a cada área en una escala de 5 niveles según su uso de IA generativa, automatización y datos. Cada una se mide con 7 indicadores, como autonomía, impacto y capacitación.</a:t>
            </a:r>
            <a:endParaRPr lang="es-PE" sz="1150" dirty="0"/>
          </a:p>
        </p:txBody>
      </p:sp>
      <p:sp>
        <p:nvSpPr>
          <p:cNvPr id="17" name="Shape 15"/>
          <p:cNvSpPr/>
          <p:nvPr/>
        </p:nvSpPr>
        <p:spPr>
          <a:xfrm>
            <a:off x="5166360" y="4416552"/>
            <a:ext cx="6430975" cy="1481328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8" name="Text 16"/>
          <p:cNvSpPr txBox="1"/>
          <p:nvPr/>
        </p:nvSpPr>
        <p:spPr>
          <a:xfrm>
            <a:off x="5486400" y="4416552"/>
            <a:ext cx="100584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altLang="en-US" sz="4000" b="1" dirty="0">
                <a:solidFill>
                  <a:srgbClr val="C0B0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s-PE" sz="4000" dirty="0"/>
          </a:p>
        </p:txBody>
      </p:sp>
      <p:sp>
        <p:nvSpPr>
          <p:cNvPr id="19" name="Text 17"/>
          <p:cNvSpPr txBox="1"/>
          <p:nvPr/>
        </p:nvSpPr>
        <p:spPr>
          <a:xfrm>
            <a:off x="6629400" y="4672584"/>
            <a:ext cx="46936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600" b="1" dirty="0">
                <a:solidFill>
                  <a:srgbClr val="252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Priorizamos</a:t>
            </a:r>
            <a:endParaRPr lang="es-PE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629400" y="5038344"/>
            <a:ext cx="46936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s-PE" altLang="en-US" sz="11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Dashboard interactivo, informe ejecutivo, segmentación de gerencias y hoja de ruta a 0-3, 3-9 y 9-18 meses.</a:t>
            </a:r>
            <a:endParaRPr lang="es-PE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11048695" y="640080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s-PE" altLang="en-US" sz="900" b="1" dirty="0">
                <a:solidFill>
                  <a:srgbClr val="9A9CA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</a:t>
            </a:r>
            <a:endParaRPr lang="es-PE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7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compartamos-banco/f5aa2cae-8dfb-5efa-902a-389d1c1ca7cd/scratchpad/cbuild/a/dark_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94360" y="3840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alt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verne</a:t>
            </a:r>
            <a:r>
              <a:rPr lang="es-PE" altLang="en-US" sz="850" dirty="0">
                <a:solidFill>
                  <a:srgbClr val="D8D4E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Comunicación e Innovación</a:t>
            </a:r>
            <a:endParaRPr lang="es-PE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594360" y="9144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050" b="1" kern="0" spc="300" dirty="0">
                <a:solidFill>
                  <a:srgbClr val="C0B0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ADOPCIÓN Y CAPACIDADES DE IA</a:t>
            </a:r>
            <a:endParaRPr lang="es-PE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594360" y="1188720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Nuestras cuatro soluciones de Inteligencia Artificial</a:t>
            </a:r>
            <a:endParaRPr lang="es-PE" sz="2900" dirty="0"/>
          </a:p>
        </p:txBody>
      </p:sp>
      <p:sp>
        <p:nvSpPr>
          <p:cNvPr id="6" name="Shape 3"/>
          <p:cNvSpPr/>
          <p:nvPr/>
        </p:nvSpPr>
        <p:spPr>
          <a:xfrm>
            <a:off x="594360" y="2194560"/>
            <a:ext cx="2599868" cy="3749040"/>
          </a:xfrm>
          <a:prstGeom prst="rect">
            <a:avLst/>
          </a:prstGeom>
          <a:solidFill>
            <a:srgbClr val="FFFFFF">
              <a:alpha val="6000"/>
            </a:srgbClr>
          </a:solidFill>
          <a:ln w="9525">
            <a:solidFill>
              <a:srgbClr val="4A457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" name="Shape 4"/>
          <p:cNvSpPr/>
          <p:nvPr/>
        </p:nvSpPr>
        <p:spPr>
          <a:xfrm>
            <a:off x="868680" y="2487168"/>
            <a:ext cx="548640" cy="548640"/>
          </a:xfrm>
          <a:prstGeom prst="ellipse">
            <a:avLst/>
          </a:prstGeom>
          <a:solidFill>
            <a:srgbClr val="6D4ABE"/>
          </a:solidFill>
          <a:ln w="12700">
            <a:solidFill>
              <a:srgbClr val="6D4AB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" y="2642616"/>
            <a:ext cx="237744" cy="23774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68680" y="3200400"/>
            <a:ext cx="21426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0000"/>
              </a:lnSpc>
              <a:buNone/>
            </a:pPr>
            <a:r>
              <a:rPr lang="es-PE" alt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Agentic AI Studio</a:t>
            </a:r>
            <a:endParaRPr lang="es-PE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3840480"/>
            <a:ext cx="21426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s-PE" altLang="en-US" sz="1100" b="1" dirty="0">
                <a:solidFill>
                  <a:srgbClr val="C0B0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Estudio de contenidos con agentes de IA</a:t>
            </a:r>
            <a:endParaRPr lang="es-PE" sz="1100" dirty="0"/>
          </a:p>
        </p:txBody>
      </p:sp>
      <p:sp>
        <p:nvSpPr>
          <p:cNvPr id="11" name="Shape 7"/>
          <p:cNvSpPr/>
          <p:nvPr/>
        </p:nvSpPr>
        <p:spPr>
          <a:xfrm>
            <a:off x="868680" y="4434840"/>
            <a:ext cx="2051228" cy="0"/>
          </a:xfrm>
          <a:prstGeom prst="line">
            <a:avLst/>
          </a:prstGeom>
          <a:noFill/>
          <a:ln w="9525">
            <a:solidFill>
              <a:srgbClr val="4A457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2" name="Text 8"/>
          <p:cNvSpPr txBox="1"/>
          <p:nvPr/>
        </p:nvSpPr>
        <p:spPr>
          <a:xfrm>
            <a:off x="868680" y="4572000"/>
            <a:ext cx="21426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s-PE" altLang="en-US" sz="1150" dirty="0">
                <a:solidFill>
                  <a:srgbClr val="D8D4E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Desde el ADN de tu marca, los agentes crean piezas multiformato listas para aprobar en minutos.</a:t>
            </a:r>
            <a:endParaRPr lang="es-PE" sz="1150" dirty="0"/>
          </a:p>
        </p:txBody>
      </p:sp>
      <p:sp>
        <p:nvSpPr>
          <p:cNvPr id="13" name="Shape 9"/>
          <p:cNvSpPr/>
          <p:nvPr/>
        </p:nvSpPr>
        <p:spPr>
          <a:xfrm>
            <a:off x="3395396" y="2194560"/>
            <a:ext cx="2599868" cy="3749040"/>
          </a:xfrm>
          <a:prstGeom prst="rect">
            <a:avLst/>
          </a:prstGeom>
          <a:solidFill>
            <a:srgbClr val="FFFFFF">
              <a:alpha val="6000"/>
            </a:srgbClr>
          </a:solidFill>
          <a:ln w="9525">
            <a:solidFill>
              <a:srgbClr val="4A457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Shape 10"/>
          <p:cNvSpPr/>
          <p:nvPr/>
        </p:nvSpPr>
        <p:spPr>
          <a:xfrm>
            <a:off x="3669716" y="2487168"/>
            <a:ext cx="548640" cy="548640"/>
          </a:xfrm>
          <a:prstGeom prst="ellipse">
            <a:avLst/>
          </a:prstGeom>
          <a:solidFill>
            <a:srgbClr val="6D4ABE"/>
          </a:solidFill>
          <a:ln w="12700">
            <a:solidFill>
              <a:srgbClr val="6D4AB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25164" y="2642616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669716" y="3200400"/>
            <a:ext cx="21426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0000"/>
              </a:lnSpc>
              <a:buNone/>
            </a:pPr>
            <a:r>
              <a:rPr lang="es-PE" alt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Agentic AI Reputation</a:t>
            </a:r>
            <a:endParaRPr lang="es-PE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3669716" y="3840480"/>
            <a:ext cx="21426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s-PE" altLang="en-US" sz="1100" b="1" dirty="0">
                <a:solidFill>
                  <a:srgbClr val="C0B0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Consultor de reputación</a:t>
            </a:r>
            <a:endParaRPr lang="es-PE" sz="1100" dirty="0"/>
          </a:p>
        </p:txBody>
      </p:sp>
      <p:sp>
        <p:nvSpPr>
          <p:cNvPr id="18" name="Shape 13"/>
          <p:cNvSpPr/>
          <p:nvPr/>
        </p:nvSpPr>
        <p:spPr>
          <a:xfrm>
            <a:off x="3669716" y="4434840"/>
            <a:ext cx="2051228" cy="0"/>
          </a:xfrm>
          <a:prstGeom prst="line">
            <a:avLst/>
          </a:prstGeom>
          <a:noFill/>
          <a:ln w="9525">
            <a:solidFill>
              <a:srgbClr val="4A457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9" name="Text 14"/>
          <p:cNvSpPr txBox="1"/>
          <p:nvPr/>
        </p:nvSpPr>
        <p:spPr>
          <a:xfrm>
            <a:off x="3669716" y="4572000"/>
            <a:ext cx="21426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s-PE" altLang="en-US" sz="1150" dirty="0">
                <a:solidFill>
                  <a:srgbClr val="D8D4E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Asesora ante cualquier situación que afecte tu reputación con base histórica del negocio y la reputación.</a:t>
            </a:r>
            <a:endParaRPr lang="es-PE" sz="1150" dirty="0"/>
          </a:p>
        </p:txBody>
      </p:sp>
      <p:sp>
        <p:nvSpPr>
          <p:cNvPr id="20" name="Shape 15"/>
          <p:cNvSpPr/>
          <p:nvPr/>
        </p:nvSpPr>
        <p:spPr>
          <a:xfrm>
            <a:off x="6196432" y="2194560"/>
            <a:ext cx="2599868" cy="3749040"/>
          </a:xfrm>
          <a:prstGeom prst="rect">
            <a:avLst/>
          </a:prstGeom>
          <a:solidFill>
            <a:srgbClr val="FFFFFF">
              <a:alpha val="6000"/>
            </a:srgbClr>
          </a:solidFill>
          <a:ln w="9525">
            <a:solidFill>
              <a:srgbClr val="4A457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1" name="Shape 16"/>
          <p:cNvSpPr/>
          <p:nvPr/>
        </p:nvSpPr>
        <p:spPr>
          <a:xfrm>
            <a:off x="6470752" y="2487168"/>
            <a:ext cx="548640" cy="548640"/>
          </a:xfrm>
          <a:prstGeom prst="ellipse">
            <a:avLst/>
          </a:prstGeom>
          <a:solidFill>
            <a:srgbClr val="6D4ABE"/>
          </a:solidFill>
          <a:ln w="12700">
            <a:solidFill>
              <a:srgbClr val="6D4AB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6200" y="2642616"/>
            <a:ext cx="237744" cy="237744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6470752" y="3200400"/>
            <a:ext cx="21426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0000"/>
              </a:lnSpc>
              <a:buNone/>
            </a:pPr>
            <a:r>
              <a:rPr lang="es-PE" alt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GEO Rank</a:t>
            </a:r>
            <a:endParaRPr lang="es-PE" sz="1600" dirty="0"/>
          </a:p>
        </p:txBody>
      </p:sp>
      <p:sp>
        <p:nvSpPr>
          <p:cNvPr id="24" name="Text 18"/>
          <p:cNvSpPr txBox="1"/>
          <p:nvPr/>
        </p:nvSpPr>
        <p:spPr>
          <a:xfrm>
            <a:off x="6470752" y="3840480"/>
            <a:ext cx="21426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s-PE" altLang="en-US" sz="1100" b="1" dirty="0">
                <a:solidFill>
                  <a:srgbClr val="C0B0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Plataforma de monitoreo GEO</a:t>
            </a:r>
            <a:endParaRPr lang="es-PE" sz="1100" dirty="0"/>
          </a:p>
        </p:txBody>
      </p:sp>
      <p:sp>
        <p:nvSpPr>
          <p:cNvPr id="25" name="Shape 19"/>
          <p:cNvSpPr/>
          <p:nvPr/>
        </p:nvSpPr>
        <p:spPr>
          <a:xfrm>
            <a:off x="6470752" y="4434840"/>
            <a:ext cx="2051228" cy="0"/>
          </a:xfrm>
          <a:prstGeom prst="line">
            <a:avLst/>
          </a:prstGeom>
          <a:noFill/>
          <a:ln w="9525">
            <a:solidFill>
              <a:srgbClr val="4A457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6" name="Text 20"/>
          <p:cNvSpPr txBox="1"/>
          <p:nvPr/>
        </p:nvSpPr>
        <p:spPr>
          <a:xfrm>
            <a:off x="6470752" y="4572000"/>
            <a:ext cx="21426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s-PE" altLang="en-US" sz="1150" dirty="0">
                <a:solidFill>
                  <a:srgbClr val="D8D4E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Mide la visibilidad, las citas y la veracidad de tu marca en las IAs, y traza la ruta para posicionarte.</a:t>
            </a:r>
            <a:endParaRPr lang="es-PE" sz="1150" dirty="0"/>
          </a:p>
        </p:txBody>
      </p:sp>
      <p:sp>
        <p:nvSpPr>
          <p:cNvPr id="27" name="Shape 21"/>
          <p:cNvSpPr/>
          <p:nvPr/>
        </p:nvSpPr>
        <p:spPr>
          <a:xfrm>
            <a:off x="8997467" y="2194560"/>
            <a:ext cx="2599868" cy="3749040"/>
          </a:xfrm>
          <a:prstGeom prst="rect">
            <a:avLst/>
          </a:prstGeom>
          <a:solidFill>
            <a:srgbClr val="FFFFFF">
              <a:alpha val="6000"/>
            </a:srgbClr>
          </a:solidFill>
          <a:ln w="9525">
            <a:solidFill>
              <a:srgbClr val="4A457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8" name="Shape 22"/>
          <p:cNvSpPr/>
          <p:nvPr/>
        </p:nvSpPr>
        <p:spPr>
          <a:xfrm>
            <a:off x="9271787" y="2487168"/>
            <a:ext cx="548640" cy="548640"/>
          </a:xfrm>
          <a:prstGeom prst="ellipse">
            <a:avLst/>
          </a:prstGeom>
          <a:solidFill>
            <a:srgbClr val="6D4ABE"/>
          </a:solidFill>
          <a:ln w="12700">
            <a:solidFill>
              <a:srgbClr val="6D4AB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27235" y="2642616"/>
            <a:ext cx="237744" cy="237744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9271787" y="3200400"/>
            <a:ext cx="21426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0000"/>
              </a:lnSpc>
              <a:buNone/>
            </a:pPr>
            <a:r>
              <a:rPr lang="es-PE" alt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Pulse</a:t>
            </a:r>
            <a:endParaRPr lang="es-PE" sz="1600" dirty="0"/>
          </a:p>
        </p:txBody>
      </p:sp>
      <p:sp>
        <p:nvSpPr>
          <p:cNvPr id="31" name="Text 24"/>
          <p:cNvSpPr txBox="1"/>
          <p:nvPr/>
        </p:nvSpPr>
        <p:spPr>
          <a:xfrm>
            <a:off x="9271787" y="3840480"/>
            <a:ext cx="21426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s-PE" altLang="en-US" sz="1100" b="1" dirty="0">
                <a:solidFill>
                  <a:srgbClr val="C0B0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Tracking de performance de embajadores digitales</a:t>
            </a:r>
            <a:endParaRPr lang="es-PE" sz="1100" dirty="0"/>
          </a:p>
        </p:txBody>
      </p:sp>
      <p:sp>
        <p:nvSpPr>
          <p:cNvPr id="32" name="Shape 25"/>
          <p:cNvSpPr/>
          <p:nvPr/>
        </p:nvSpPr>
        <p:spPr>
          <a:xfrm>
            <a:off x="9271787" y="4434840"/>
            <a:ext cx="2051228" cy="0"/>
          </a:xfrm>
          <a:prstGeom prst="line">
            <a:avLst/>
          </a:prstGeom>
          <a:noFill/>
          <a:ln w="9525">
            <a:solidFill>
              <a:srgbClr val="4A457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3" name="Text 26"/>
          <p:cNvSpPr txBox="1"/>
          <p:nvPr/>
        </p:nvSpPr>
        <p:spPr>
          <a:xfrm>
            <a:off x="9271787" y="4572000"/>
            <a:ext cx="21426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s-PE" altLang="en-US" sz="1150" dirty="0">
                <a:solidFill>
                  <a:srgbClr val="D8D4E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Mide el desempeño de tus embajadores y convierte la data en acciones de comunicación.</a:t>
            </a:r>
            <a:endParaRPr lang="es-PE" sz="1150" dirty="0"/>
          </a:p>
        </p:txBody>
      </p:sp>
      <p:sp>
        <p:nvSpPr>
          <p:cNvPr id="34" name="Text 27"/>
          <p:cNvSpPr txBox="1"/>
          <p:nvPr/>
        </p:nvSpPr>
        <p:spPr>
          <a:xfrm>
            <a:off x="11048695" y="640080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s-PE" altLang="en-US" sz="900" b="1" dirty="0">
                <a:solidFill>
                  <a:srgbClr val="C0B0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</a:t>
            </a:r>
            <a:endParaRPr lang="es-PE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altLang="en-US" sz="1500" b="1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verne</a:t>
            </a:r>
            <a:r>
              <a:rPr lang="es-PE" altLang="en-US" sz="850" dirty="0">
                <a:solidFill>
                  <a:srgbClr val="6B6E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Comunicación e Innovación</a:t>
            </a:r>
            <a:endParaRPr lang="es-PE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9144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050" b="1" kern="0" spc="300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TEMARIO Y CASOS A MEDIDA PARA CADA EMPRESA </a:t>
            </a:r>
            <a:endParaRPr lang="es-PE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188720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3400" b="1" dirty="0">
                <a:solidFill>
                  <a:srgbClr val="252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Formación </a:t>
            </a:r>
            <a:endParaRPr lang="es-PE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901952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400" dirty="0">
                <a:solidFill>
                  <a:srgbClr val="6B6E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Habilitamos a tu equipo para que trabaje con IA y lo haga por sí mismo.</a:t>
            </a:r>
            <a:endParaRPr lang="es-PE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2395728"/>
            <a:ext cx="2743200" cy="3547872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" name="Text 5"/>
          <p:cNvSpPr txBox="1"/>
          <p:nvPr/>
        </p:nvSpPr>
        <p:spPr>
          <a:xfrm>
            <a:off x="850392" y="257860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altLang="en-US" sz="1800" b="1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r>
              <a:rPr lang="es-PE" altLang="en-US" sz="1100" b="1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Reputación y liderazgo</a:t>
            </a:r>
            <a:endParaRPr lang="es-PE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50392" y="2962656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s-PE" altLang="en-US" sz="1500" b="1" dirty="0">
                <a:solidFill>
                  <a:srgbClr val="252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Voceros creíbles</a:t>
            </a:r>
            <a:endParaRPr lang="es-PE" sz="1500" dirty="0"/>
          </a:p>
        </p:txBody>
      </p:sp>
      <p:sp>
        <p:nvSpPr>
          <p:cNvPr id="9" name="Shape 7"/>
          <p:cNvSpPr/>
          <p:nvPr/>
        </p:nvSpPr>
        <p:spPr>
          <a:xfrm>
            <a:off x="850392" y="3657600"/>
            <a:ext cx="2231136" cy="0"/>
          </a:xfrm>
          <a:prstGeom prst="line">
            <a:avLst/>
          </a:prstGeom>
          <a:noFill/>
          <a:ln w="9525">
            <a:solidFill>
              <a:srgbClr val="E3E1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" name="Text 8"/>
          <p:cNvSpPr txBox="1"/>
          <p:nvPr/>
        </p:nvSpPr>
        <p:spPr>
          <a:xfrm>
            <a:off x="850392" y="3730752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s-PE" altLang="en-US" sz="1050" b="1" dirty="0">
                <a:solidFill>
                  <a:srgbClr val="252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Marca Directiva y Embajadores</a:t>
            </a:r>
            <a:endParaRPr lang="es-PE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850392" y="4133088"/>
            <a:ext cx="22311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s-PE" altLang="en-US" sz="9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Líderes y colaboradores aprenden a comunicar con credibilidad en el entorno digital.</a:t>
            </a:r>
            <a:endParaRPr lang="es-PE" sz="950" dirty="0"/>
          </a:p>
        </p:txBody>
      </p:sp>
      <p:sp>
        <p:nvSpPr>
          <p:cNvPr id="12" name="Shape 10"/>
          <p:cNvSpPr/>
          <p:nvPr/>
        </p:nvSpPr>
        <p:spPr>
          <a:xfrm>
            <a:off x="3538728" y="2395728"/>
            <a:ext cx="3017520" cy="3547872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 txBox="1"/>
          <p:nvPr/>
        </p:nvSpPr>
        <p:spPr>
          <a:xfrm>
            <a:off x="3794760" y="257860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altLang="en-US" sz="1800" b="1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r>
              <a:rPr lang="es-PE" altLang="en-US" sz="1100" b="1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Visibilidad y presencia digital</a:t>
            </a:r>
            <a:endParaRPr lang="es-PE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794760" y="2962656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s-PE" altLang="en-US" sz="1500" b="1" dirty="0">
                <a:solidFill>
                  <a:srgbClr val="252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Prensa y entorno digital como aliados</a:t>
            </a:r>
            <a:endParaRPr lang="es-PE" sz="1500" dirty="0"/>
          </a:p>
        </p:txBody>
      </p:sp>
      <p:sp>
        <p:nvSpPr>
          <p:cNvPr id="15" name="Shape 13"/>
          <p:cNvSpPr/>
          <p:nvPr/>
        </p:nvSpPr>
        <p:spPr>
          <a:xfrm>
            <a:off x="3794760" y="3657600"/>
            <a:ext cx="2505456" cy="0"/>
          </a:xfrm>
          <a:prstGeom prst="line">
            <a:avLst/>
          </a:prstGeom>
          <a:noFill/>
          <a:ln w="9525">
            <a:solidFill>
              <a:srgbClr val="E3E1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6" name="Text 14"/>
          <p:cNvSpPr txBox="1"/>
          <p:nvPr/>
        </p:nvSpPr>
        <p:spPr>
          <a:xfrm>
            <a:off x="3794760" y="373075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s-PE" altLang="en-US" sz="1050" b="1" dirty="0">
                <a:solidFill>
                  <a:srgbClr val="252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Formación para periodistas</a:t>
            </a:r>
            <a:endParaRPr lang="es-PE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3794760" y="4133088"/>
            <a:ext cx="25054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s-PE" altLang="en-US" sz="9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IA generativa aplicada al periodismo, con conferencia, taller práctico y certificado co-branding.</a:t>
            </a:r>
            <a:endParaRPr lang="es-PE" sz="950" dirty="0"/>
          </a:p>
        </p:txBody>
      </p:sp>
      <p:sp>
        <p:nvSpPr>
          <p:cNvPr id="18" name="Shape 16"/>
          <p:cNvSpPr/>
          <p:nvPr/>
        </p:nvSpPr>
        <p:spPr>
          <a:xfrm>
            <a:off x="3794760" y="4736592"/>
            <a:ext cx="2505456" cy="0"/>
          </a:xfrm>
          <a:prstGeom prst="line">
            <a:avLst/>
          </a:prstGeom>
          <a:noFill/>
          <a:ln w="9525">
            <a:solidFill>
              <a:srgbClr val="E3E1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9" name="Text 17"/>
          <p:cNvSpPr txBox="1"/>
          <p:nvPr/>
        </p:nvSpPr>
        <p:spPr>
          <a:xfrm>
            <a:off x="3794760" y="4809744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s-PE" altLang="en-US" sz="1050" b="1" dirty="0">
                <a:solidFill>
                  <a:srgbClr val="252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Political Intelligence AI</a:t>
            </a:r>
            <a:endParaRPr lang="es-PE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3794760" y="5212080"/>
            <a:ext cx="25054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s-PE" altLang="en-US" sz="9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Exposiciones y talleres de una hora sobre coyuntura política.</a:t>
            </a:r>
            <a:endParaRPr lang="es-PE" sz="950" dirty="0"/>
          </a:p>
        </p:txBody>
      </p:sp>
      <p:sp>
        <p:nvSpPr>
          <p:cNvPr id="21" name="Shape 19"/>
          <p:cNvSpPr/>
          <p:nvPr/>
        </p:nvSpPr>
        <p:spPr>
          <a:xfrm>
            <a:off x="6757416" y="2395728"/>
            <a:ext cx="4839919" cy="3547872"/>
          </a:xfrm>
          <a:prstGeom prst="rect">
            <a:avLst/>
          </a:prstGeom>
          <a:solidFill>
            <a:srgbClr val="25283D"/>
          </a:solidFill>
          <a:ln w="12700">
            <a:solidFill>
              <a:srgbClr val="25283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2" name="Text 20"/>
          <p:cNvSpPr txBox="1"/>
          <p:nvPr/>
        </p:nvSpPr>
        <p:spPr>
          <a:xfrm>
            <a:off x="7013448" y="2578608"/>
            <a:ext cx="43827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altLang="en-US" sz="1800" b="1" dirty="0">
                <a:solidFill>
                  <a:srgbClr val="C0B0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r>
              <a:rPr lang="es-PE" altLang="en-US" sz="1100" b="1" dirty="0">
                <a:solidFill>
                  <a:srgbClr val="C0B0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Adopción y capacidades de IA</a:t>
            </a:r>
            <a:endParaRPr lang="es-PE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7013448" y="2962656"/>
            <a:ext cx="438271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s-PE" alt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 la teoría al uso real de la IA</a:t>
            </a:r>
            <a:endParaRPr lang="es-PE" sz="1500" dirty="0"/>
          </a:p>
        </p:txBody>
      </p:sp>
      <p:sp>
        <p:nvSpPr>
          <p:cNvPr id="24" name="Shape 22"/>
          <p:cNvSpPr/>
          <p:nvPr/>
        </p:nvSpPr>
        <p:spPr>
          <a:xfrm>
            <a:off x="7013448" y="3657600"/>
            <a:ext cx="2049628" cy="0"/>
          </a:xfrm>
          <a:prstGeom prst="line">
            <a:avLst/>
          </a:prstGeom>
          <a:noFill/>
          <a:ln w="9525">
            <a:solidFill>
              <a:srgbClr val="4A457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5" name="Text 23"/>
          <p:cNvSpPr txBox="1"/>
          <p:nvPr/>
        </p:nvSpPr>
        <p:spPr>
          <a:xfrm>
            <a:off x="7013448" y="3730752"/>
            <a:ext cx="20496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s-PE" altLang="en-US" sz="10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IA, data y automatización</a:t>
            </a:r>
            <a:endParaRPr lang="es-PE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7013448" y="4133088"/>
            <a:ext cx="20496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s-PE" altLang="en-US" sz="950" dirty="0">
                <a:solidFill>
                  <a:srgbClr val="D8D4E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Copilot Studio y Power Platform aplicados a casos reales del área.</a:t>
            </a:r>
            <a:endParaRPr lang="es-PE" sz="950" dirty="0"/>
          </a:p>
        </p:txBody>
      </p:sp>
      <p:sp>
        <p:nvSpPr>
          <p:cNvPr id="27" name="Shape 25"/>
          <p:cNvSpPr/>
          <p:nvPr/>
        </p:nvSpPr>
        <p:spPr>
          <a:xfrm>
            <a:off x="9291676" y="3657600"/>
            <a:ext cx="2049628" cy="0"/>
          </a:xfrm>
          <a:prstGeom prst="line">
            <a:avLst/>
          </a:prstGeom>
          <a:noFill/>
          <a:ln w="9525">
            <a:solidFill>
              <a:srgbClr val="4A457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8" name="Text 26"/>
          <p:cNvSpPr txBox="1"/>
          <p:nvPr/>
        </p:nvSpPr>
        <p:spPr>
          <a:xfrm>
            <a:off x="9291676" y="3730752"/>
            <a:ext cx="20496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s-PE" altLang="en-US" sz="10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IA para comunicación y marketing</a:t>
            </a:r>
            <a:endParaRPr lang="es-PE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9291676" y="4133088"/>
            <a:ext cx="20496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s-PE" altLang="en-US" sz="950" dirty="0">
                <a:solidFill>
                  <a:srgbClr val="D8D4E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IA generativa aplicada al análisis de data y a los flujos de contenido, campañas y ventas.</a:t>
            </a:r>
            <a:endParaRPr lang="es-PE" sz="950" dirty="0"/>
          </a:p>
        </p:txBody>
      </p:sp>
      <p:sp>
        <p:nvSpPr>
          <p:cNvPr id="30" name="Shape 28"/>
          <p:cNvSpPr/>
          <p:nvPr/>
        </p:nvSpPr>
        <p:spPr>
          <a:xfrm>
            <a:off x="7013448" y="4736592"/>
            <a:ext cx="2049628" cy="0"/>
          </a:xfrm>
          <a:prstGeom prst="line">
            <a:avLst/>
          </a:prstGeom>
          <a:noFill/>
          <a:ln w="9525">
            <a:solidFill>
              <a:srgbClr val="4A457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1" name="Text 29"/>
          <p:cNvSpPr txBox="1"/>
          <p:nvPr/>
        </p:nvSpPr>
        <p:spPr>
          <a:xfrm>
            <a:off x="7013448" y="4809744"/>
            <a:ext cx="20496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s-PE" altLang="en-US" sz="10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Claude AI para empresas</a:t>
            </a:r>
            <a:endParaRPr lang="es-PE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7013448" y="5212080"/>
            <a:ext cx="20496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s-PE" altLang="en-US" sz="950" dirty="0">
                <a:solidFill>
                  <a:srgbClr val="D8D4E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Implementación y onboarding del área para sistematizar el trabajo con IA en el día a día.</a:t>
            </a:r>
            <a:endParaRPr lang="es-PE" sz="950" dirty="0"/>
          </a:p>
        </p:txBody>
      </p:sp>
      <p:sp>
        <p:nvSpPr>
          <p:cNvPr id="33" name="Shape 31"/>
          <p:cNvSpPr/>
          <p:nvPr/>
        </p:nvSpPr>
        <p:spPr>
          <a:xfrm>
            <a:off x="9291676" y="4736592"/>
            <a:ext cx="2049628" cy="0"/>
          </a:xfrm>
          <a:prstGeom prst="line">
            <a:avLst/>
          </a:prstGeom>
          <a:noFill/>
          <a:ln w="9525">
            <a:solidFill>
              <a:srgbClr val="4A457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4" name="Text 32"/>
          <p:cNvSpPr txBox="1"/>
          <p:nvPr/>
        </p:nvSpPr>
        <p:spPr>
          <a:xfrm>
            <a:off x="9291676" y="4809744"/>
            <a:ext cx="20496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s-PE" altLang="en-US" sz="10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Taller IA Agéntica</a:t>
            </a:r>
            <a:endParaRPr lang="es-PE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9291676" y="5212080"/>
            <a:ext cx="20496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s-PE" altLang="en-US" sz="950" dirty="0">
                <a:solidFill>
                  <a:srgbClr val="D8D4E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Tu equipo aprende a crear y usar agentes de IA que ejecutan tareas de comunicación y marketing de principio a fin.</a:t>
            </a:r>
            <a:endParaRPr lang="es-PE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594360" y="6053328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altLang="en-US" sz="1000" b="1" kern="0" spc="300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CLIENTES      </a:t>
            </a:r>
            <a:r>
              <a:rPr lang="es-PE" altLang="en-US" sz="1250" b="1" dirty="0">
                <a:solidFill>
                  <a:srgbClr val="252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BCP · Pacífico Seguros · Interbank · Antapaccay · Petrotal (logos)</a:t>
            </a:r>
            <a:endParaRPr lang="es-PE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11048695" y="640080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s-PE" altLang="en-US" sz="900" b="1" dirty="0">
                <a:solidFill>
                  <a:srgbClr val="9A9CA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</a:t>
            </a:r>
            <a:endParaRPr lang="es-PE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altLang="en-US" sz="1500" b="1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verne</a:t>
            </a:r>
            <a:r>
              <a:rPr lang="es-PE" altLang="en-US" sz="850" dirty="0">
                <a:solidFill>
                  <a:srgbClr val="6B6E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Comunicación e Innovación</a:t>
            </a:r>
            <a:endParaRPr lang="es-PE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9144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050" b="1" kern="0" spc="300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ADOPCIÓN Y CAPACIDADES DE IA</a:t>
            </a:r>
            <a:endParaRPr lang="es-PE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18872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3400" b="1" dirty="0">
                <a:solidFill>
                  <a:srgbClr val="252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Herramientas de Formación</a:t>
            </a:r>
            <a:endParaRPr lang="es-PE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901952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400" dirty="0">
                <a:solidFill>
                  <a:srgbClr val="6B6E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Trabajamos con los principales ecosistemas de IA y automatización.</a:t>
            </a:r>
            <a:endParaRPr lang="es-PE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2560320"/>
            <a:ext cx="2599868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" name="Text 5"/>
          <p:cNvSpPr txBox="1"/>
          <p:nvPr/>
        </p:nvSpPr>
        <p:spPr>
          <a:xfrm>
            <a:off x="868680" y="2788920"/>
            <a:ext cx="21426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400" b="1" dirty="0">
                <a:solidFill>
                  <a:srgbClr val="252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Ecosistema Microsoft</a:t>
            </a:r>
            <a:endParaRPr lang="es-PE" sz="1400" dirty="0"/>
          </a:p>
        </p:txBody>
      </p:sp>
      <p:sp>
        <p:nvSpPr>
          <p:cNvPr id="8" name="Shape 6"/>
          <p:cNvSpPr/>
          <p:nvPr/>
        </p:nvSpPr>
        <p:spPr>
          <a:xfrm>
            <a:off x="868680" y="3273552"/>
            <a:ext cx="2051228" cy="0"/>
          </a:xfrm>
          <a:prstGeom prst="line">
            <a:avLst/>
          </a:prstGeom>
          <a:noFill/>
          <a:ln w="15875">
            <a:solidFill>
              <a:srgbClr val="6D4AB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9" name="Image 0" descr="/tmp/claude-0/-home-user-compartamos-banco/f5aa2cae-8dfb-5efa-902a-389d1c1ca7cd/scratchpad/cbuild/a/s11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533995"/>
            <a:ext cx="384048" cy="356939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463040" y="3520440"/>
            <a:ext cx="15025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altLang="en-US" sz="12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Copilot Studio</a:t>
            </a:r>
            <a:endParaRPr lang="es-PE" sz="1250" dirty="0"/>
          </a:p>
        </p:txBody>
      </p:sp>
      <p:pic>
        <p:nvPicPr>
          <p:cNvPr id="11" name="Image 1" descr="/tmp/claude-0/-home-user-compartamos-banco/f5aa2cae-8dfb-5efa-902a-389d1c1ca7cd/scratchpad/cbuild/a/s11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147093"/>
            <a:ext cx="384048" cy="37432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463040" y="4142232"/>
            <a:ext cx="15025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altLang="en-US" sz="12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Power Apps</a:t>
            </a:r>
            <a:endParaRPr lang="es-PE" sz="1250" dirty="0"/>
          </a:p>
        </p:txBody>
      </p:sp>
      <p:pic>
        <p:nvPicPr>
          <p:cNvPr id="13" name="Image 2" descr="/tmp/claude-0/-home-user-compartamos-banco/f5aa2cae-8dfb-5efa-902a-389d1c1ca7cd/scratchpad/cbuild/a/s11_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432" y="4764024"/>
            <a:ext cx="296543" cy="38404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63040" y="4764024"/>
            <a:ext cx="15025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altLang="en-US" sz="12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Power BI</a:t>
            </a:r>
            <a:endParaRPr lang="es-PE" sz="1250" dirty="0"/>
          </a:p>
        </p:txBody>
      </p:sp>
      <p:pic>
        <p:nvPicPr>
          <p:cNvPr id="15" name="Image 3" descr="/tmp/claude-0/-home-user-compartamos-banco/f5aa2cae-8dfb-5efa-902a-389d1c1ca7cd/scratchpad/cbuild/a/s11_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5423747"/>
            <a:ext cx="384048" cy="308187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463040" y="5385816"/>
            <a:ext cx="15025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altLang="en-US" sz="12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Power Automate</a:t>
            </a:r>
            <a:endParaRPr lang="es-PE" sz="1250" dirty="0"/>
          </a:p>
        </p:txBody>
      </p:sp>
      <p:sp>
        <p:nvSpPr>
          <p:cNvPr id="17" name="Shape 11"/>
          <p:cNvSpPr/>
          <p:nvPr/>
        </p:nvSpPr>
        <p:spPr>
          <a:xfrm>
            <a:off x="3395396" y="2560320"/>
            <a:ext cx="2599868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8" name="Text 12"/>
          <p:cNvSpPr txBox="1"/>
          <p:nvPr/>
        </p:nvSpPr>
        <p:spPr>
          <a:xfrm>
            <a:off x="3669716" y="2788920"/>
            <a:ext cx="21426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400" b="1" dirty="0">
                <a:solidFill>
                  <a:srgbClr val="252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Ecosistema Anthropic</a:t>
            </a:r>
            <a:endParaRPr lang="es-PE" sz="1400" dirty="0"/>
          </a:p>
        </p:txBody>
      </p:sp>
      <p:sp>
        <p:nvSpPr>
          <p:cNvPr id="19" name="Shape 13"/>
          <p:cNvSpPr/>
          <p:nvPr/>
        </p:nvSpPr>
        <p:spPr>
          <a:xfrm>
            <a:off x="3669716" y="3273552"/>
            <a:ext cx="2051228" cy="0"/>
          </a:xfrm>
          <a:prstGeom prst="line">
            <a:avLst/>
          </a:prstGeom>
          <a:noFill/>
          <a:ln w="15875">
            <a:solidFill>
              <a:srgbClr val="6D4AB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20" name="Image 4" descr="/tmp/claude-0/-home-user-compartamos-banco/f5aa2cae-8dfb-5efa-902a-389d1c1ca7cd/scratchpad/cbuild/a/s11_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69716" y="3578064"/>
            <a:ext cx="1600200" cy="341951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3669716" y="4005072"/>
            <a:ext cx="20512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200" b="1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Projects</a:t>
            </a:r>
            <a:endParaRPr lang="es-PE" sz="1200" dirty="0"/>
          </a:p>
        </p:txBody>
      </p:sp>
      <p:pic>
        <p:nvPicPr>
          <p:cNvPr id="22" name="Image 5" descr="/tmp/claude-0/-home-user-compartamos-banco/f5aa2cae-8dfb-5efa-902a-389d1c1ca7cd/scratchpad/cbuild/a/s11_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69716" y="4812504"/>
            <a:ext cx="1600200" cy="341951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3669716" y="5239512"/>
            <a:ext cx="20512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200" b="1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Code</a:t>
            </a:r>
            <a:endParaRPr lang="es-PE" sz="1200" dirty="0"/>
          </a:p>
        </p:txBody>
      </p:sp>
      <p:sp>
        <p:nvSpPr>
          <p:cNvPr id="24" name="Shape 16"/>
          <p:cNvSpPr/>
          <p:nvPr/>
        </p:nvSpPr>
        <p:spPr>
          <a:xfrm>
            <a:off x="6196432" y="2560320"/>
            <a:ext cx="2599868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5" name="Text 17"/>
          <p:cNvSpPr txBox="1"/>
          <p:nvPr/>
        </p:nvSpPr>
        <p:spPr>
          <a:xfrm>
            <a:off x="6470752" y="2788920"/>
            <a:ext cx="21426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400" b="1" dirty="0">
                <a:solidFill>
                  <a:srgbClr val="252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Ecosistema OpenAI</a:t>
            </a:r>
            <a:endParaRPr lang="es-PE" sz="1400" dirty="0"/>
          </a:p>
        </p:txBody>
      </p:sp>
      <p:sp>
        <p:nvSpPr>
          <p:cNvPr id="26" name="Shape 18"/>
          <p:cNvSpPr/>
          <p:nvPr/>
        </p:nvSpPr>
        <p:spPr>
          <a:xfrm>
            <a:off x="6470752" y="3273552"/>
            <a:ext cx="2051228" cy="0"/>
          </a:xfrm>
          <a:prstGeom prst="line">
            <a:avLst/>
          </a:prstGeom>
          <a:noFill/>
          <a:ln w="15875">
            <a:solidFill>
              <a:srgbClr val="6D4AB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27" name="Image 6" descr="/tmp/claude-0/-home-user-compartamos-banco/f5aa2cae-8dfb-5efa-902a-389d1c1ca7cd/scratchpad/cbuild/a/s11_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0752" y="3566160"/>
            <a:ext cx="1364512" cy="457200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6470752" y="4096512"/>
            <a:ext cx="20512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200" b="1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Projects</a:t>
            </a:r>
            <a:endParaRPr lang="es-PE" sz="1200" dirty="0"/>
          </a:p>
        </p:txBody>
      </p:sp>
      <p:pic>
        <p:nvPicPr>
          <p:cNvPr id="29" name="Image 7" descr="/tmp/claude-0/-home-user-compartamos-banco/f5aa2cae-8dfb-5efa-902a-389d1c1ca7cd/scratchpad/cbuild/a/s11_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0752" y="4803443"/>
            <a:ext cx="548640" cy="542955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6470752" y="5422392"/>
            <a:ext cx="20512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200" b="1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Codex</a:t>
            </a:r>
            <a:endParaRPr lang="es-PE" sz="1200" dirty="0"/>
          </a:p>
        </p:txBody>
      </p:sp>
      <p:sp>
        <p:nvSpPr>
          <p:cNvPr id="31" name="Shape 21"/>
          <p:cNvSpPr/>
          <p:nvPr/>
        </p:nvSpPr>
        <p:spPr>
          <a:xfrm>
            <a:off x="8997467" y="2560320"/>
            <a:ext cx="2599868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2" name="Text 22"/>
          <p:cNvSpPr txBox="1"/>
          <p:nvPr/>
        </p:nvSpPr>
        <p:spPr>
          <a:xfrm>
            <a:off x="9271787" y="2788920"/>
            <a:ext cx="21426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400" b="1" dirty="0">
                <a:solidFill>
                  <a:srgbClr val="252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Ecosistema Google</a:t>
            </a:r>
            <a:endParaRPr lang="es-PE" sz="1400" dirty="0"/>
          </a:p>
        </p:txBody>
      </p:sp>
      <p:sp>
        <p:nvSpPr>
          <p:cNvPr id="33" name="Shape 23"/>
          <p:cNvSpPr/>
          <p:nvPr/>
        </p:nvSpPr>
        <p:spPr>
          <a:xfrm>
            <a:off x="9271787" y="3273552"/>
            <a:ext cx="2051228" cy="0"/>
          </a:xfrm>
          <a:prstGeom prst="line">
            <a:avLst/>
          </a:prstGeom>
          <a:noFill/>
          <a:ln w="15875">
            <a:solidFill>
              <a:srgbClr val="6D4AB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34" name="Image 8" descr="/tmp/claude-0/-home-user-compartamos-banco/f5aa2cae-8dfb-5efa-902a-389d1c1ca7cd/scratchpad/cbuild/a/s11_8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71787" y="3580236"/>
            <a:ext cx="1554480" cy="337608"/>
          </a:xfrm>
          <a:prstGeom prst="rect">
            <a:avLst/>
          </a:prstGeom>
        </p:spPr>
      </p:pic>
      <p:sp>
        <p:nvSpPr>
          <p:cNvPr id="35" name="Text 24"/>
          <p:cNvSpPr txBox="1"/>
          <p:nvPr/>
        </p:nvSpPr>
        <p:spPr>
          <a:xfrm>
            <a:off x="9271787" y="4005072"/>
            <a:ext cx="20512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200" b="1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Gems</a:t>
            </a:r>
            <a:endParaRPr lang="es-PE" sz="1200" dirty="0"/>
          </a:p>
        </p:txBody>
      </p:sp>
      <p:pic>
        <p:nvPicPr>
          <p:cNvPr id="36" name="Image 9" descr="/tmp/claude-0/-home-user-compartamos-banco/f5aa2cae-8dfb-5efa-902a-389d1c1ca7cd/scratchpad/cbuild/a/s11_9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71787" y="4803326"/>
            <a:ext cx="1600200" cy="707781"/>
          </a:xfrm>
          <a:prstGeom prst="rect">
            <a:avLst/>
          </a:prstGeom>
        </p:spPr>
      </p:pic>
      <p:sp>
        <p:nvSpPr>
          <p:cNvPr id="37" name="Text 25"/>
          <p:cNvSpPr txBox="1"/>
          <p:nvPr/>
        </p:nvSpPr>
        <p:spPr>
          <a:xfrm>
            <a:off x="11048695" y="640080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s-PE" altLang="en-US" sz="900" b="1" dirty="0">
                <a:solidFill>
                  <a:srgbClr val="9A9CA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</a:t>
            </a:r>
            <a:endParaRPr lang="es-PE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7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compartamos-banco/f5aa2cae-8dfb-5efa-902a-389d1c1ca7cd/scratchpad/cbuild/a/dark_b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94360" y="3840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alt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verne</a:t>
            </a:r>
            <a:r>
              <a:rPr lang="es-PE" altLang="en-US" sz="850" dirty="0">
                <a:solidFill>
                  <a:srgbClr val="D8D4E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Comunicación e Innovación</a:t>
            </a:r>
            <a:endParaRPr lang="es-PE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594360" y="9144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050" b="1" kern="0" spc="300" dirty="0">
                <a:solidFill>
                  <a:srgbClr val="C0B0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CASOS REALES</a:t>
            </a:r>
            <a:endParaRPr lang="es-PE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594360" y="118872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3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Resultados medidos con nuestros clientes</a:t>
            </a:r>
            <a:endParaRPr lang="es-PE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187452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400" dirty="0">
                <a:solidFill>
                  <a:srgbClr val="D8D4E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 que logramos en cada frente</a:t>
            </a:r>
            <a:endParaRPr lang="es-PE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2450592"/>
            <a:ext cx="214884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s-PE" altLang="en-US" sz="1300" b="1" dirty="0">
                <a:solidFill>
                  <a:srgbClr val="C0B0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Reputación y liderazgo</a:t>
            </a:r>
            <a:endParaRPr lang="es-PE" sz="1300" dirty="0"/>
          </a:p>
        </p:txBody>
      </p:sp>
      <p:sp>
        <p:nvSpPr>
          <p:cNvPr id="8" name="Shape 5"/>
          <p:cNvSpPr/>
          <p:nvPr/>
        </p:nvSpPr>
        <p:spPr>
          <a:xfrm>
            <a:off x="2926080" y="2450592"/>
            <a:ext cx="4221328" cy="1216152"/>
          </a:xfrm>
          <a:prstGeom prst="rect">
            <a:avLst/>
          </a:prstGeom>
          <a:solidFill>
            <a:srgbClr val="FFFFFF">
              <a:alpha val="7000"/>
            </a:srgbClr>
          </a:solidFill>
          <a:ln w="9525">
            <a:solidFill>
              <a:srgbClr val="4A457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" name="Text 6"/>
          <p:cNvSpPr txBox="1"/>
          <p:nvPr/>
        </p:nvSpPr>
        <p:spPr>
          <a:xfrm>
            <a:off x="3127248" y="2542032"/>
            <a:ext cx="385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PetroTal · Embajadores</a:t>
            </a:r>
            <a:endParaRPr lang="es-PE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3127248" y="2862072"/>
            <a:ext cx="119984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s-PE" alt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+180% </a:t>
            </a:r>
            <a:br/>
            <a:r>
              <a:rPr lang="es-PE" altLang="en-US" sz="800" dirty="0">
                <a:solidFill>
                  <a:srgbClr val="D8D4E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interacciones</a:t>
            </a:r>
            <a:endParaRPr lang="es-PE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4436821" y="2862072"/>
            <a:ext cx="119984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s-PE" alt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+256% </a:t>
            </a:r>
            <a:br/>
            <a:r>
              <a:rPr lang="es-PE" altLang="en-US" sz="800" dirty="0">
                <a:solidFill>
                  <a:srgbClr val="D8D4E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publicaciones propias</a:t>
            </a:r>
            <a:endParaRPr lang="es-PE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5746394" y="2862072"/>
            <a:ext cx="119984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s-PE" alt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+13% </a:t>
            </a:r>
            <a:br/>
            <a:r>
              <a:rPr lang="es-PE" altLang="en-US" sz="800" dirty="0">
                <a:solidFill>
                  <a:srgbClr val="D8D4E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seguidores (+6,365)</a:t>
            </a:r>
            <a:endParaRPr lang="es-PE" sz="1800" dirty="0"/>
          </a:p>
        </p:txBody>
      </p:sp>
      <p:sp>
        <p:nvSpPr>
          <p:cNvPr id="13" name="Shape 10"/>
          <p:cNvSpPr/>
          <p:nvPr/>
        </p:nvSpPr>
        <p:spPr>
          <a:xfrm>
            <a:off x="7376008" y="2450592"/>
            <a:ext cx="4221328" cy="1216152"/>
          </a:xfrm>
          <a:prstGeom prst="rect">
            <a:avLst/>
          </a:prstGeom>
          <a:solidFill>
            <a:srgbClr val="FFFFFF">
              <a:alpha val="7000"/>
            </a:srgbClr>
          </a:solidFill>
          <a:ln w="9525">
            <a:solidFill>
              <a:srgbClr val="4A457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Text 11"/>
          <p:cNvSpPr txBox="1"/>
          <p:nvPr/>
        </p:nvSpPr>
        <p:spPr>
          <a:xfrm>
            <a:off x="7577176" y="2542032"/>
            <a:ext cx="385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Enel Perú · Marca Directiva (Marco Fragale)</a:t>
            </a:r>
            <a:endParaRPr lang="es-PE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7577176" y="2862072"/>
            <a:ext cx="8724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s-PE" alt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+2 pts </a:t>
            </a:r>
            <a:br/>
            <a:r>
              <a:rPr lang="es-PE" altLang="en-US" sz="800" dirty="0">
                <a:solidFill>
                  <a:srgbClr val="D8D4E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posicionamiento digital</a:t>
            </a:r>
            <a:endParaRPr lang="es-PE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8559356" y="2862072"/>
            <a:ext cx="8724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s-PE" alt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+68% </a:t>
            </a:r>
            <a:br/>
            <a:r>
              <a:rPr lang="es-PE" altLang="en-US" sz="800" dirty="0">
                <a:solidFill>
                  <a:srgbClr val="D8D4E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seguidores</a:t>
            </a:r>
            <a:endParaRPr lang="es-PE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9541535" y="2862072"/>
            <a:ext cx="8724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s-PE" alt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+35% </a:t>
            </a:r>
            <a:br/>
            <a:r>
              <a:rPr lang="es-PE" altLang="en-US" sz="800" dirty="0">
                <a:solidFill>
                  <a:srgbClr val="D8D4E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contenido propio</a:t>
            </a:r>
            <a:endParaRPr lang="es-PE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10523715" y="2862072"/>
            <a:ext cx="8724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s-PE" alt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+27% </a:t>
            </a:r>
            <a:br/>
            <a:r>
              <a:rPr lang="es-PE" altLang="en-US" sz="800" dirty="0">
                <a:solidFill>
                  <a:srgbClr val="D8D4E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interacciones</a:t>
            </a:r>
            <a:endParaRPr lang="es-PE" sz="1800" dirty="0"/>
          </a:p>
        </p:txBody>
      </p:sp>
      <p:sp>
        <p:nvSpPr>
          <p:cNvPr id="19" name="Shape 16"/>
          <p:cNvSpPr/>
          <p:nvPr/>
        </p:nvSpPr>
        <p:spPr>
          <a:xfrm>
            <a:off x="594360" y="3735324"/>
            <a:ext cx="11002975" cy="0"/>
          </a:xfrm>
          <a:prstGeom prst="line">
            <a:avLst/>
          </a:prstGeom>
          <a:noFill/>
          <a:ln w="9525">
            <a:solidFill>
              <a:srgbClr val="3E3A62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0" name="Text 17"/>
          <p:cNvSpPr txBox="1"/>
          <p:nvPr/>
        </p:nvSpPr>
        <p:spPr>
          <a:xfrm>
            <a:off x="594360" y="3803904"/>
            <a:ext cx="214884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s-PE" altLang="en-US" sz="1300" b="1" dirty="0">
                <a:solidFill>
                  <a:srgbClr val="C0B0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Visibilidad y presencia digital</a:t>
            </a:r>
            <a:endParaRPr lang="es-PE" sz="1300" dirty="0"/>
          </a:p>
        </p:txBody>
      </p:sp>
      <p:sp>
        <p:nvSpPr>
          <p:cNvPr id="21" name="Shape 18"/>
          <p:cNvSpPr/>
          <p:nvPr/>
        </p:nvSpPr>
        <p:spPr>
          <a:xfrm>
            <a:off x="2926080" y="3803904"/>
            <a:ext cx="4221328" cy="1216152"/>
          </a:xfrm>
          <a:prstGeom prst="rect">
            <a:avLst/>
          </a:prstGeom>
          <a:solidFill>
            <a:srgbClr val="FFFFFF">
              <a:alpha val="7000"/>
            </a:srgbClr>
          </a:solidFill>
          <a:ln w="9525">
            <a:solidFill>
              <a:srgbClr val="4A457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2" name="Text 19"/>
          <p:cNvSpPr txBox="1"/>
          <p:nvPr/>
        </p:nvSpPr>
        <p:spPr>
          <a:xfrm>
            <a:off x="3127248" y="3895344"/>
            <a:ext cx="385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Promigas · Periodistas</a:t>
            </a:r>
            <a:endParaRPr lang="es-PE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3127248" y="4215384"/>
            <a:ext cx="8724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s-PE" alt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146 </a:t>
            </a:r>
            <a:br/>
            <a:r>
              <a:rPr lang="es-PE" altLang="en-US" sz="800" dirty="0">
                <a:solidFill>
                  <a:srgbClr val="D8D4E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periodistas</a:t>
            </a:r>
            <a:endParaRPr lang="es-PE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4109428" y="4215384"/>
            <a:ext cx="8724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s-PE" alt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+7,000 </a:t>
            </a:r>
            <a:br/>
            <a:r>
              <a:rPr lang="es-PE" altLang="en-US" sz="800" dirty="0">
                <a:solidFill>
                  <a:srgbClr val="D8D4E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reproducciones</a:t>
            </a:r>
            <a:endParaRPr lang="es-PE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5091608" y="4215384"/>
            <a:ext cx="8724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s-PE" alt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1,500 </a:t>
            </a:r>
            <a:br/>
            <a:r>
              <a:rPr lang="es-PE" altLang="en-US" sz="800" dirty="0">
                <a:solidFill>
                  <a:srgbClr val="D8D4E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interacciones</a:t>
            </a:r>
            <a:endParaRPr lang="es-PE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6073788" y="4215384"/>
            <a:ext cx="8724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s-PE" altLang="en-US" sz="850" dirty="0">
                <a:solidFill>
                  <a:srgbClr val="D8D4E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cobertura en medios (América TV, Infomercado)</a:t>
            </a:r>
            <a:endParaRPr lang="es-PE" sz="850" dirty="0"/>
          </a:p>
        </p:txBody>
      </p:sp>
      <p:sp>
        <p:nvSpPr>
          <p:cNvPr id="27" name="Shape 24"/>
          <p:cNvSpPr/>
          <p:nvPr/>
        </p:nvSpPr>
        <p:spPr>
          <a:xfrm>
            <a:off x="7376008" y="3803904"/>
            <a:ext cx="4221328" cy="1216152"/>
          </a:xfrm>
          <a:prstGeom prst="rect">
            <a:avLst/>
          </a:prstGeom>
          <a:solidFill>
            <a:srgbClr val="FFFFFF">
              <a:alpha val="7000"/>
            </a:srgbClr>
          </a:solidFill>
          <a:ln w="9525">
            <a:solidFill>
              <a:srgbClr val="4A457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8" name="Text 25"/>
          <p:cNvSpPr txBox="1"/>
          <p:nvPr/>
        </p:nvSpPr>
        <p:spPr>
          <a:xfrm>
            <a:off x="7577176" y="3895344"/>
            <a:ext cx="385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InRetail Pharma · Diagnóstico GEO</a:t>
            </a:r>
            <a:endParaRPr lang="es-PE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577176" y="4215384"/>
            <a:ext cx="119984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s-PE" altLang="en-US" sz="850" dirty="0">
                <a:solidFill>
                  <a:srgbClr val="D8D4E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Caso de diagnóstico. 3 motores de IA auditados (ChatGPT, Gemini, Perplexity)</a:t>
            </a:r>
            <a:endParaRPr lang="es-PE" sz="850" dirty="0"/>
          </a:p>
        </p:txBody>
      </p:sp>
      <p:sp>
        <p:nvSpPr>
          <p:cNvPr id="30" name="Text 27"/>
          <p:cNvSpPr txBox="1"/>
          <p:nvPr/>
        </p:nvSpPr>
        <p:spPr>
          <a:xfrm>
            <a:off x="8886749" y="4215384"/>
            <a:ext cx="119984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s-PE" altLang="en-US" sz="850" dirty="0">
                <a:solidFill>
                  <a:srgbClr val="D8D4E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metodología en 3 etapas</a:t>
            </a:r>
            <a:endParaRPr lang="es-PE" sz="850" dirty="0"/>
          </a:p>
        </p:txBody>
      </p:sp>
      <p:sp>
        <p:nvSpPr>
          <p:cNvPr id="31" name="Text 28"/>
          <p:cNvSpPr txBox="1"/>
          <p:nvPr/>
        </p:nvSpPr>
        <p:spPr>
          <a:xfrm>
            <a:off x="10196322" y="4215384"/>
            <a:ext cx="119984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s-PE" alt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</a:t>
            </a:r>
            <a:br/>
            <a:r>
              <a:rPr lang="es-PE" altLang="en-US" sz="800" dirty="0">
                <a:solidFill>
                  <a:srgbClr val="D8D4E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frentes de escucha</a:t>
            </a:r>
            <a:endParaRPr lang="es-PE" sz="1800" dirty="0"/>
          </a:p>
        </p:txBody>
      </p:sp>
      <p:sp>
        <p:nvSpPr>
          <p:cNvPr id="32" name="Shape 29"/>
          <p:cNvSpPr/>
          <p:nvPr/>
        </p:nvSpPr>
        <p:spPr>
          <a:xfrm>
            <a:off x="594360" y="5088636"/>
            <a:ext cx="11002975" cy="0"/>
          </a:xfrm>
          <a:prstGeom prst="line">
            <a:avLst/>
          </a:prstGeom>
          <a:noFill/>
          <a:ln w="9525">
            <a:solidFill>
              <a:srgbClr val="3E3A62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3" name="Text 30"/>
          <p:cNvSpPr txBox="1"/>
          <p:nvPr/>
        </p:nvSpPr>
        <p:spPr>
          <a:xfrm>
            <a:off x="594360" y="5157216"/>
            <a:ext cx="214884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s-PE" altLang="en-US" sz="1300" b="1" dirty="0">
                <a:solidFill>
                  <a:srgbClr val="C0B0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Adopción y capacidades de IA</a:t>
            </a:r>
            <a:endParaRPr lang="es-PE" sz="1300" dirty="0"/>
          </a:p>
        </p:txBody>
      </p:sp>
      <p:sp>
        <p:nvSpPr>
          <p:cNvPr id="34" name="Shape 31"/>
          <p:cNvSpPr/>
          <p:nvPr/>
        </p:nvSpPr>
        <p:spPr>
          <a:xfrm>
            <a:off x="2926080" y="5157216"/>
            <a:ext cx="4221328" cy="1216152"/>
          </a:xfrm>
          <a:prstGeom prst="rect">
            <a:avLst/>
          </a:prstGeom>
          <a:solidFill>
            <a:srgbClr val="FFFFFF">
              <a:alpha val="7000"/>
            </a:srgbClr>
          </a:solidFill>
          <a:ln w="9525">
            <a:solidFill>
              <a:srgbClr val="4A457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5" name="Text 32"/>
          <p:cNvSpPr txBox="1"/>
          <p:nvPr/>
        </p:nvSpPr>
        <p:spPr>
          <a:xfrm>
            <a:off x="3127248" y="5248656"/>
            <a:ext cx="385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BCP · Champions de IA</a:t>
            </a:r>
            <a:endParaRPr lang="es-PE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3127248" y="5568696"/>
            <a:ext cx="119984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s-PE" alt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4.75/5 </a:t>
            </a:r>
            <a:br/>
            <a:r>
              <a:rPr lang="es-PE" altLang="en-US" sz="800" dirty="0">
                <a:solidFill>
                  <a:srgbClr val="D8D4E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 satisfacción</a:t>
            </a:r>
            <a:endParaRPr lang="es-PE" sz="1800" dirty="0"/>
          </a:p>
        </p:txBody>
      </p:sp>
      <p:sp>
        <p:nvSpPr>
          <p:cNvPr id="37" name="Text 34"/>
          <p:cNvSpPr txBox="1"/>
          <p:nvPr/>
        </p:nvSpPr>
        <p:spPr>
          <a:xfrm>
            <a:off x="4436821" y="5568696"/>
            <a:ext cx="119984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s-PE" alt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+140 </a:t>
            </a:r>
            <a:br/>
            <a:r>
              <a:rPr lang="es-PE" altLang="en-US" sz="800" dirty="0">
                <a:solidFill>
                  <a:srgbClr val="D8D4E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colaboradores capacitados</a:t>
            </a:r>
            <a:endParaRPr lang="es-PE" sz="1800" dirty="0"/>
          </a:p>
        </p:txBody>
      </p:sp>
      <p:sp>
        <p:nvSpPr>
          <p:cNvPr id="38" name="Text 35"/>
          <p:cNvSpPr txBox="1"/>
          <p:nvPr/>
        </p:nvSpPr>
        <p:spPr>
          <a:xfrm>
            <a:off x="5746394" y="5568696"/>
            <a:ext cx="119984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s-PE" alt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100% </a:t>
            </a:r>
            <a:br/>
            <a:r>
              <a:rPr lang="es-PE" altLang="en-US" sz="800" dirty="0">
                <a:solidFill>
                  <a:srgbClr val="D8D4E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aplicará lo aprendido</a:t>
            </a:r>
            <a:endParaRPr lang="es-PE" sz="1800" dirty="0"/>
          </a:p>
        </p:txBody>
      </p:sp>
      <p:sp>
        <p:nvSpPr>
          <p:cNvPr id="39" name="Text 36"/>
          <p:cNvSpPr txBox="1"/>
          <p:nvPr/>
        </p:nvSpPr>
        <p:spPr>
          <a:xfrm>
            <a:off x="11048695" y="640080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s-PE" altLang="en-US" sz="900" b="1" dirty="0">
                <a:solidFill>
                  <a:srgbClr val="C0B0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</a:t>
            </a:r>
            <a:endParaRPr lang="es-PE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94360" y="9144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050" b="1" kern="0" spc="300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EQUIPO</a:t>
            </a:r>
            <a:endParaRPr lang="es-PE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18872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3400" b="1" dirty="0">
                <a:solidFill>
                  <a:srgbClr val="252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Nosotros te acompañamos</a:t>
            </a:r>
            <a:endParaRPr lang="es-PE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901952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400" dirty="0">
                <a:solidFill>
                  <a:srgbClr val="6B6E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Potenciamos la comunicación digital en empresas, mejorando el posicionamiento y reputación de directivos y equipos.</a:t>
            </a:r>
            <a:endParaRPr lang="es-PE" sz="1400" dirty="0"/>
          </a:p>
        </p:txBody>
      </p:sp>
      <p:pic>
        <p:nvPicPr>
          <p:cNvPr id="6" name="Image 0" descr="/tmp/claude-0/-home-user-compartamos-banco/f5aa2cae-8dfb-5efa-902a-389d1c1ca7cd/scratchpad/cbuild/a/s13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560320"/>
            <a:ext cx="1143000" cy="11430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965960" y="2651760"/>
            <a:ext cx="3901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000" b="1" dirty="0">
                <a:solidFill>
                  <a:srgbClr val="252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Víctor Lozano</a:t>
            </a:r>
            <a:endParaRPr lang="es-PE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965960" y="3063240"/>
            <a:ext cx="3901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000" b="1" kern="0" spc="200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DIRECTOR DE INNOVACIÓN</a:t>
            </a:r>
            <a:endParaRPr lang="es-PE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965960" y="3355848"/>
            <a:ext cx="3901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000" dirty="0">
                <a:solidFill>
                  <a:srgbClr val="6B6E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linkedin.com/in/victorlozanou</a:t>
            </a:r>
            <a:endParaRPr lang="es-PE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3931920"/>
            <a:ext cx="527288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500"/>
              </a:spcAft>
              <a:buSzPct val="100000"/>
              <a:buChar char="■"/>
            </a:pPr>
            <a:r>
              <a:rPr lang="es-PE" altLang="en-US" sz="11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+20 años de experiencia en Investigación de Mercados, Marketing Digital, Gestión de Marcas Directivas y Reputación.</a:t>
            </a:r>
            <a:endParaRPr lang="es-PE" sz="1100" dirty="0"/>
          </a:p>
          <a:p>
            <a:pPr marL="177800" indent="-177800">
              <a:lnSpc>
                <a:spcPct val="108000"/>
              </a:lnSpc>
              <a:spcAft>
                <a:spcPts val="500"/>
              </a:spcAft>
              <a:buSzPct val="100000"/>
              <a:buChar char="■"/>
            </a:pPr>
            <a:r>
              <a:rPr lang="es-PE" altLang="en-US" sz="11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 liderado estrategias de posicionamiento corporativo en Telecom, Banca, Consumo Masivo, Minería y Retail.</a:t>
            </a:r>
            <a:endParaRPr lang="es-PE" sz="1100" dirty="0"/>
          </a:p>
          <a:p>
            <a:pPr marL="177800" indent="-177800">
              <a:lnSpc>
                <a:spcPct val="108000"/>
              </a:lnSpc>
              <a:spcAft>
                <a:spcPts val="500"/>
              </a:spcAft>
              <a:buSzPct val="100000"/>
              <a:buChar char="■"/>
            </a:pPr>
            <a:r>
              <a:rPr lang="es-PE" altLang="en-US" sz="11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Maestría en Marketing y Transformación Digital por INCAE Business School.</a:t>
            </a:r>
            <a:endParaRPr lang="es-PE" sz="1100" dirty="0"/>
          </a:p>
          <a:p>
            <a:pPr marL="177800" indent="-177800">
              <a:lnSpc>
                <a:spcPct val="108000"/>
              </a:lnSpc>
              <a:spcAft>
                <a:spcPts val="500"/>
              </a:spcAft>
              <a:buSzPct val="100000"/>
              <a:buChar char="■"/>
            </a:pPr>
            <a:r>
              <a:rPr lang="es-PE" altLang="en-US" sz="11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Docente de Postgrado en Universidad de Piura y programas corporativos de UTEC. Columnista en Diario Gestión.</a:t>
            </a:r>
            <a:endParaRPr lang="es-PE" sz="1100" dirty="0"/>
          </a:p>
        </p:txBody>
      </p:sp>
      <p:sp>
        <p:nvSpPr>
          <p:cNvPr id="11" name="Shape 8"/>
          <p:cNvSpPr/>
          <p:nvPr/>
        </p:nvSpPr>
        <p:spPr>
          <a:xfrm>
            <a:off x="594360" y="5760720"/>
            <a:ext cx="5272888" cy="0"/>
          </a:xfrm>
          <a:prstGeom prst="line">
            <a:avLst/>
          </a:prstGeom>
          <a:noFill/>
          <a:ln w="9525">
            <a:solidFill>
              <a:srgbClr val="E3E1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12" name="Image 1" descr="/tmp/claude-0/-home-user-compartamos-banco/f5aa2cae-8dfb-5efa-902a-389d1c1ca7cd/scratchpad/cbuild/a/s13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939" y="5893308"/>
            <a:ext cx="1392166" cy="329184"/>
          </a:xfrm>
          <a:prstGeom prst="rect">
            <a:avLst/>
          </a:prstGeom>
        </p:spPr>
      </p:pic>
      <p:pic>
        <p:nvPicPr>
          <p:cNvPr id="13" name="Image 2" descr="/tmp/claude-0/-home-user-compartamos-banco/f5aa2cae-8dfb-5efa-902a-389d1c1ca7cd/scratchpad/cbuild/a/s13_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2908" y="5893308"/>
            <a:ext cx="1355792" cy="329184"/>
          </a:xfrm>
          <a:prstGeom prst="rect">
            <a:avLst/>
          </a:prstGeom>
        </p:spPr>
      </p:pic>
      <p:pic>
        <p:nvPicPr>
          <p:cNvPr id="14" name="Image 3" descr="/tmp/claude-0/-home-user-compartamos-banco/f5aa2cae-8dfb-5efa-902a-389d1c1ca7cd/scratchpad/cbuild/a/s13_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5839" y="5893308"/>
            <a:ext cx="1551493" cy="329184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6095848" y="2560320"/>
            <a:ext cx="0" cy="3611880"/>
          </a:xfrm>
          <a:prstGeom prst="line">
            <a:avLst/>
          </a:prstGeom>
          <a:noFill/>
          <a:ln w="9525">
            <a:solidFill>
              <a:srgbClr val="E3E1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16" name="Image 4" descr="/tmp/claude-0/-home-user-compartamos-banco/f5aa2cae-8dfb-5efa-902a-389d1c1ca7cd/scratchpad/cbuild/a/s13_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4448" y="2560320"/>
            <a:ext cx="1143000" cy="114300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7696048" y="2651760"/>
            <a:ext cx="3901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000" b="1" dirty="0">
                <a:solidFill>
                  <a:srgbClr val="252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Julio Talledo</a:t>
            </a:r>
            <a:endParaRPr lang="es-PE" sz="2000" dirty="0"/>
          </a:p>
        </p:txBody>
      </p:sp>
      <p:sp>
        <p:nvSpPr>
          <p:cNvPr id="18" name="Text 11"/>
          <p:cNvSpPr txBox="1"/>
          <p:nvPr/>
        </p:nvSpPr>
        <p:spPr>
          <a:xfrm>
            <a:off x="7696048" y="3063240"/>
            <a:ext cx="3901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000" b="1" kern="0" spc="200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DIRECTOR COMERCIAL &amp; MARKETING</a:t>
            </a:r>
            <a:endParaRPr lang="es-PE" sz="1000" dirty="0"/>
          </a:p>
        </p:txBody>
      </p:sp>
      <p:sp>
        <p:nvSpPr>
          <p:cNvPr id="19" name="Text 12"/>
          <p:cNvSpPr txBox="1"/>
          <p:nvPr/>
        </p:nvSpPr>
        <p:spPr>
          <a:xfrm>
            <a:off x="7696048" y="3355848"/>
            <a:ext cx="3901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000" dirty="0">
                <a:solidFill>
                  <a:srgbClr val="6B6E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linkedin.com/in/juliotalledo</a:t>
            </a:r>
            <a:endParaRPr lang="es-PE" sz="1000" dirty="0"/>
          </a:p>
        </p:txBody>
      </p:sp>
      <p:sp>
        <p:nvSpPr>
          <p:cNvPr id="20" name="Text 13"/>
          <p:cNvSpPr txBox="1"/>
          <p:nvPr/>
        </p:nvSpPr>
        <p:spPr>
          <a:xfrm>
            <a:off x="6324448" y="3931920"/>
            <a:ext cx="527288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500"/>
              </a:spcAft>
              <a:buSzPct val="100000"/>
              <a:buChar char="■"/>
            </a:pPr>
            <a:r>
              <a:rPr lang="es-PE" altLang="en-US" sz="11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Especialista en Marketing e Inteligencia Artificial Generativa. Director Comercial y de Marketing de Verne.</a:t>
            </a:r>
            <a:endParaRPr lang="es-PE" sz="1100" dirty="0"/>
          </a:p>
          <a:p>
            <a:pPr marL="177800" indent="-177800">
              <a:lnSpc>
                <a:spcPct val="108000"/>
              </a:lnSpc>
              <a:spcAft>
                <a:spcPts val="500"/>
              </a:spcAft>
              <a:buSzPct val="100000"/>
              <a:buChar char="■"/>
            </a:pPr>
            <a:r>
              <a:rPr lang="es-PE" altLang="en-US" sz="11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Maestría en Marketing y Ventas por INCAE Business School.</a:t>
            </a:r>
            <a:endParaRPr lang="es-PE" sz="1100" dirty="0"/>
          </a:p>
          <a:p>
            <a:pPr marL="177800" indent="-177800">
              <a:lnSpc>
                <a:spcPct val="108000"/>
              </a:lnSpc>
              <a:spcAft>
                <a:spcPts val="500"/>
              </a:spcAft>
              <a:buSzPct val="100000"/>
              <a:buChar char="■"/>
            </a:pPr>
            <a:r>
              <a:rPr lang="es-PE" altLang="en-US" sz="11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Docente de IA Generativa en UDEP, CENTRUM PUCP, UPC y USIL.</a:t>
            </a:r>
            <a:endParaRPr lang="es-PE" sz="1100" dirty="0"/>
          </a:p>
          <a:p>
            <a:pPr marL="177800" indent="-177800">
              <a:lnSpc>
                <a:spcPct val="108000"/>
              </a:lnSpc>
              <a:spcAft>
                <a:spcPts val="500"/>
              </a:spcAft>
              <a:buSzPct val="100000"/>
              <a:buChar char="■"/>
            </a:pPr>
            <a:r>
              <a:rPr lang="es-PE" altLang="en-US" sz="11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 colaborado con BCP, Grupo Romero, Universidad de Piura, Ransa, LAP, Bitel y más.</a:t>
            </a:r>
            <a:endParaRPr lang="es-PE" sz="1100" dirty="0"/>
          </a:p>
        </p:txBody>
      </p:sp>
      <p:sp>
        <p:nvSpPr>
          <p:cNvPr id="21" name="Shape 14"/>
          <p:cNvSpPr/>
          <p:nvPr/>
        </p:nvSpPr>
        <p:spPr>
          <a:xfrm>
            <a:off x="6324448" y="5760720"/>
            <a:ext cx="5272888" cy="0"/>
          </a:xfrm>
          <a:prstGeom prst="line">
            <a:avLst/>
          </a:prstGeom>
          <a:noFill/>
          <a:ln w="9525">
            <a:solidFill>
              <a:srgbClr val="E3E1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22" name="Image 5" descr="/tmp/claude-0/-home-user-compartamos-banco/f5aa2cae-8dfb-5efa-902a-389d1c1ca7cd/scratchpad/cbuild/a/s13_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2214" y="5893308"/>
            <a:ext cx="1355792" cy="329184"/>
          </a:xfrm>
          <a:prstGeom prst="rect">
            <a:avLst/>
          </a:prstGeom>
        </p:spPr>
      </p:pic>
      <p:pic>
        <p:nvPicPr>
          <p:cNvPr id="23" name="Image 6" descr="/tmp/claude-0/-home-user-compartamos-banco/f5aa2cae-8dfb-5efa-902a-389d1c1ca7cd/scratchpad/cbuild/a/s13_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45970" y="5893308"/>
            <a:ext cx="429844" cy="329184"/>
          </a:xfrm>
          <a:prstGeom prst="rect">
            <a:avLst/>
          </a:prstGeom>
        </p:spPr>
      </p:pic>
      <p:pic>
        <p:nvPicPr>
          <p:cNvPr id="24" name="Image 7" descr="/tmp/claude-0/-home-user-compartamos-banco/f5aa2cae-8dfb-5efa-902a-389d1c1ca7cd/scratchpad/cbuild/a/s13_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52761" y="5893308"/>
            <a:ext cx="877824" cy="329184"/>
          </a:xfrm>
          <a:prstGeom prst="rect">
            <a:avLst/>
          </a:prstGeom>
        </p:spPr>
      </p:pic>
      <p:sp>
        <p:nvSpPr>
          <p:cNvPr id="25" name="Text 15"/>
          <p:cNvSpPr txBox="1"/>
          <p:nvPr/>
        </p:nvSpPr>
        <p:spPr>
          <a:xfrm>
            <a:off x="4724248" y="640080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PE" altLang="en-US" sz="900" dirty="0">
                <a:solidFill>
                  <a:srgbClr val="9A9CA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www.verne.la</a:t>
            </a:r>
            <a:endParaRPr lang="es-PE" sz="900" dirty="0"/>
          </a:p>
        </p:txBody>
      </p:sp>
      <p:sp>
        <p:nvSpPr>
          <p:cNvPr id="26" name="Text 16"/>
          <p:cNvSpPr txBox="1"/>
          <p:nvPr/>
        </p:nvSpPr>
        <p:spPr>
          <a:xfrm>
            <a:off x="0" y="6530625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s-PE" altLang="en-US" sz="900" b="1" dirty="0">
                <a:solidFill>
                  <a:srgbClr val="9A9CA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18</a:t>
            </a:r>
            <a:endParaRPr lang="es-PE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</TotalTime>
  <Words>1525</Words>
  <Application>Microsoft Macintosh PowerPoint</Application>
  <PresentationFormat>Panorámica</PresentationFormat>
  <Paragraphs>241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8" baseType="lpstr">
      <vt:lpstr>Aptos</vt:lpstr>
      <vt:lpstr>Arial</vt:lpstr>
      <vt:lpstr>Calibri</vt:lpstr>
      <vt:lpstr>Poppins</vt:lpstr>
      <vt:lpstr>1_Office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Credenciales 2026</dc:title>
  <dc:subject>PptxGenJS Presentation</dc:subject>
  <dc:creator>Verne Comunicación e Innovación</dc:creator>
  <cp:lastModifiedBy>cielo corescob</cp:lastModifiedBy>
  <cp:revision>3</cp:revision>
  <dcterms:created xsi:type="dcterms:W3CDTF">2026-10-01T06:20:13Z</dcterms:created>
  <dcterms:modified xsi:type="dcterms:W3CDTF">2026-10-01T17:58:54Z</dcterms:modified>
</cp:coreProperties>
</file>