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2.jpg" ContentType="image/jpeg"/>
  <Override PartName="/ppt/media/image34.jpg" ContentType="image/jpeg"/>
  <Override PartName="/ppt/media/image35.jpg" ContentType="image/jpeg"/>
  <Override PartName="/ppt/media/image36.jpg" ContentType="image/jpeg"/>
  <Override PartName="/ppt/media/image50.jpg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80822"/>
  </p:normalViewPr>
  <p:slideViewPr>
    <p:cSldViewPr snapToGrid="0" snapToObjects="1">
      <p:cViewPr varScale="1">
        <p:scale>
          <a:sx n="101" d="100"/>
          <a:sy n="101" d="100"/>
        </p:scale>
        <p:origin x="15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2" d="100"/>
          <a:sy n="72" d="100"/>
        </p:scale>
        <p:origin x="4872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D468A17-14F2-0492-80D3-E68B7A915D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80F9C3C-E504-791C-BF65-E19B6CA87E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B8ABE4-1F0C-5A4A-BB38-D28C5F4C7840}" type="datetimeFigureOut">
              <a:rPr lang="es-PE" smtClean="0"/>
              <a:t>1/10/26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E92177-3E7C-C5BB-200B-82E4DA03D01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D6F8527-29A5-3940-FD05-718AD4DF87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73F708-9E72-5340-8196-40503EE965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5895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1858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Apertura. VERNE: Consultora Estratégica de Comunicación Digital, potenciada con Inteligencia Artificial.</a:t>
            </a:r>
          </a:p>
          <a:p>
            <a:r>
              <a:t>www.verne.la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comunicación estratégica ya no vive solo en los medios. Hoy se juega en tres frentes:</a:t>
            </a:r>
          </a:p>
          <a:p/>
          <a:p>
            <a:r>
              <a:t>1. Reputación y liderazgo — 3x más confianza cuando la información la comparte un directivo o colaborador que la cuenta institucional (Fuente: Edelman Trust Barometer). Posicionamos a la marca corporativa, a sus líderes y embajadores en el ecosistema digital.</a:t>
            </a:r>
          </a:p>
          <a:p>
            <a:r>
              <a:t>2. Visibilidad y presencia digital — 70% de los consumidores peruanos usa IA para informarse antes de comprar o contratar (Fuente: Impronta Research, ago 2025). Logramos que te encuentren, citen y recomienden en buscadores, IA y medios.</a:t>
            </a:r>
          </a:p>
          <a:p>
            <a:r>
              <a:t>3. Adopción y capacidades de IA — 90% de las áreas de Comunicación y Marketing en el mundo ya experimenta con IA (Fuente: McKinsey, 2026). Habilitamos a los equipos para usar IA generativa en su día a día.</a:t>
            </a:r>
          </a:p>
          <a:p/>
          <a:p>
            <a:r>
              <a:t>Cierre: Ni solo tecnología ni solo comunicación tradicional.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Confían en nosotros: empresas líderes de sectores regulados y competitivos.</a:t>
            </a:r>
          </a:p>
          <a:p>
            <a:r>
              <a:t>Sectores: Energía, Minería e Hidrocarburos · Banca y Servicios Financieros · Consumo, Retail e Industria · Educación, Servicios e Infraestructura.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Dos modalidades para cada uno de los tres frentes:</a:t>
            </a:r>
          </a:p>
          <a:p>
            <a:r>
              <a:t>- CONSULTORÍA (lo hacemos por ti)</a:t>
            </a:r>
          </a:p>
          <a:p>
            <a:r>
              <a:t>- FORMACIÓN (habilitamos a tu equipo)</a:t>
            </a:r>
          </a:p>
          <a:p/>
          <a:p>
            <a:r>
              <a:t>1. Reputación y liderazgo — Consultoría: Marca Directiva y Corporativa; Embajadores digitales. Formación: Talleres de Marca Directiva y Embajadores.</a:t>
            </a:r>
          </a:p>
          <a:p>
            <a:r>
              <a:t>2. Visibilidad y presencia digital — Consultoría: Posicionamiento GEO; Marketing de Contenidos; Asuntos Públicos. Formación: Formación para periodistas; Political Intelligence AI.</a:t>
            </a:r>
          </a:p>
          <a:p>
            <a:r>
              <a:t>3. Adopción y capacidades de IA — Consultoría: Diagnóstico de madurez digital; Agentic AI Studio; Agentic AI Reputation; GEO Rank; Data Pulse. Formación: Talleres de IA, data y automatización; Taller de IA para comunicación y MKT; Claude AI para empresas; Taller IA Agéntica.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Construimos la marca de tu empresa a través de la voz de sus líderes. Los líderes cambian, la marca permanece.</a:t>
            </a:r>
          </a:p>
          <a:p/>
          <a:p>
            <a:r>
              <a:t>Marca Corporativa: la reputación y credibilidad de la empresa en el ecosistema digital. Es lo que permanece.</a:t>
            </a:r>
          </a:p>
          <a:p>
            <a:r>
              <a:t>Marca Directiva: tus C-level, directivos y voceros dan rostro y voz a esa narrativa. Es lo que la amplifica.</a:t>
            </a:r>
          </a:p>
          <a:p/>
          <a:p>
            <a:r>
              <a:t>Cómo trabajamos:</a:t>
            </a:r>
          </a:p>
          <a:p>
            <a:r>
              <a:t>01 Diagnóstico — Analizamos la presencia digital de la empresa y de sus directivos, y la comparamos con la de sus pares en la industria.</a:t>
            </a:r>
          </a:p>
          <a:p>
            <a:r>
              <a:t>02 Estrategia — Definimos la narrativa corporativa, los ejes de contenido y el rol de cada vocero, para que el mensaje sea de la empresa y no dependa de una sola persona.</a:t>
            </a:r>
          </a:p>
          <a:p>
            <a:r>
              <a:t>03 Gestión — Creamos contenidos, acompañamos a los voceros y medimos el desempeño de la marca corporativa y de sus líderes.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Amplificamos la comunicación corporativa a través de tus colaboradores, quienes hablan como la voz más genuina de la marca.</a:t>
            </a:r>
          </a:p>
          <a:p/>
          <a:p>
            <a:r>
              <a:t>01 Estrategia — Seleccionamos y activamos embajadores alineados a los objetivos de la marca.</a:t>
            </a:r>
          </a:p>
          <a:p>
            <a:r>
              <a:t>02 Acompañamiento — Buenas prácticas, benchmark y co-creación de contenidos, con soporte continuo.</a:t>
            </a:r>
          </a:p>
          <a:p>
            <a:r>
              <a:t>03 Medición — Data pública, matriz de evaluación e informe mensual de desempeño, con Data Pulse.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Logramos que la IA cite y recomiende a tu marca. Trabajamos para que ChatGPT, Google AI Overview, Perplexity y Claude te mencionen en tu categoría.</a:t>
            </a:r>
          </a:p>
          <a:p/>
          <a:p>
            <a:r>
              <a:t>01 Diagnóstico (15 días) — Una radiografía de cómo aparece tu marca frente a la competencia, con brechas y oportunidades.</a:t>
            </a:r>
          </a:p>
          <a:p>
            <a:r>
              <a:t>02 Estrategia (15 días) — Definimos narrativas, arquitectura de contenidos y el recorrido del usuario en la IA.</a:t>
            </a:r>
          </a:p>
          <a:p>
            <a:r>
              <a:t>03 Implementación (60 días) — Parrilla GEO, producción de contenidos y verificación de citación en las IAs.</a:t>
            </a:r>
          </a:p>
          <a:p/>
          <a:p>
            <a:r>
              <a:t>Resultados medibles en visibilidad, posición, citaciones y share of voice en IA.</a:t>
            </a:r>
          </a:p>
          <a:p>
            <a:r>
              <a:t>Clientes: Gloria · 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 decimos qué tan bien usan tus equipos la IA y dónde invertir primero. Los niveles se inspiran en el modelo CMMI.</a:t>
            </a:r>
          </a:p>
          <a:p/>
          <a:p>
            <a:r>
              <a:t>01 Medimos la adopción — A través de una encuesta digital representativa y entrevistas a profundidad con quienes deciden, habilitan y construyen soluciones.</a:t>
            </a:r>
          </a:p>
          <a:p>
            <a:r>
              <a:t>02 Comparamos — Ubicamos a cada área en una escala de 5 niveles según su uso de IA generativa, automatización y datos. Cada una se mide con 7 indicadores, como autonomía, impacto y capacitación.</a:t>
            </a:r>
          </a:p>
          <a:p>
            <a:r>
              <a:t>03 Priorizamos — Dashboard interactivo, informe ejecutivo, segmentación de gerencias y hoja de ruta a 0-3, 3-9 y 9-18 meses.</a:t>
            </a:r>
          </a:p>
          <a:p/>
          <a:p>
            <a:r>
              <a:t>Clientes: BCP / Credicorp · Primax.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Nuestras cuatro soluciones de Inteligencia Artificial:</a:t>
            </a:r>
          </a:p>
          <a:p/>
          <a:p>
            <a:r>
              <a:t>Agentic AI Studio — Estudio de contenidos con agentes de IA. Desde el ADN de tu marca, los agentes crean piezas multiformato listas para aprobar en minutos.</a:t>
            </a:r>
          </a:p>
          <a:p>
            <a:r>
              <a:t>Agentic AI Reputation — Consultor de reputación. Asesora ante cualquier situación que afecte tu reputación con base histórica del negocio y la reputación.</a:t>
            </a:r>
          </a:p>
          <a:p>
            <a:r>
              <a:t>GEO Rank — Plataforma de monitoreo GEO. Mide la visibilidad, las citas y la veracidad de tu marca en las IAs, y traza la ruta para posicionarte.</a:t>
            </a:r>
          </a:p>
          <a:p>
            <a:r>
              <a:t>Data Pulse — Tracking de performance de embajadores digitales. Mide el desempeño de tus embajadores y convierte la data en acciones de comunicación.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Temario y casos a medida para cada empresa. Habilitamos a tu equipo para que trabaje con IA y lo haga por sí mismo.</a:t>
            </a:r>
          </a:p>
          <a:p/>
          <a:p>
            <a:r>
              <a:t>1. Reputación y liderazgo — Voceros creíbles</a:t>
            </a:r>
          </a:p>
          <a:p>
            <a:r>
              <a:t>- Marca Directiva y Embajadores: líderes y colaboradores aprenden a comunicar con credibilidad en el entorno digital.</a:t>
            </a:r>
          </a:p>
          <a:p/>
          <a:p>
            <a:r>
              <a:t>2. Visibilidad y presencia digital — Prensa y entorno digital como aliados</a:t>
            </a:r>
          </a:p>
          <a:p>
            <a:r>
              <a:t>- Formación para periodistas: IA generativa aplicada al periodismo, con conferencia, taller práctico y certificado co-branding.</a:t>
            </a:r>
          </a:p>
          <a:p>
            <a:r>
              <a:t>- Political Intelligence AI: exposiciones y talleres de una hora sobre coyuntura política.</a:t>
            </a:r>
          </a:p>
          <a:p/>
          <a:p>
            <a:r>
              <a:t>3. Adopción y capacidades de IA — De la teoría al uso real de la IA</a:t>
            </a:r>
          </a:p>
          <a:p>
            <a:r>
              <a:t>- IA, data y automatización: Copilot Studio y Power Platform aplicados a casos reales del área.</a:t>
            </a:r>
          </a:p>
          <a:p>
            <a:r>
              <a:t>- IA para comunicación y marketing: IA generativa aplicada al análisis de data y a los flujos de contenido, campañas y ventas.</a:t>
            </a:r>
          </a:p>
          <a:p>
            <a:r>
              <a:t>- Claude AI para empresas: implementación y onboarding del área para sistematizar el trabajo con IA en el día a día.</a:t>
            </a:r>
          </a:p>
          <a:p>
            <a:r>
              <a:t>- Taller IA Agéntica: tu equipo aprende a crear y usar agentes de IA que ejecutan tareas de comunicación y marketing de principio a fin.</a:t>
            </a:r>
          </a:p>
          <a:p/>
          <a:p>
            <a:r>
              <a:t>Clientes: BCP · Pacífico Seguros · Interbank · Antapaccay · Petrotal.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Trabajamos con los principales ecosistemas de IA y automatización:</a:t>
            </a:r>
          </a:p>
          <a:p>
            <a:r>
              <a:t>- Ecosistema Microsoft: Copilot Studio, Power Apps, Power BI, Power Automate.</a:t>
            </a:r>
          </a:p>
          <a:p>
            <a:r>
              <a:t>- Ecosistema Anthropic: Claude Projects, Claude Code.</a:t>
            </a:r>
          </a:p>
          <a:p>
            <a:r>
              <a:t>- Ecosistema OpenAI: ChatGPT Projects, Codex.</a:t>
            </a:r>
          </a:p>
          <a:p>
            <a:r>
              <a:t>- Ecosistema Google: Gemini Gems, Nano Banana.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Resultados medidos con nuestros clientes: lo que logramos en cada frente.</a:t>
            </a:r>
          </a:p>
          <a:p/>
          <a:p>
            <a:r>
              <a:t>Reputación y liderazgo</a:t>
            </a:r>
          </a:p>
          <a:p>
            <a:r>
              <a:t>- PetroTal · Embajadores: +180% interacciones; +256% publicaciones propias; +13% seguidores (+6,365).</a:t>
            </a:r>
          </a:p>
          <a:p>
            <a:r>
              <a:t>- Enel Perú · Marca Directiva (Marco Fragale): +2 pts posicionamiento digital; +68% seguidores; +35% contenido propio; +27% interacciones.</a:t>
            </a:r>
          </a:p>
          <a:p/>
          <a:p>
            <a:r>
              <a:t>Visibilidad y presencia digital</a:t>
            </a:r>
          </a:p>
          <a:p>
            <a:r>
              <a:t>- Promigas · Periodistas: 146 periodistas; +7,000 reproducciones; 1,500 interacciones; cobertura en medios (América TV, Infomercado).</a:t>
            </a:r>
          </a:p>
          <a:p>
            <a:r>
              <a:t>- InRetail Pharma · Diagnóstico GEO: caso de diagnóstico. 3 motores de IA auditados (ChatGPT, Gemini, Perplexity); metodología en 3 etapas; 2 frentes de escucha.</a:t>
            </a:r>
          </a:p>
          <a:p/>
          <a:p>
            <a:r>
              <a:t>Adopción y capacidades de IA</a:t>
            </a:r>
          </a:p>
          <a:p>
            <a:r>
              <a:t>- BCP · Champions de IA: 4.75/5 de satisfacción; +140 colaboradores capacitados; 100% aplicará lo aprendido.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Nosotros te acompañamos. Potenciamos la comunicación digital en empresas, mejorando el posicionamiento y reputación de directivos y equipos.</a:t>
            </a:r>
          </a:p>
          <a:p/>
          <a:p>
            <a:r>
              <a:t>Víctor Lozano — Director de Innovación (linkedin.com/in/victorlozanou)</a:t>
            </a:r>
          </a:p>
          <a:p>
            <a:r>
              <a:t>- +20 años de experiencia en Investigación de Mercados, Marketing Digital, Gestión de Marcas Directivas y Reputación.</a:t>
            </a:r>
          </a:p>
          <a:p>
            <a:r>
              <a:t>- Ha liderado estrategias de posicionamiento corporativo en Telecom, Banca, Consumo Masivo, Minería y Retail.</a:t>
            </a:r>
          </a:p>
          <a:p>
            <a:r>
              <a:t>- Maestría en Marketing y Transformación Digital por INCAE Business School.</a:t>
            </a:r>
          </a:p>
          <a:p>
            <a:r>
              <a:t>- Docente de Postgrado en Universidad de Piura y programas corporativos de UTEC. Columnista en Diario Gestión.</a:t>
            </a:r>
          </a:p>
          <a:p/>
          <a:p>
            <a:r>
              <a:t>Julio Talledo — Director Comercial &amp; Marketing (linkedin.com/in/juliotalledo)</a:t>
            </a:r>
          </a:p>
          <a:p>
            <a:r>
              <a:t>- Especialista en Marketing e Inteligencia Artificial Generativa. Director Comercial y de Marketing de Verne.</a:t>
            </a:r>
          </a:p>
          <a:p>
            <a:r>
              <a:t>- Maestría en Marketing y Ventas por INCAE Business School.</a:t>
            </a:r>
          </a:p>
          <a:p>
            <a:r>
              <a:t>- Docente de IA Generativa en UDEP, CENTRUM PUCP, UPC y USIL.</a:t>
            </a:r>
          </a:p>
          <a:p>
            <a:r>
              <a:t>- Ha colaborado con BCP, Grupo Romero, Universidad de Piura, Ransa, LAP, Bitel y más.</a:t>
            </a:r>
          </a:p>
          <a:p/>
          <a:p>
            <a:r>
              <a:t>www.verne.la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1861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6177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mpartamos-banco/f5aa2cae-8dfb-5efa-902a-389d1c1ca7cd/scratchpad/build/a/verne_purple.png">
            <a:extLst>
              <a:ext uri="{FF2B5EF4-FFF2-40B4-BE49-F238E27FC236}">
                <a16:creationId xmlns:a16="http://schemas.microsoft.com/office/drawing/2014/main" id="{FBB6DC3B-FB91-824D-CEFF-13DEA329E68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45368" y="384048"/>
            <a:ext cx="960120" cy="337771"/>
          </a:xfrm>
          <a:prstGeom prst="rect">
            <a:avLst/>
          </a:prstGeom>
        </p:spPr>
      </p:pic>
      <p:sp>
        <p:nvSpPr>
          <p:cNvPr id="3" name="Text 19">
            <a:extLst>
              <a:ext uri="{FF2B5EF4-FFF2-40B4-BE49-F238E27FC236}">
                <a16:creationId xmlns:a16="http://schemas.microsoft.com/office/drawing/2014/main" id="{7A0CFB29-85BB-E5E4-3FF9-FD0648AF6788}"/>
              </a:ext>
            </a:extLst>
          </p:cNvPr>
          <p:cNvSpPr txBox="1"/>
          <p:nvPr userDrawn="1"/>
        </p:nvSpPr>
        <p:spPr>
          <a:xfrm>
            <a:off x="10076688" y="6419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s-PE" altLang="en-US" sz="900" dirty="0">
                <a:solidFill>
                  <a:srgbClr val="8A8C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www.verne.la</a:t>
            </a:r>
            <a:endParaRPr lang="es-PE" sz="900" dirty="0"/>
          </a:p>
        </p:txBody>
      </p:sp>
      <p:sp>
        <p:nvSpPr>
          <p:cNvPr id="5" name="Google Shape;6;g3a6107b0a18_10_0">
            <a:extLst>
              <a:ext uri="{FF2B5EF4-FFF2-40B4-BE49-F238E27FC236}">
                <a16:creationId xmlns:a16="http://schemas.microsoft.com/office/drawing/2014/main" id="{6C4E5576-B09F-ADF2-2BBB-D511D116F8AB}"/>
              </a:ext>
            </a:extLst>
          </p:cNvPr>
          <p:cNvSpPr txBox="1"/>
          <p:nvPr userDrawn="1"/>
        </p:nvSpPr>
        <p:spPr>
          <a:xfrm>
            <a:off x="-255255" y="6453553"/>
            <a:ext cx="92960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 sz="1100" b="1" i="0" u="none" strike="noStrike" cap="none">
                <a:solidFill>
                  <a:srgbClr val="25283D"/>
                </a:solidFill>
                <a:latin typeface="Poppins"/>
                <a:ea typeface="Poppins"/>
                <a:cs typeface="Poppins"/>
                <a:sym typeface="Poppins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t>‹Nº›</a:t>
            </a:fld>
            <a:endParaRPr sz="1100" b="1" i="0" u="none" strike="noStrike" cap="none" dirty="0">
              <a:solidFill>
                <a:srgbClr val="25283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189482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5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25" Type="http://schemas.openxmlformats.org/officeDocument/2006/relationships/image" Target="../media/image25.png"/><Relationship Id="rId26" Type="http://schemas.openxmlformats.org/officeDocument/2006/relationships/image" Target="../media/image26.png"/><Relationship Id="rId27" Type="http://schemas.openxmlformats.org/officeDocument/2006/relationships/image" Target="../media/image27.png"/><Relationship Id="rId28" Type="http://schemas.openxmlformats.org/officeDocument/2006/relationships/image" Target="../media/image28.png"/><Relationship Id="rId29" Type="http://schemas.openxmlformats.org/officeDocument/2006/relationships/image" Target="../media/image29.png"/><Relationship Id="rId30" Type="http://schemas.openxmlformats.org/officeDocument/2006/relationships/image" Target="../media/image30.png"/><Relationship Id="rId31" Type="http://schemas.openxmlformats.org/officeDocument/2006/relationships/image" Target="../media/image31.png"/><Relationship Id="rId32" Type="http://schemas.openxmlformats.org/officeDocument/2006/relationships/image" Target="../media/image32.png"/><Relationship Id="rId33" Type="http://schemas.openxmlformats.org/officeDocument/2006/relationships/image" Target="../media/image3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6.jpg"/><Relationship Id="rId4" Type="http://schemas.openxmlformats.org/officeDocument/2006/relationships/image" Target="../media/image5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4.jpg"/><Relationship Id="rId4" Type="http://schemas.openxmlformats.org/officeDocument/2006/relationships/image" Target="../media/image25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32.png"/><Relationship Id="rId9" Type="http://schemas.openxmlformats.org/officeDocument/2006/relationships/image" Target="../media/image6.png"/><Relationship Id="rId10" Type="http://schemas.openxmlformats.org/officeDocument/2006/relationships/image" Target="../media/image14.png"/><Relationship Id="rId11" Type="http://schemas.openxmlformats.org/officeDocument/2006/relationships/image" Target="../media/image13.png"/><Relationship Id="rId12" Type="http://schemas.openxmlformats.org/officeDocument/2006/relationships/image" Target="../media/image15.png"/><Relationship Id="rId13" Type="http://schemas.openxmlformats.org/officeDocument/2006/relationships/image" Target="../media/image20.png"/><Relationship Id="rId14" Type="http://schemas.openxmlformats.org/officeDocument/2006/relationships/image" Target="../media/image33.png"/><Relationship Id="rId15" Type="http://schemas.openxmlformats.org/officeDocument/2006/relationships/image" Target="../media/image59.jpg"/><Relationship Id="rId16" Type="http://schemas.openxmlformats.org/officeDocument/2006/relationships/image" Target="../media/image60.png"/><Relationship Id="rId17" Type="http://schemas.openxmlformats.org/officeDocument/2006/relationships/image" Target="../media/image5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5.jp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19.png"/><Relationship Id="rId8" Type="http://schemas.openxmlformats.org/officeDocument/2006/relationships/image" Target="../media/image3.png"/><Relationship Id="rId9" Type="http://schemas.openxmlformats.org/officeDocument/2006/relationships/image" Target="../media/image33.png"/><Relationship Id="rId10" Type="http://schemas.openxmlformats.org/officeDocument/2006/relationships/image" Target="../media/image6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0.jpg"/><Relationship Id="rId4" Type="http://schemas.openxmlformats.org/officeDocument/2006/relationships/image" Target="../media/image5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6.jp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5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2.jpg"/><Relationship Id="rId4" Type="http://schemas.openxmlformats.org/officeDocument/2006/relationships/image" Target="../media/image63.png"/><Relationship Id="rId5" Type="http://schemas.openxmlformats.org/officeDocument/2006/relationships/image" Target="../media/image5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0.jpg"/><Relationship Id="rId4" Type="http://schemas.openxmlformats.org/officeDocument/2006/relationships/image" Target="../media/image5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64.png"/><Relationship Id="rId11" Type="http://schemas.openxmlformats.org/officeDocument/2006/relationships/image" Target="../media/image65.png"/><Relationship Id="rId12" Type="http://schemas.openxmlformats.org/officeDocument/2006/relationships/image" Target="../media/image66.png"/><Relationship Id="rId13" Type="http://schemas.openxmlformats.org/officeDocument/2006/relationships/image" Target="../media/image67.png"/><Relationship Id="rId1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mpartamos-banco/f5aa2cae-8dfb-5efa-902a-389d1c1ca7cd/scratchpad/cbuild/a/cov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37744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PE" altLang="en-US" sz="3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Consultora Estratégica de Comunicación Digital, potenciada con Inteligencia Artificial</a:t>
            </a:r>
            <a:endParaRPr lang="es-PE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6199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1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www.verne.la</a:t>
            </a:r>
            <a:endParaRPr lang="es-PE" sz="1100" dirty="0"/>
          </a:p>
        </p:txBody>
      </p:sp>
      <p:pic>
        <p:nvPicPr>
          <p:cNvPr id="8" name="Picture 7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502920"/>
            <a:ext cx="1325880" cy="46634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6053328"/>
            <a:ext cx="548640" cy="10973"/>
          </a:xfrm>
          <a:prstGeom prst="rect">
            <a:avLst/>
          </a:prstGeom>
          <a:solidFill>
            <a:srgbClr val="C0B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9436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QUIÉNES SOMOS</a:t>
            </a:r>
            <a:endParaRPr lang="es-PE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704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40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nexo entre la comunicación y la IA</a:t>
            </a:r>
            <a:endParaRPr lang="es-PE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93392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comunicación estratégica ya no vive solo en los medios. Hoy se juega en tres frentes:</a:t>
            </a:r>
            <a:endParaRPr lang="es-PE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51460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 txBox="1"/>
          <p:nvPr/>
        </p:nvSpPr>
        <p:spPr>
          <a:xfrm>
            <a:off x="59436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s-PE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24712" y="2514600"/>
            <a:ext cx="28142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35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Reputación y liderazgo</a:t>
            </a:r>
            <a:endParaRPr lang="es-PE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907792"/>
            <a:ext cx="334457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84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3x</a:t>
            </a:r>
            <a:endParaRPr lang="es-PE" sz="58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4069080"/>
            <a:ext cx="33628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más confianza cuando la información la comparte un directivo o colaborador que la cuenta institucional.</a:t>
            </a:r>
            <a:endParaRPr lang="es-PE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709160"/>
            <a:ext cx="3362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900" i="1" dirty="0">
                <a:solidFill>
                  <a:srgbClr val="9A9C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Fuente. Edelman Trust Barometer</a:t>
            </a:r>
            <a:endParaRPr lang="es-PE" sz="900" dirty="0"/>
          </a:p>
        </p:txBody>
      </p:sp>
      <p:sp>
        <p:nvSpPr>
          <p:cNvPr id="12" name="Shape 10"/>
          <p:cNvSpPr/>
          <p:nvPr/>
        </p:nvSpPr>
        <p:spPr>
          <a:xfrm>
            <a:off x="594360" y="4992624"/>
            <a:ext cx="3362858" cy="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 txBox="1"/>
          <p:nvPr/>
        </p:nvSpPr>
        <p:spPr>
          <a:xfrm>
            <a:off x="594360" y="5084064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Posicionamos a la marca corporativa, a sus líderes y embajadores en el ecosistema digital.</a:t>
            </a:r>
            <a:endParaRPr lang="es-PE" sz="1200" dirty="0"/>
          </a:p>
        </p:txBody>
      </p:sp>
      <p:sp>
        <p:nvSpPr>
          <p:cNvPr id="14" name="Shape 12"/>
          <p:cNvSpPr/>
          <p:nvPr/>
        </p:nvSpPr>
        <p:spPr>
          <a:xfrm>
            <a:off x="4185818" y="2514600"/>
            <a:ext cx="0" cy="310896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4414418" y="251460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 txBox="1"/>
          <p:nvPr/>
        </p:nvSpPr>
        <p:spPr>
          <a:xfrm>
            <a:off x="4414418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s-PE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944770" y="2514600"/>
            <a:ext cx="28142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35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Visibilidad y presencia digital</a:t>
            </a:r>
            <a:endParaRPr lang="es-PE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414418" y="2907792"/>
            <a:ext cx="33628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84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70%</a:t>
            </a:r>
            <a:endParaRPr lang="es-PE" sz="5800" dirty="0"/>
          </a:p>
        </p:txBody>
      </p:sp>
      <p:sp>
        <p:nvSpPr>
          <p:cNvPr id="19" name="Text 17"/>
          <p:cNvSpPr txBox="1"/>
          <p:nvPr/>
        </p:nvSpPr>
        <p:spPr>
          <a:xfrm>
            <a:off x="4414418" y="4069080"/>
            <a:ext cx="33628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los consumidores peruanos usa IA para informarse antes de comprar o contratar.</a:t>
            </a:r>
            <a:endParaRPr lang="es-PE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414418" y="4709160"/>
            <a:ext cx="3362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900" i="1" dirty="0">
                <a:solidFill>
                  <a:srgbClr val="9A9C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Fuente. Impronta Research, ago 2025</a:t>
            </a:r>
            <a:endParaRPr lang="es-PE" sz="900" dirty="0"/>
          </a:p>
        </p:txBody>
      </p:sp>
      <p:sp>
        <p:nvSpPr>
          <p:cNvPr id="21" name="Shape 19"/>
          <p:cNvSpPr/>
          <p:nvPr/>
        </p:nvSpPr>
        <p:spPr>
          <a:xfrm>
            <a:off x="4414418" y="4992624"/>
            <a:ext cx="3362858" cy="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 txBox="1"/>
          <p:nvPr/>
        </p:nvSpPr>
        <p:spPr>
          <a:xfrm>
            <a:off x="4414418" y="5084064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Logramos que te encuentren, citen y recomienden en buscadores, IA y medios.</a:t>
            </a:r>
            <a:endParaRPr lang="es-PE" sz="1200" dirty="0"/>
          </a:p>
        </p:txBody>
      </p:sp>
      <p:sp>
        <p:nvSpPr>
          <p:cNvPr id="23" name="Shape 21"/>
          <p:cNvSpPr/>
          <p:nvPr/>
        </p:nvSpPr>
        <p:spPr>
          <a:xfrm>
            <a:off x="8005877" y="2514600"/>
            <a:ext cx="0" cy="310896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8234477" y="251460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 txBox="1"/>
          <p:nvPr/>
        </p:nvSpPr>
        <p:spPr>
          <a:xfrm>
            <a:off x="8234477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s-PE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64829" y="2514600"/>
            <a:ext cx="28142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35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Adopción y capacidades de IA</a:t>
            </a:r>
            <a:endParaRPr lang="es-PE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234477" y="2907792"/>
            <a:ext cx="33628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84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90%</a:t>
            </a:r>
            <a:endParaRPr lang="es-PE" sz="5800" dirty="0"/>
          </a:p>
        </p:txBody>
      </p:sp>
      <p:sp>
        <p:nvSpPr>
          <p:cNvPr id="28" name="Text 26"/>
          <p:cNvSpPr txBox="1"/>
          <p:nvPr/>
        </p:nvSpPr>
        <p:spPr>
          <a:xfrm>
            <a:off x="8234477" y="4069080"/>
            <a:ext cx="33628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s-PE" altLang="en-US" sz="11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 las áreas de Comunicación y Marketing en el mundo ya experimenta con IA.</a:t>
            </a:r>
            <a:endParaRPr lang="es-PE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234477" y="4709160"/>
            <a:ext cx="3362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900" i="1" dirty="0">
                <a:solidFill>
                  <a:srgbClr val="9A9C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Fuente. McKinsey, 2026</a:t>
            </a:r>
            <a:endParaRPr lang="es-PE" sz="900" dirty="0"/>
          </a:p>
        </p:txBody>
      </p:sp>
      <p:sp>
        <p:nvSpPr>
          <p:cNvPr id="30" name="Shape 28"/>
          <p:cNvSpPr/>
          <p:nvPr/>
        </p:nvSpPr>
        <p:spPr>
          <a:xfrm>
            <a:off x="8234477" y="4992624"/>
            <a:ext cx="3362858" cy="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 txBox="1"/>
          <p:nvPr/>
        </p:nvSpPr>
        <p:spPr>
          <a:xfrm>
            <a:off x="8234477" y="5084064"/>
            <a:ext cx="33628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Habilitamos a los equipos para usar IA generativa en su día a día.</a:t>
            </a:r>
            <a:endParaRPr lang="es-PE" sz="1200" dirty="0"/>
          </a:p>
        </p:txBody>
      </p:sp>
      <p:sp>
        <p:nvSpPr>
          <p:cNvPr id="32" name="Shape 30"/>
          <p:cNvSpPr/>
          <p:nvPr/>
        </p:nvSpPr>
        <p:spPr>
          <a:xfrm>
            <a:off x="594360" y="5897880"/>
            <a:ext cx="11002975" cy="457200"/>
          </a:xfrm>
          <a:prstGeom prst="rect">
            <a:avLst/>
          </a:prstGeom>
          <a:solidFill>
            <a:srgbClr val="25283D"/>
          </a:solidFill>
          <a:ln w="12700">
            <a:solidFill>
              <a:srgbClr val="25283D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 txBox="1"/>
          <p:nvPr/>
        </p:nvSpPr>
        <p:spPr>
          <a:xfrm>
            <a:off x="594360" y="589788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altLang="en-US" sz="15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 solo tecnología ni solo comunicación tradicional.</a:t>
            </a:r>
            <a:endParaRPr lang="es-PE" sz="15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tmp/claude-0/-home-user-compartamos-banco/f5aa2cae-8dfb-5efa-902a-389d1c1ca7cd/scratchpad/cbuild/a/s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916" y="1665594"/>
            <a:ext cx="676656" cy="143533"/>
          </a:xfrm>
          <a:prstGeom prst="rect">
            <a:avLst/>
          </a:prstGeom>
        </p:spPr>
      </p:pic>
      <p:pic>
        <p:nvPicPr>
          <p:cNvPr id="10" name="Image 1" descr="/tmp/claude-0/-home-user-compartamos-banco/f5aa2cae-8dfb-5efa-902a-389d1c1ca7cd/scratchpad/cbuild/a/s3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3055" y="1591056"/>
            <a:ext cx="217755" cy="292608"/>
          </a:xfrm>
          <a:prstGeom prst="rect">
            <a:avLst/>
          </a:prstGeom>
        </p:spPr>
      </p:pic>
      <p:pic>
        <p:nvPicPr>
          <p:cNvPr id="11" name="Image 2" descr="/tmp/claude-0/-home-user-compartamos-banco/f5aa2cae-8dfb-5efa-902a-389d1c1ca7cd/scratchpad/cbuild/a/s3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9593" y="1591056"/>
            <a:ext cx="596053" cy="292608"/>
          </a:xfrm>
          <a:prstGeom prst="rect">
            <a:avLst/>
          </a:prstGeom>
        </p:spPr>
      </p:pic>
      <p:pic>
        <p:nvPicPr>
          <p:cNvPr id="12" name="Image 3" descr="/tmp/claude-0/-home-user-compartamos-banco/f5aa2cae-8dfb-5efa-902a-389d1c1ca7cd/scratchpad/cbuild/a/s3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4980" y="1667628"/>
            <a:ext cx="676656" cy="139464"/>
          </a:xfrm>
          <a:prstGeom prst="rect">
            <a:avLst/>
          </a:prstGeom>
        </p:spPr>
      </p:pic>
      <p:pic>
        <p:nvPicPr>
          <p:cNvPr id="13" name="Image 4" descr="/tmp/claude-0/-home-user-compartamos-banco/f5aa2cae-8dfb-5efa-902a-389d1c1ca7cd/scratchpad/cbuild/a/s3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0668" y="1629095"/>
            <a:ext cx="676656" cy="216530"/>
          </a:xfrm>
          <a:prstGeom prst="rect">
            <a:avLst/>
          </a:prstGeom>
        </p:spPr>
      </p:pic>
      <p:pic>
        <p:nvPicPr>
          <p:cNvPr id="14" name="Image 5" descr="/tmp/claude-0/-home-user-compartamos-banco/f5aa2cae-8dfb-5efa-902a-389d1c1ca7cd/scratchpad/cbuild/a/s3_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9045" y="1591056"/>
            <a:ext cx="671277" cy="292608"/>
          </a:xfrm>
          <a:prstGeom prst="rect">
            <a:avLst/>
          </a:prstGeom>
        </p:spPr>
      </p:pic>
      <p:pic>
        <p:nvPicPr>
          <p:cNvPr id="15" name="Image 6" descr="/tmp/claude-0/-home-user-compartamos-banco/f5aa2cae-8dfb-5efa-902a-389d1c1ca7cd/scratchpad/cbuild/a/s3_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2044" y="1619149"/>
            <a:ext cx="676656" cy="236422"/>
          </a:xfrm>
          <a:prstGeom prst="rect">
            <a:avLst/>
          </a:prstGeom>
        </p:spPr>
      </p:pic>
      <p:pic>
        <p:nvPicPr>
          <p:cNvPr id="16" name="Image 7" descr="/tmp/claude-0/-home-user-compartamos-banco/f5aa2cae-8dfb-5efa-902a-389d1c1ca7cd/scratchpad/cbuild/a/s3_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7732" y="1615774"/>
            <a:ext cx="676656" cy="243173"/>
          </a:xfrm>
          <a:prstGeom prst="rect">
            <a:avLst/>
          </a:prstGeom>
        </p:spPr>
      </p:pic>
      <p:pic>
        <p:nvPicPr>
          <p:cNvPr id="17" name="Image 8" descr="/tmp/claude-0/-home-user-compartamos-banco/f5aa2cae-8dfb-5efa-902a-389d1c1ca7cd/scratchpad/cbuild/a/s3_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53420" y="1604971"/>
            <a:ext cx="676656" cy="264778"/>
          </a:xfrm>
          <a:prstGeom prst="rect">
            <a:avLst/>
          </a:prstGeom>
        </p:spPr>
      </p:pic>
      <p:pic>
        <p:nvPicPr>
          <p:cNvPr id="18" name="Image 9" descr="/tmp/claude-0/-home-user-compartamos-banco/f5aa2cae-8dfb-5efa-902a-389d1c1ca7cd/scratchpad/cbuild/a/s3_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69312" y="2048256"/>
            <a:ext cx="553865" cy="292608"/>
          </a:xfrm>
          <a:prstGeom prst="rect">
            <a:avLst/>
          </a:prstGeom>
        </p:spPr>
      </p:pic>
      <p:pic>
        <p:nvPicPr>
          <p:cNvPr id="19" name="Image 10" descr="/tmp/claude-0/-home-user-compartamos-banco/f5aa2cae-8dfb-5efa-902a-389d1c1ca7cd/scratchpad/cbuild/a/s3_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62649" y="2048256"/>
            <a:ext cx="578566" cy="292608"/>
          </a:xfrm>
          <a:prstGeom prst="rect">
            <a:avLst/>
          </a:prstGeom>
        </p:spPr>
      </p:pic>
      <p:pic>
        <p:nvPicPr>
          <p:cNvPr id="20" name="Image 11" descr="/tmp/claude-0/-home-user-compartamos-banco/f5aa2cae-8dfb-5efa-902a-389d1c1ca7cd/scratchpad/cbuild/a/s3_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19292" y="2094673"/>
            <a:ext cx="676656" cy="199774"/>
          </a:xfrm>
          <a:prstGeom prst="rect">
            <a:avLst/>
          </a:prstGeom>
        </p:spPr>
      </p:pic>
      <p:pic>
        <p:nvPicPr>
          <p:cNvPr id="21" name="Image 12" descr="/tmp/claude-0/-home-user-compartamos-banco/f5aa2cae-8dfb-5efa-902a-389d1c1ca7cd/scratchpad/cbuild/a/s3_8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24980" y="2052785"/>
            <a:ext cx="676656" cy="283551"/>
          </a:xfrm>
          <a:prstGeom prst="rect">
            <a:avLst/>
          </a:prstGeom>
        </p:spPr>
      </p:pic>
      <p:pic>
        <p:nvPicPr>
          <p:cNvPr id="25" name="Image 13" descr="/tmp/claude-0/-home-user-compartamos-banco/f5aa2cae-8dfb-5efa-902a-389d1c1ca7cd/scratchpad/cbuild/a/s3_1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07916" y="3300729"/>
            <a:ext cx="676656" cy="128527"/>
          </a:xfrm>
          <a:prstGeom prst="rect">
            <a:avLst/>
          </a:prstGeom>
        </p:spPr>
      </p:pic>
      <p:pic>
        <p:nvPicPr>
          <p:cNvPr id="26" name="Image 14" descr="/tmp/claude-0/-home-user-compartamos-banco/f5aa2cae-8dfb-5efa-902a-389d1c1ca7cd/scratchpad/cbuild/a/s3_14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13604" y="3284197"/>
            <a:ext cx="676656" cy="161589"/>
          </a:xfrm>
          <a:prstGeom prst="rect">
            <a:avLst/>
          </a:prstGeom>
        </p:spPr>
      </p:pic>
      <p:pic>
        <p:nvPicPr>
          <p:cNvPr id="27" name="Image 15" descr="/tmp/claude-0/-home-user-compartamos-banco/f5aa2cae-8dfb-5efa-902a-389d1c1ca7cd/scratchpad/cbuild/a/s3_15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19292" y="3283138"/>
            <a:ext cx="676656" cy="163707"/>
          </a:xfrm>
          <a:prstGeom prst="rect">
            <a:avLst/>
          </a:prstGeom>
        </p:spPr>
      </p:pic>
      <p:pic>
        <p:nvPicPr>
          <p:cNvPr id="28" name="Image 16" descr="/tmp/claude-0/-home-user-compartamos-banco/f5aa2cae-8dfb-5efa-902a-389d1c1ca7cd/scratchpad/cbuild/a/s3_16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24980" y="3288991"/>
            <a:ext cx="676656" cy="152002"/>
          </a:xfrm>
          <a:prstGeom prst="rect">
            <a:avLst/>
          </a:prstGeom>
        </p:spPr>
      </p:pic>
      <p:pic>
        <p:nvPicPr>
          <p:cNvPr id="29" name="Image 17" descr="/tmp/claude-0/-home-user-compartamos-banco/f5aa2cae-8dfb-5efa-902a-389d1c1ca7cd/scratchpad/cbuild/a/s3_17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30668" y="3303478"/>
            <a:ext cx="676656" cy="123028"/>
          </a:xfrm>
          <a:prstGeom prst="rect">
            <a:avLst/>
          </a:prstGeom>
        </p:spPr>
      </p:pic>
      <p:pic>
        <p:nvPicPr>
          <p:cNvPr id="33" name="Image 18" descr="/tmp/claude-0/-home-user-compartamos-banco/f5aa2cae-8dfb-5efa-902a-389d1c1ca7cd/scratchpad/cbuild/a/s3_29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07916" y="4481639"/>
            <a:ext cx="676656" cy="107571"/>
          </a:xfrm>
          <a:prstGeom prst="rect">
            <a:avLst/>
          </a:prstGeom>
        </p:spPr>
      </p:pic>
      <p:pic>
        <p:nvPicPr>
          <p:cNvPr id="34" name="Image 19" descr="/tmp/claude-0/-home-user-compartamos-banco/f5aa2cae-8dfb-5efa-902a-389d1c1ca7cd/scratchpad/cbuild/a/s3_18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293288" y="4389120"/>
            <a:ext cx="517289" cy="292608"/>
          </a:xfrm>
          <a:prstGeom prst="rect">
            <a:avLst/>
          </a:prstGeom>
        </p:spPr>
      </p:pic>
      <p:pic>
        <p:nvPicPr>
          <p:cNvPr id="35" name="Image 20" descr="/tmp/claude-0/-home-user-compartamos-banco/f5aa2cae-8dfb-5efa-902a-389d1c1ca7cd/scratchpad/cbuild/a/s3_30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9292" y="4450323"/>
            <a:ext cx="676656" cy="170202"/>
          </a:xfrm>
          <a:prstGeom prst="rect">
            <a:avLst/>
          </a:prstGeom>
        </p:spPr>
      </p:pic>
      <p:pic>
        <p:nvPicPr>
          <p:cNvPr id="36" name="Image 21" descr="/tmp/claude-0/-home-user-compartamos-banco/f5aa2cae-8dfb-5efa-902a-389d1c1ca7cd/scratchpad/cbuild/a/s3_19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24980" y="4483374"/>
            <a:ext cx="676656" cy="104101"/>
          </a:xfrm>
          <a:prstGeom prst="rect">
            <a:avLst/>
          </a:prstGeom>
        </p:spPr>
      </p:pic>
      <p:pic>
        <p:nvPicPr>
          <p:cNvPr id="40" name="Image 22" descr="/tmp/claude-0/-home-user-compartamos-banco/f5aa2cae-8dfb-5efa-902a-389d1c1ca7cd/scratchpad/cbuild/a/s3_20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407916" y="5592292"/>
            <a:ext cx="676656" cy="227129"/>
          </a:xfrm>
          <a:prstGeom prst="rect">
            <a:avLst/>
          </a:prstGeom>
        </p:spPr>
      </p:pic>
      <p:pic>
        <p:nvPicPr>
          <p:cNvPr id="41" name="Image 23" descr="/tmp/claude-0/-home-user-compartamos-banco/f5aa2cae-8dfb-5efa-902a-389d1c1ca7cd/scratchpad/cbuild/a/s3_21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322026" y="5559552"/>
            <a:ext cx="459812" cy="292608"/>
          </a:xfrm>
          <a:prstGeom prst="rect">
            <a:avLst/>
          </a:prstGeom>
        </p:spPr>
      </p:pic>
      <p:pic>
        <p:nvPicPr>
          <p:cNvPr id="42" name="Image 24" descr="/tmp/claude-0/-home-user-compartamos-banco/f5aa2cae-8dfb-5efa-902a-389d1c1ca7cd/scratchpad/cbuild/a/s3_22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19292" y="5578886"/>
            <a:ext cx="676656" cy="253939"/>
          </a:xfrm>
          <a:prstGeom prst="rect">
            <a:avLst/>
          </a:prstGeom>
        </p:spPr>
      </p:pic>
      <p:pic>
        <p:nvPicPr>
          <p:cNvPr id="43" name="Image 25" descr="/tmp/claude-0/-home-user-compartamos-banco/f5aa2cae-8dfb-5efa-902a-389d1c1ca7cd/scratchpad/cbuild/a/s3_23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839520" y="5559552"/>
            <a:ext cx="647575" cy="292608"/>
          </a:xfrm>
          <a:prstGeom prst="rect">
            <a:avLst/>
          </a:prstGeom>
        </p:spPr>
      </p:pic>
      <p:pic>
        <p:nvPicPr>
          <p:cNvPr id="44" name="Image 26" descr="/tmp/claude-0/-home-user-compartamos-banco/f5aa2cae-8dfb-5efa-902a-389d1c1ca7cd/scratchpad/cbuild/a/s3_24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630668" y="5596550"/>
            <a:ext cx="676656" cy="218612"/>
          </a:xfrm>
          <a:prstGeom prst="rect">
            <a:avLst/>
          </a:prstGeom>
        </p:spPr>
      </p:pic>
      <p:pic>
        <p:nvPicPr>
          <p:cNvPr id="45" name="Image 27" descr="/tmp/claude-0/-home-user-compartamos-banco/f5aa2cae-8dfb-5efa-902a-389d1c1ca7cd/scratchpad/cbuild/a/s3_25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436356" y="5612935"/>
            <a:ext cx="676656" cy="185842"/>
          </a:xfrm>
          <a:prstGeom prst="rect">
            <a:avLst/>
          </a:prstGeom>
        </p:spPr>
      </p:pic>
      <p:pic>
        <p:nvPicPr>
          <p:cNvPr id="46" name="Image 28" descr="/tmp/claude-0/-home-user-compartamos-banco/f5aa2cae-8dfb-5efa-902a-389d1c1ca7cd/scratchpad/cbuild/a/s3_26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242044" y="5593080"/>
            <a:ext cx="676656" cy="225552"/>
          </a:xfrm>
          <a:prstGeom prst="rect">
            <a:avLst/>
          </a:prstGeom>
        </p:spPr>
      </p:pic>
      <p:pic>
        <p:nvPicPr>
          <p:cNvPr id="47" name="Image 29" descr="/tmp/claude-0/-home-user-compartamos-banco/f5aa2cae-8dfb-5efa-902a-389d1c1ca7cd/scratchpad/cbuild/a/s3_27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047732" y="5604951"/>
            <a:ext cx="676656" cy="201810"/>
          </a:xfrm>
          <a:prstGeom prst="rect">
            <a:avLst/>
          </a:prstGeom>
        </p:spPr>
      </p:pic>
      <p:pic>
        <p:nvPicPr>
          <p:cNvPr id="48" name="Image 30" descr="/tmp/claude-0/-home-user-compartamos-banco/f5aa2cae-8dfb-5efa-902a-389d1c1ca7cd/scratchpad/cbuild/a/s3_28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53420" y="5634090"/>
            <a:ext cx="676656" cy="143533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94360" y="91440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300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CON QUIÉNES TRABAJAMOS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1188720"/>
            <a:ext cx="347472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4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Confían en nosotros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29260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Empresas líderes de sectores regulados y competitivos.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43400" y="1051560"/>
            <a:ext cx="7251192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43400" y="1179576"/>
            <a:ext cx="7251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Energía, Minería e Hidrocarburos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43400" y="2679192"/>
            <a:ext cx="7251192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43400" y="2807208"/>
            <a:ext cx="7251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Banca y Servicios Financieros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43400" y="3849624"/>
            <a:ext cx="7251192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43400" y="3977640"/>
            <a:ext cx="7251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Consumo, Retail e Industria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43400" y="5020056"/>
            <a:ext cx="7251192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43400" y="5148072"/>
            <a:ext cx="72511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Educación, Servicios e Infraestructura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5368" y="384048"/>
            <a:ext cx="960120" cy="3383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9456" y="645566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76688" y="64190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www.verne.la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30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QUÉ HACEMOS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Nuestros servicios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21031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1</a:t>
            </a:r>
          </a:p>
          <a:p>
            <a:pPr algn="l">
              <a:lnSpc>
                <a:spcPct val="95000"/>
              </a:lnSpc>
            </a:pPr>
            <a:r>
              <a:rPr sz="13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Reputación y liderazgo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1031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2</a:t>
            </a:r>
          </a:p>
          <a:p>
            <a:pPr algn="l">
              <a:lnSpc>
                <a:spcPct val="95000"/>
              </a:lnSpc>
            </a:pPr>
            <a:r>
              <a:rPr sz="13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Visibilidad y presencia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10312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000" b="1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3</a:t>
            </a:r>
          </a:p>
          <a:p>
            <a:pPr algn="l">
              <a:lnSpc>
                <a:spcPct val="95000"/>
              </a:lnSpc>
            </a:pPr>
            <a:r>
              <a:rPr sz="13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Adopción y capacidades de 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498848"/>
            <a:ext cx="12191695" cy="1600200"/>
          </a:xfrm>
          <a:prstGeom prst="rect">
            <a:avLst/>
          </a:prstGeom>
          <a:solidFill>
            <a:srgbClr val="6D4ABE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852928"/>
            <a:ext cx="11000232" cy="10973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4498848"/>
            <a:ext cx="11000232" cy="10973"/>
          </a:xfrm>
          <a:prstGeom prst="rect">
            <a:avLst/>
          </a:prstGeom>
          <a:solidFill>
            <a:srgbClr val="FFFFFF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03580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30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CONSULTORÍA</a:t>
            </a:r>
          </a:p>
          <a:p>
            <a:pPr algn="l"/>
            <a:r>
              <a:rPr sz="1100" b="0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(lo hacemos por ti)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681728"/>
            <a:ext cx="2194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30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FORMACIÓN</a:t>
            </a:r>
          </a:p>
          <a:p>
            <a:pPr algn="l"/>
            <a:r>
              <a:rPr sz="1100" b="0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(habilitamos a tu equipo)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035808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Marca Directiva y Corporativa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Embajadores digitales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4681728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Talleres de Marca Directiva y Embajadores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035808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Posicionamiento GEO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Marketing de Contenidos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Asuntos Públicos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4681728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Formación para periodistas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Political Intelligence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3035808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Diagnóstico de madurez digital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Agentic AI Studio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Agentic AI Reputation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GEO Rank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Data Pulse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4681728"/>
            <a:ext cx="2743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Talleres de IA, data y automatización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Taller de IA para comunicación y MKT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Claude AI para empresas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Taller IA Agéntica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 1" descr="/tmp/claude-0/-home-user-compartamos-banco/f5aa2cae-8dfb-5efa-902a-389d1c1ca7cd/scratchpad/cbuild/a/s5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0984" y="5541264"/>
            <a:ext cx="708279" cy="237744"/>
          </a:xfrm>
          <a:prstGeom prst="rect">
            <a:avLst/>
          </a:prstGeom>
        </p:spPr>
      </p:pic>
      <p:pic>
        <p:nvPicPr>
          <p:cNvPr id="24" name="Image 2" descr="/tmp/claude-0/-home-user-compartamos-banco/f5aa2cae-8dfb-5efa-902a-389d1c1ca7cd/scratchpad/cbuild/a/s5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1872" y="5541264"/>
            <a:ext cx="680440" cy="237744"/>
          </a:xfrm>
          <a:prstGeom prst="rect">
            <a:avLst/>
          </a:prstGeom>
        </p:spPr>
      </p:pic>
      <p:pic>
        <p:nvPicPr>
          <p:cNvPr id="25" name="Image 3" descr="/tmp/claude-0/-home-user-compartamos-banco/f5aa2cae-8dfb-5efa-902a-389d1c1ca7cd/scratchpad/cbuild/a/s5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0597" y="5541264"/>
            <a:ext cx="176926" cy="237744"/>
          </a:xfrm>
          <a:prstGeom prst="rect">
            <a:avLst/>
          </a:prstGeom>
        </p:spPr>
      </p:pic>
      <p:pic>
        <p:nvPicPr>
          <p:cNvPr id="26" name="Image 4" descr="/tmp/claude-0/-home-user-compartamos-banco/f5aa2cae-8dfb-5efa-902a-389d1c1ca7cd/scratchpad/cbuild/a/s5_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9412" y="5584490"/>
            <a:ext cx="713232" cy="151292"/>
          </a:xfrm>
          <a:prstGeom prst="rect">
            <a:avLst/>
          </a:prstGeom>
        </p:spPr>
      </p:pic>
      <p:pic>
        <p:nvPicPr>
          <p:cNvPr id="27" name="Image 5" descr="/tmp/claude-0/-home-user-compartamos-banco/f5aa2cae-8dfb-5efa-902a-389d1c1ca7cd/scratchpad/cbuild/a/s5_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6380" y="5553777"/>
            <a:ext cx="713232" cy="212718"/>
          </a:xfrm>
          <a:prstGeom prst="rect">
            <a:avLst/>
          </a:prstGeom>
        </p:spPr>
      </p:pic>
      <p:pic>
        <p:nvPicPr>
          <p:cNvPr id="28" name="Image 6" descr="/tmp/claude-0/-home-user-compartamos-banco/f5aa2cae-8dfb-5efa-902a-389d1c1ca7cd/scratchpad/cbuild/a/s5_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3348" y="5586635"/>
            <a:ext cx="713232" cy="147002"/>
          </a:xfrm>
          <a:prstGeom prst="rect">
            <a:avLst/>
          </a:prstGeom>
        </p:spPr>
      </p:pic>
      <p:pic>
        <p:nvPicPr>
          <p:cNvPr id="29" name="Image 7" descr="/tmp/claude-0/-home-user-compartamos-banco/f5aa2cae-8dfb-5efa-902a-389d1c1ca7cd/scratchpad/cbuild/a/s5_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78508" y="5938897"/>
            <a:ext cx="713232" cy="210573"/>
          </a:xfrm>
          <a:prstGeom prst="rect">
            <a:avLst/>
          </a:prstGeom>
        </p:spPr>
      </p:pic>
      <p:pic>
        <p:nvPicPr>
          <p:cNvPr id="30" name="Image 8" descr="/tmp/claude-0/-home-user-compartamos-banco/f5aa2cae-8dfb-5efa-902a-389d1c1ca7cd/scratchpad/cbuild/a/s5_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87050" y="5925312"/>
            <a:ext cx="470084" cy="237744"/>
          </a:xfrm>
          <a:prstGeom prst="rect">
            <a:avLst/>
          </a:prstGeom>
        </p:spPr>
      </p:pic>
      <p:pic>
        <p:nvPicPr>
          <p:cNvPr id="31" name="Image 9" descr="/tmp/claude-0/-home-user-compartamos-banco/f5aa2cae-8dfb-5efa-902a-389d1c1ca7cd/scratchpad/cbuild/a/s5_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25388" y="5925312"/>
            <a:ext cx="567343" cy="237744"/>
          </a:xfrm>
          <a:prstGeom prst="rect">
            <a:avLst/>
          </a:prstGeom>
        </p:spPr>
      </p:pic>
      <p:pic>
        <p:nvPicPr>
          <p:cNvPr id="32" name="Image 10" descr="/tmp/claude-0/-home-user-compartamos-banco/f5aa2cae-8dfb-5efa-902a-389d1c1ca7cd/scratchpad/cbuild/a/s5_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9412" y="5979345"/>
            <a:ext cx="713232" cy="129679"/>
          </a:xfrm>
          <a:prstGeom prst="rect">
            <a:avLst/>
          </a:prstGeom>
        </p:spPr>
      </p:pic>
      <p:pic>
        <p:nvPicPr>
          <p:cNvPr id="33" name="Image 11" descr="/tmp/claude-0/-home-user-compartamos-banco/f5aa2cae-8dfb-5efa-902a-389d1c1ca7cd/scratchpad/cbuild/a/s5_1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26380" y="5968538"/>
            <a:ext cx="713232" cy="151292"/>
          </a:xfrm>
          <a:prstGeom prst="rect">
            <a:avLst/>
          </a:prstGeom>
        </p:spPr>
      </p:pic>
      <p:pic>
        <p:nvPicPr>
          <p:cNvPr id="34" name="Picture 33" descr="p5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36815" y="0"/>
            <a:ext cx="4754880" cy="6858000"/>
          </a:xfrm>
          <a:prstGeom prst="rect">
            <a:avLst/>
          </a:prstGeom>
        </p:spPr>
      </p:pic>
      <p:pic>
        <p:nvPicPr>
          <p:cNvPr id="35" name="Picture 34" descr="fade_bottom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36815" y="0"/>
            <a:ext cx="4754880" cy="6858000"/>
          </a:xfrm>
          <a:prstGeom prst="rect">
            <a:avLst/>
          </a:prstGeom>
        </p:spPr>
      </p:pic>
      <p:pic>
        <p:nvPicPr>
          <p:cNvPr id="36" name="Picture 35" descr="logo_whit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945368" y="384048"/>
            <a:ext cx="960120" cy="33832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863840" y="5074920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Los líderes cambian, la marca permanece.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91440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300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REPUTACIÓN Y LIDERAZGO · CONSULTORÍA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1170432"/>
            <a:ext cx="6400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4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Marca Corporativa</a:t>
            </a:r>
          </a:p>
          <a:p>
            <a:pPr algn="l">
              <a:lnSpc>
                <a:spcPct val="95000"/>
              </a:lnSpc>
            </a:pPr>
            <a:r>
              <a:rPr sz="34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y Marca Directiva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2450592"/>
            <a:ext cx="6309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Construimos la marca de tu empresa a través de la voz de sus líderes.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329184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300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ES LO QUE PERMANECE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356616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Marca Corporativa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3986784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Poppins"/>
                <a:ea typeface="Poppins"/>
                <a:cs typeface="Poppins"/>
              </a:rPr>
              <a:t>La reputación y credibilidad de la empresa en el ecosistema digital.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3291840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300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ES LO QUE LA AMPLIFICA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86200" y="356616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Marca Directiva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86200" y="3986784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Poppins"/>
                <a:ea typeface="Poppins"/>
                <a:cs typeface="Poppins"/>
              </a:rPr>
              <a:t>Tus C-level, directivos y voceros dan rostro y voz a esa narrativa.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0" y="3310128"/>
            <a:ext cx="10973" cy="1280160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94360" y="4846320"/>
            <a:ext cx="6400800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49834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01  </a:t>
            </a:r>
            <a:r>
              <a:rPr sz="14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Diagnóstico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31720" y="49834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9A9CAB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49834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02  </a:t>
            </a:r>
            <a:r>
              <a:rPr sz="14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Estrategia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60" y="49834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>
                <a:solidFill>
                  <a:srgbClr val="9A9CAB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92040" y="49834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03  </a:t>
            </a:r>
            <a:r>
              <a:rPr sz="14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Gestión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564184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300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CLIENTES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1" descr="/tmp/claude-0/-home-user-compartamos-banco/f5aa2cae-8dfb-5efa-902a-389d1c1ca7cd/scratchpad/cbuild/a/s6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4084" y="5788152"/>
            <a:ext cx="680441" cy="237744"/>
          </a:xfrm>
          <a:prstGeom prst="rect">
            <a:avLst/>
          </a:prstGeom>
        </p:spPr>
      </p:pic>
      <p:pic>
        <p:nvPicPr>
          <p:cNvPr id="21" name="Image 2" descr="/tmp/claude-0/-home-user-compartamos-banco/f5aa2cae-8dfb-5efa-902a-389d1c1ca7cd/scratchpad/cbuild/a/s6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936" y="5792907"/>
            <a:ext cx="713232" cy="228234"/>
          </a:xfrm>
          <a:prstGeom prst="rect">
            <a:avLst/>
          </a:prstGeom>
        </p:spPr>
      </p:pic>
      <p:pic>
        <p:nvPicPr>
          <p:cNvPr id="22" name="Image 3" descr="/tmp/claude-0/-home-user-compartamos-banco/f5aa2cae-8dfb-5efa-902a-389d1c1ca7cd/scratchpad/cbuild/a/s6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4094" y="5788152"/>
            <a:ext cx="545413" cy="237744"/>
          </a:xfrm>
          <a:prstGeom prst="rect">
            <a:avLst/>
          </a:prstGeom>
        </p:spPr>
      </p:pic>
      <p:pic>
        <p:nvPicPr>
          <p:cNvPr id="23" name="Image 4" descr="/tmp/claude-0/-home-user-compartamos-banco/f5aa2cae-8dfb-5efa-902a-389d1c1ca7cd/scratchpad/cbuild/a/s6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1432" y="5826915"/>
            <a:ext cx="713232" cy="160218"/>
          </a:xfrm>
          <a:prstGeom prst="rect">
            <a:avLst/>
          </a:prstGeom>
        </p:spPr>
      </p:pic>
      <p:pic>
        <p:nvPicPr>
          <p:cNvPr id="24" name="Image 5" descr="/tmp/claude-0/-home-user-compartamos-banco/f5aa2cae-8dfb-5efa-902a-389d1c1ca7cd/scratchpad/cbuild/a/s6_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2680" y="5831378"/>
            <a:ext cx="713232" cy="151292"/>
          </a:xfrm>
          <a:prstGeom prst="rect">
            <a:avLst/>
          </a:prstGeom>
        </p:spPr>
      </p:pic>
      <p:pic>
        <p:nvPicPr>
          <p:cNvPr id="25" name="Image 6" descr="/tmp/claude-0/-home-user-compartamos-banco/f5aa2cae-8dfb-5efa-902a-389d1c1ca7cd/scratchpad/cbuild/a/s6_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53928" y="5831378"/>
            <a:ext cx="713232" cy="151292"/>
          </a:xfrm>
          <a:prstGeom prst="rect">
            <a:avLst/>
          </a:prstGeom>
        </p:spPr>
      </p:pic>
      <p:pic>
        <p:nvPicPr>
          <p:cNvPr id="26" name="Picture 25" descr="p6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4754880" cy="6858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937760" y="645566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33333"/>
                </a:solidFill>
                <a:latin typeface="Poppins"/>
                <a:ea typeface="Poppins"/>
                <a:cs typeface="Poppi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914400"/>
            <a:ext cx="6217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300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REPUTACIÓN Y LIDERAZGO · CONSULTORÍA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1170432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Embajadores Digitales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2011680"/>
            <a:ext cx="6035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Amplificamos la comunicación corporativa a través de tus colaboradores, quienes hablan como la voz más genuina de la marca.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49240" y="3063240"/>
            <a:ext cx="6245352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49240" y="3191256"/>
            <a:ext cx="914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191256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Estrategia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50215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Seleccionamos y activamos embajadores alineados a los objetivos de la marca.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49240" y="3886200"/>
            <a:ext cx="6245352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49240" y="4014216"/>
            <a:ext cx="914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014216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Acompañamiento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32511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Buenas prácticas, benchmark y co-creación de contenidos, con soporte continuo.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49240" y="4709160"/>
            <a:ext cx="6245352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49240" y="4837176"/>
            <a:ext cx="914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837176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Medición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148072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Data pública, matriz de evaluación e informe mensual de desempeño, con Data Pulse.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49240" y="5532120"/>
            <a:ext cx="6245352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49240" y="58338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300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CLIENTES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5368" y="384048"/>
            <a:ext cx="960120" cy="3383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9456" y="645566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76688" y="64190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www.verne.la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30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VISIBILIDAD Y PRESENCIA DIGITAL · CONSULTORÍA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Posicionamiento GEO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58521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Logramos que la IA cite y recomiende a tu marca.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5669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Trabajamos para que ChatGPT, Google AI Overview, Perplexity y Claude te mencionen en tu categoría.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57600"/>
            <a:ext cx="5669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30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CLIENTES   </a:t>
            </a:r>
            <a:r>
              <a:rPr sz="1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Gloria · ISA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1188720"/>
            <a:ext cx="4507992" cy="2743200"/>
          </a:xfrm>
          <a:prstGeom prst="roundRect">
            <a:avLst>
              <a:gd name="adj" fmla="val 5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06640" y="1618488"/>
            <a:ext cx="128016" cy="128016"/>
          </a:xfrm>
          <a:prstGeom prst="ellipse">
            <a:avLst/>
          </a:prstGeom>
          <a:solidFill>
            <a:srgbClr val="6D4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1417320"/>
            <a:ext cx="359359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ChatGPT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1965960"/>
            <a:ext cx="3867912" cy="10973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06640" y="2203704"/>
            <a:ext cx="128016" cy="128016"/>
          </a:xfrm>
          <a:prstGeom prst="ellipse">
            <a:avLst/>
          </a:prstGeom>
          <a:solidFill>
            <a:srgbClr val="6D4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2002536"/>
            <a:ext cx="359359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Google AI Overview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551176"/>
            <a:ext cx="3867912" cy="10973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06640" y="2788920"/>
            <a:ext cx="128016" cy="128016"/>
          </a:xfrm>
          <a:prstGeom prst="ellipse">
            <a:avLst/>
          </a:prstGeom>
          <a:solidFill>
            <a:srgbClr val="6D4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2587752"/>
            <a:ext cx="359359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Perplexity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06640" y="3136392"/>
            <a:ext cx="3867912" cy="10973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06640" y="3374136"/>
            <a:ext cx="128016" cy="128016"/>
          </a:xfrm>
          <a:prstGeom prst="ellipse">
            <a:avLst/>
          </a:prstGeom>
          <a:solidFill>
            <a:srgbClr val="6D4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3172968"/>
            <a:ext cx="3593592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Claude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315968"/>
            <a:ext cx="11000232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443984"/>
            <a:ext cx="110002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Resultados medibles en visibilidad, posición, citaciones y share of voice en IA.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956048"/>
            <a:ext cx="1815084" cy="274320"/>
          </a:xfrm>
          <a:prstGeom prst="rect">
            <a:avLst/>
          </a:prstGeom>
          <a:solidFill>
            <a:srgbClr val="C0B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349240"/>
            <a:ext cx="18150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01  </a:t>
            </a:r>
            <a:r>
              <a:rPr sz="1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Diagnóstico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650992"/>
            <a:ext cx="181508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15</a:t>
            </a:r>
            <a:r>
              <a:rPr sz="1100" b="0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 días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4308" y="4956048"/>
            <a:ext cx="1815084" cy="274320"/>
          </a:xfrm>
          <a:prstGeom prst="rect">
            <a:avLst/>
          </a:prstGeom>
          <a:solidFill>
            <a:srgbClr val="8F7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4308" y="5349240"/>
            <a:ext cx="18150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02  </a:t>
            </a:r>
            <a:r>
              <a:rPr sz="1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Estrategia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4308" y="5650992"/>
            <a:ext cx="181508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15</a:t>
            </a:r>
            <a:r>
              <a:rPr sz="1100" b="0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 días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34256" y="4956048"/>
            <a:ext cx="7260336" cy="274320"/>
          </a:xfrm>
          <a:prstGeom prst="rect">
            <a:avLst/>
          </a:prstGeom>
          <a:solidFill>
            <a:srgbClr val="6D4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34256" y="5349240"/>
            <a:ext cx="72603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03  </a:t>
            </a:r>
            <a:r>
              <a:rPr sz="1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Implementación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34256" y="5650992"/>
            <a:ext cx="726033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60</a:t>
            </a:r>
            <a:r>
              <a:rPr sz="1100" b="0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 días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9144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300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ADOPCIÓN Y CAPACIDADES DE IA · CONSULTORÍA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70432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38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Diagnóstico de Madurez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0" y="1188720"/>
            <a:ext cx="542239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Te decimos qué tan bien usan tus equipos la IA y </a:t>
            </a:r>
            <a:r>
              <a:rPr sz="22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dónde invertir primero.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2514600"/>
            <a:ext cx="5422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300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CLIENTES   </a:t>
            </a:r>
            <a:r>
              <a:rPr sz="12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BCP / Credicorp · Primax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3108960"/>
            <a:ext cx="3447288" cy="31089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64992"/>
            <a:ext cx="28986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28986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Medimos la adopción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047488"/>
            <a:ext cx="2898648" cy="10973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206240"/>
            <a:ext cx="28986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Encuesta digital representativa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+ entrevistas a profundidad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66360"/>
            <a:ext cx="28986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Con quienes deciden, habilitan y construyen soluciones.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3108960"/>
            <a:ext cx="3447288" cy="31089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3364992"/>
            <a:ext cx="28986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611880"/>
            <a:ext cx="28986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Comparamos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5152" y="5047488"/>
            <a:ext cx="2898648" cy="10973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4069080"/>
            <a:ext cx="1371600" cy="5943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4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5</a:t>
            </a:r>
            <a:r>
              <a:rPr sz="13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 niveles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2472" y="4069080"/>
            <a:ext cx="1554480" cy="5943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4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7</a:t>
            </a:r>
            <a:r>
              <a:rPr sz="13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 indicadores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45152" y="4800600"/>
            <a:ext cx="535838" cy="109728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35854" y="4800600"/>
            <a:ext cx="535838" cy="109728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26557" y="4800600"/>
            <a:ext cx="535838" cy="109728"/>
          </a:xfrm>
          <a:prstGeom prst="rect">
            <a:avLst/>
          </a:prstGeom>
          <a:solidFill>
            <a:srgbClr val="C0B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17259" y="4800600"/>
            <a:ext cx="535838" cy="109728"/>
          </a:xfrm>
          <a:prstGeom prst="rect">
            <a:avLst/>
          </a:prstGeom>
          <a:solidFill>
            <a:srgbClr val="8F7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07962" y="4800600"/>
            <a:ext cx="535838" cy="109728"/>
          </a:xfrm>
          <a:prstGeom prst="rect">
            <a:avLst/>
          </a:prstGeom>
          <a:solidFill>
            <a:srgbClr val="6D4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5152" y="5166360"/>
            <a:ext cx="28986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Cada área se ubica según su uso de IA generativa, automatización y datos, y se mide con 7 indicadores, como autonomía, impacto y capacitación. Los niveles se inspiran en el modelo CMMI.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47304" y="3108960"/>
            <a:ext cx="3447288" cy="31089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21624" y="3364992"/>
            <a:ext cx="28986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3611880"/>
            <a:ext cx="28986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Priorizamos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21624" y="5047488"/>
            <a:ext cx="2898648" cy="10973"/>
          </a:xfrm>
          <a:prstGeom prst="rect">
            <a:avLst/>
          </a:prstGeom>
          <a:solidFill>
            <a:srgbClr val="D8D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21624" y="4160520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Hoja de ruta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21624" y="4553712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C0B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21624" y="4553712"/>
            <a:ext cx="6583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0-3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34856" y="4553712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8F7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34856" y="4553712"/>
            <a:ext cx="6583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3-9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48088" y="4553712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6D4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48088" y="4553712"/>
            <a:ext cx="6583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9-18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79608" y="4553712"/>
            <a:ext cx="7315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meses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1624" y="5166360"/>
            <a:ext cx="28986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6B6E80"/>
                </a:solidFill>
                <a:latin typeface="Poppins"/>
                <a:ea typeface="Poppins"/>
                <a:cs typeface="Poppins"/>
              </a:rPr>
              <a:t>Dashboard interactivo, informe ejecutivo y segmentación de gerencias.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mpartamos-banco/f5aa2cae-8dfb-5efa-902a-389d1c1ca7cd/scratchpad/cbuild/a/dark_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94360" y="914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ADOPCIÓN Y CAPACIDADES DE IA</a:t>
            </a:r>
            <a:endParaRPr lang="es-PE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188720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Nuestras cuatro soluciones de Inteligencia Artificial</a:t>
            </a:r>
            <a:endParaRPr lang="es-PE" sz="2900" dirty="0"/>
          </a:p>
        </p:txBody>
      </p:sp>
      <p:sp>
        <p:nvSpPr>
          <p:cNvPr id="7" name="Shape 4"/>
          <p:cNvSpPr/>
          <p:nvPr/>
        </p:nvSpPr>
        <p:spPr>
          <a:xfrm>
            <a:off x="594360" y="2697480"/>
            <a:ext cx="777240" cy="777240"/>
          </a:xfrm>
          <a:prstGeom prst="ellipse">
            <a:avLst/>
          </a:prstGeom>
          <a:solidFill>
            <a:srgbClr val="6D4ABE"/>
          </a:solidFill>
          <a:ln w="12700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2916936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94360" y="370332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Agentic AI Studio</a:t>
            </a:r>
            <a:endParaRPr lang="es-PE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594360" y="4526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PE" altLang="en-US" sz="115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Estudio de contenidos con agentes de IA</a:t>
            </a:r>
            <a:endParaRPr lang="es-PE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594360" y="5074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PE" altLang="en-US" sz="11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Desde el ADN de tu marca, los agentes crean piezas multiformato listas para aprobar en minutos.</a:t>
            </a:r>
            <a:endParaRPr lang="es-PE" sz="1150" dirty="0"/>
          </a:p>
        </p:txBody>
      </p:sp>
      <p:sp>
        <p:nvSpPr>
          <p:cNvPr id="14" name="Shape 10"/>
          <p:cNvSpPr/>
          <p:nvPr/>
        </p:nvSpPr>
        <p:spPr>
          <a:xfrm>
            <a:off x="3429000" y="2697480"/>
            <a:ext cx="777240" cy="777240"/>
          </a:xfrm>
          <a:prstGeom prst="ellipse">
            <a:avLst/>
          </a:prstGeom>
          <a:solidFill>
            <a:srgbClr val="6D4ABE"/>
          </a:solidFill>
          <a:ln w="12700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8456" y="2916936"/>
            <a:ext cx="338328" cy="33832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429000" y="370332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Agentic AI Reputation</a:t>
            </a:r>
            <a:endParaRPr lang="es-PE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429000" y="4526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PE" altLang="en-US" sz="115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Consultor de reputación</a:t>
            </a:r>
            <a:endParaRPr lang="es-PE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3429000" y="5074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PE" altLang="en-US" sz="11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Asesora ante cualquier situación que afecte tu reputación con base histórica del negocio y la reputación.</a:t>
            </a:r>
            <a:endParaRPr lang="es-PE" sz="1150" dirty="0"/>
          </a:p>
        </p:txBody>
      </p:sp>
      <p:sp>
        <p:nvSpPr>
          <p:cNvPr id="21" name="Shape 16"/>
          <p:cNvSpPr/>
          <p:nvPr/>
        </p:nvSpPr>
        <p:spPr>
          <a:xfrm>
            <a:off x="6263640" y="2697480"/>
            <a:ext cx="777240" cy="777240"/>
          </a:xfrm>
          <a:prstGeom prst="ellipse">
            <a:avLst/>
          </a:prstGeom>
          <a:solidFill>
            <a:srgbClr val="6D4ABE"/>
          </a:solidFill>
          <a:ln w="12700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096" y="2916936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263640" y="370332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GEO Rank</a:t>
            </a:r>
            <a:endParaRPr lang="es-PE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263640" y="4526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PE" altLang="en-US" sz="115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Plataforma de monitoreo GEO</a:t>
            </a:r>
            <a:endParaRPr lang="es-PE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6263640" y="5074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PE" altLang="en-US" sz="11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Mide la visibilidad, las citas y la veracidad de tu marca en las IAs, y traza la ruta para posicionarte.</a:t>
            </a:r>
            <a:endParaRPr lang="es-PE" sz="1150" dirty="0"/>
          </a:p>
        </p:txBody>
      </p:sp>
      <p:sp>
        <p:nvSpPr>
          <p:cNvPr id="28" name="Shape 22"/>
          <p:cNvSpPr/>
          <p:nvPr/>
        </p:nvSpPr>
        <p:spPr>
          <a:xfrm>
            <a:off x="9098280" y="2697480"/>
            <a:ext cx="777240" cy="777240"/>
          </a:xfrm>
          <a:prstGeom prst="ellipse">
            <a:avLst/>
          </a:prstGeom>
          <a:solidFill>
            <a:srgbClr val="6D4ABE"/>
          </a:solidFill>
          <a:ln w="12700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7736" y="2916936"/>
            <a:ext cx="338328" cy="33832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098280" y="370332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s-PE" alt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Pulse</a:t>
            </a:r>
            <a:endParaRPr lang="es-PE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9098280" y="4526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s-PE" altLang="en-US" sz="115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Tracking de performance de embajadores digitales</a:t>
            </a:r>
            <a:endParaRPr lang="es-PE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9098280" y="50749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PE" altLang="en-US" sz="11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Mide el desempeño de tus embajadores y convierte la data en acciones de comunicación.</a:t>
            </a:r>
            <a:endParaRPr lang="es-PE" sz="1150" dirty="0"/>
          </a:p>
        </p:txBody>
      </p:sp>
      <p:pic>
        <p:nvPicPr>
          <p:cNvPr id="34" name="Picture 33" descr="logo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45368" y="384048"/>
            <a:ext cx="960120" cy="3383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19456" y="645566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76688" y="64190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www.verne.la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22402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01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46120" y="2240280"/>
            <a:ext cx="10973" cy="3657600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9000" y="22402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02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80760" y="2240280"/>
            <a:ext cx="10973" cy="3657600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22402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03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15400" y="2240280"/>
            <a:ext cx="10973" cy="3657600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8280" y="22402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04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nd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8346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2834640"/>
          </a:xfrm>
          <a:prstGeom prst="rect">
            <a:avLst/>
          </a:prstGeom>
          <a:solidFill>
            <a:srgbClr val="171828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de_lef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2834640"/>
          </a:xfrm>
          <a:prstGeom prst="rect">
            <a:avLst/>
          </a:prstGeom>
        </p:spPr>
      </p:pic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5368" y="384048"/>
            <a:ext cx="960120" cy="3383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868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30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TEMARIO Y CASOS A MEDIDA PARA CADA EMPRESA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09728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Formación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Habilitamos a tu equipo para que trabaje con IA y </a:t>
            </a:r>
            <a:r>
              <a:rPr sz="2100" b="1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lo haga por sí mismo.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063240"/>
            <a:ext cx="3355848" cy="1097280"/>
          </a:xfrm>
          <a:prstGeom prst="rect">
            <a:avLst/>
          </a:prstGeom>
          <a:solidFill>
            <a:srgbClr val="F3F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00400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50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1  ·  REPUTACIÓN Y LIDERAZGO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74720"/>
            <a:ext cx="30815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Voceros creíbles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4160520"/>
            <a:ext cx="3355848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4398264"/>
            <a:ext cx="73152" cy="73152"/>
          </a:xfrm>
          <a:prstGeom prst="rect">
            <a:avLst/>
          </a:prstGeom>
          <a:solidFill>
            <a:srgbClr val="6D4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279392"/>
            <a:ext cx="28072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Marca Directiva y Embajadores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16552" y="3063240"/>
            <a:ext cx="3355848" cy="1097280"/>
          </a:xfrm>
          <a:prstGeom prst="rect">
            <a:avLst/>
          </a:prstGeom>
          <a:solidFill>
            <a:srgbClr val="C0B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3200400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50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2  ·  VISIBILIDAD Y PRESENCIA DIGITAL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474720"/>
            <a:ext cx="30815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Prensa y entorno digital como aliados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16552" y="4160520"/>
            <a:ext cx="3355848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45152" y="4398264"/>
            <a:ext cx="73152" cy="73152"/>
          </a:xfrm>
          <a:prstGeom prst="rect">
            <a:avLst/>
          </a:prstGeom>
          <a:solidFill>
            <a:srgbClr val="C0B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8032" y="4279392"/>
            <a:ext cx="28072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Formación para periodistas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45152" y="4608576"/>
            <a:ext cx="2898648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45152" y="4754880"/>
            <a:ext cx="73152" cy="73152"/>
          </a:xfrm>
          <a:prstGeom prst="rect">
            <a:avLst/>
          </a:prstGeom>
          <a:solidFill>
            <a:srgbClr val="C0B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2" y="4636008"/>
            <a:ext cx="28072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Political Intelligence 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38744" y="3063240"/>
            <a:ext cx="3355848" cy="1097280"/>
          </a:xfrm>
          <a:prstGeom prst="rect">
            <a:avLst/>
          </a:prstGeom>
          <a:solidFill>
            <a:srgbClr val="6D4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67344" y="3200400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50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3  ·  ADOPCIÓN Y CAPACIDADES DE 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7344" y="3474720"/>
            <a:ext cx="30815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De la teoría al uso real de la 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38744" y="4160520"/>
            <a:ext cx="3355848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67344" y="4398264"/>
            <a:ext cx="73152" cy="73152"/>
          </a:xfrm>
          <a:prstGeom prst="rect">
            <a:avLst/>
          </a:prstGeom>
          <a:solidFill>
            <a:srgbClr val="6D4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50224" y="4279392"/>
            <a:ext cx="28072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IA, data y automatización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67344" y="4608576"/>
            <a:ext cx="2898648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67344" y="4754880"/>
            <a:ext cx="73152" cy="73152"/>
          </a:xfrm>
          <a:prstGeom prst="rect">
            <a:avLst/>
          </a:prstGeom>
          <a:solidFill>
            <a:srgbClr val="6D4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50224" y="4636008"/>
            <a:ext cx="28072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IA para comunicación y marketing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67344" y="4965192"/>
            <a:ext cx="2898648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67344" y="5111496"/>
            <a:ext cx="73152" cy="73152"/>
          </a:xfrm>
          <a:prstGeom prst="rect">
            <a:avLst/>
          </a:prstGeom>
          <a:solidFill>
            <a:srgbClr val="6D4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50224" y="4992624"/>
            <a:ext cx="28072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Claude AI para empresas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67344" y="5321808"/>
            <a:ext cx="2898648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67344" y="5468112"/>
            <a:ext cx="73152" cy="73152"/>
          </a:xfrm>
          <a:prstGeom prst="rect">
            <a:avLst/>
          </a:prstGeom>
          <a:solidFill>
            <a:srgbClr val="6D4A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50224" y="5349240"/>
            <a:ext cx="28072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Taller IA Agéntica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9618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300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CLIENTES   </a:t>
            </a:r>
            <a:r>
              <a:rPr sz="12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BCP · Pacífico Seguros · Interbank · Antapaccay · Petrotal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94360" y="914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ADOPCIÓN Y CAPACIDADES DE IA</a:t>
            </a:r>
            <a:endParaRPr lang="es-PE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Herramientas de Formación</a:t>
            </a:r>
            <a:endParaRPr lang="es-PE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2024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Trabajamos con los principales ecosistemas de IA y automatización.</a:t>
            </a:r>
            <a:endParaRPr lang="es-PE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788920"/>
            <a:ext cx="2142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Ecosistema Microsoft</a:t>
            </a:r>
            <a:endParaRPr lang="es-PE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3273552"/>
            <a:ext cx="2051228" cy="0"/>
          </a:xfrm>
          <a:prstGeom prst="line">
            <a:avLst/>
          </a:prstGeom>
          <a:noFill/>
          <a:ln w="15875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9" name="Image 0" descr="/tmp/claude-0/-home-user-compartamos-banco/f5aa2cae-8dfb-5efa-902a-389d1c1ca7cd/scratchpad/cbuild/a/s11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533995"/>
            <a:ext cx="384048" cy="35693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3520440"/>
            <a:ext cx="15025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2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Copilot Studio</a:t>
            </a:r>
            <a:endParaRPr lang="es-PE" sz="1250" dirty="0"/>
          </a:p>
        </p:txBody>
      </p:sp>
      <p:pic>
        <p:nvPicPr>
          <p:cNvPr id="11" name="Image 1" descr="/tmp/claude-0/-home-user-compartamos-banco/f5aa2cae-8dfb-5efa-902a-389d1c1ca7cd/scratchpad/cbuild/a/s11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147093"/>
            <a:ext cx="384048" cy="3743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88720" y="4142232"/>
            <a:ext cx="15025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2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 Apps</a:t>
            </a:r>
            <a:endParaRPr lang="es-PE" sz="1250" dirty="0"/>
          </a:p>
        </p:txBody>
      </p:sp>
      <p:pic>
        <p:nvPicPr>
          <p:cNvPr id="13" name="Image 2" descr="/tmp/claude-0/-home-user-compartamos-banco/f5aa2cae-8dfb-5efa-902a-389d1c1ca7cd/scratchpad/cbuild/a/s11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12" y="4764024"/>
            <a:ext cx="296543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4764024"/>
            <a:ext cx="15025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2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 BI</a:t>
            </a:r>
            <a:endParaRPr lang="es-PE" sz="1250" dirty="0"/>
          </a:p>
        </p:txBody>
      </p:sp>
      <p:pic>
        <p:nvPicPr>
          <p:cNvPr id="15" name="Image 3" descr="/tmp/claude-0/-home-user-compartamos-banco/f5aa2cae-8dfb-5efa-902a-389d1c1ca7cd/scratchpad/cbuild/a/s11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5423747"/>
            <a:ext cx="384048" cy="30818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88720" y="5385816"/>
            <a:ext cx="15025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altLang="en-US" sz="1250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Power Automate</a:t>
            </a:r>
            <a:endParaRPr lang="es-PE" sz="1250" dirty="0"/>
          </a:p>
        </p:txBody>
      </p:sp>
      <p:sp>
        <p:nvSpPr>
          <p:cNvPr id="18" name="Text 12"/>
          <p:cNvSpPr txBox="1"/>
          <p:nvPr/>
        </p:nvSpPr>
        <p:spPr>
          <a:xfrm>
            <a:off x="3431972" y="2788920"/>
            <a:ext cx="2142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Ecosistema Anthropic</a:t>
            </a:r>
            <a:endParaRPr lang="es-PE" sz="1400" dirty="0"/>
          </a:p>
        </p:txBody>
      </p:sp>
      <p:sp>
        <p:nvSpPr>
          <p:cNvPr id="19" name="Shape 13"/>
          <p:cNvSpPr/>
          <p:nvPr/>
        </p:nvSpPr>
        <p:spPr>
          <a:xfrm>
            <a:off x="3431972" y="3273552"/>
            <a:ext cx="2051228" cy="0"/>
          </a:xfrm>
          <a:prstGeom prst="line">
            <a:avLst/>
          </a:prstGeom>
          <a:noFill/>
          <a:ln w="15875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20" name="Image 4" descr="/tmp/claude-0/-home-user-compartamos-banco/f5aa2cae-8dfb-5efa-902a-389d1c1ca7cd/scratchpad/cbuild/a/s11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1972" y="3578064"/>
            <a:ext cx="1600200" cy="341951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3431972" y="4005072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Projects</a:t>
            </a:r>
            <a:endParaRPr lang="es-PE" sz="1200" dirty="0"/>
          </a:p>
        </p:txBody>
      </p:sp>
      <p:pic>
        <p:nvPicPr>
          <p:cNvPr id="22" name="Image 5" descr="/tmp/claude-0/-home-user-compartamos-banco/f5aa2cae-8dfb-5efa-902a-389d1c1ca7cd/scratchpad/cbuild/a/s11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1972" y="4812504"/>
            <a:ext cx="1600200" cy="341951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3431972" y="5239512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</a:t>
            </a:r>
            <a:endParaRPr lang="es-PE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6260440" y="2788920"/>
            <a:ext cx="2142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Ecosistema OpenAI</a:t>
            </a:r>
            <a:endParaRPr lang="es-PE" sz="1400" dirty="0"/>
          </a:p>
        </p:txBody>
      </p:sp>
      <p:sp>
        <p:nvSpPr>
          <p:cNvPr id="26" name="Shape 18"/>
          <p:cNvSpPr/>
          <p:nvPr/>
        </p:nvSpPr>
        <p:spPr>
          <a:xfrm>
            <a:off x="6260440" y="3273552"/>
            <a:ext cx="2051228" cy="0"/>
          </a:xfrm>
          <a:prstGeom prst="line">
            <a:avLst/>
          </a:prstGeom>
          <a:noFill/>
          <a:ln w="15875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27" name="Image 6" descr="/tmp/claude-0/-home-user-compartamos-banco/f5aa2cae-8dfb-5efa-902a-389d1c1ca7cd/scratchpad/cbuild/a/s11_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0440" y="3566160"/>
            <a:ext cx="1364512" cy="4572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260440" y="4096512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Projects</a:t>
            </a:r>
            <a:endParaRPr lang="es-PE" sz="1200" dirty="0"/>
          </a:p>
        </p:txBody>
      </p:sp>
      <p:pic>
        <p:nvPicPr>
          <p:cNvPr id="29" name="Image 7" descr="/tmp/claude-0/-home-user-compartamos-banco/f5aa2cae-8dfb-5efa-902a-389d1c1ca7cd/scratchpad/cbuild/a/s11_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0440" y="4803443"/>
            <a:ext cx="548640" cy="542955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6260440" y="5422392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Codex</a:t>
            </a:r>
            <a:endParaRPr lang="es-PE" sz="1200" dirty="0"/>
          </a:p>
        </p:txBody>
      </p:sp>
      <p:sp>
        <p:nvSpPr>
          <p:cNvPr id="32" name="Text 22"/>
          <p:cNvSpPr txBox="1"/>
          <p:nvPr/>
        </p:nvSpPr>
        <p:spPr>
          <a:xfrm>
            <a:off x="9098051" y="2788920"/>
            <a:ext cx="21426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Ecosistema Google</a:t>
            </a:r>
            <a:endParaRPr lang="es-PE" sz="1400" dirty="0"/>
          </a:p>
        </p:txBody>
      </p:sp>
      <p:sp>
        <p:nvSpPr>
          <p:cNvPr id="33" name="Shape 23"/>
          <p:cNvSpPr/>
          <p:nvPr/>
        </p:nvSpPr>
        <p:spPr>
          <a:xfrm>
            <a:off x="9098051" y="3273552"/>
            <a:ext cx="2051228" cy="0"/>
          </a:xfrm>
          <a:prstGeom prst="line">
            <a:avLst/>
          </a:prstGeom>
          <a:noFill/>
          <a:ln w="15875">
            <a:solidFill>
              <a:srgbClr val="6D4AB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34" name="Image 8" descr="/tmp/claude-0/-home-user-compartamos-banco/f5aa2cae-8dfb-5efa-902a-389d1c1ca7cd/scratchpad/cbuild/a/s11_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98051" y="3580236"/>
            <a:ext cx="1554480" cy="337608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9098051" y="4005072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200" b="1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Gems</a:t>
            </a:r>
            <a:endParaRPr lang="es-PE" sz="1200" dirty="0"/>
          </a:p>
        </p:txBody>
      </p:sp>
      <p:pic>
        <p:nvPicPr>
          <p:cNvPr id="36" name="Image 9" descr="/tmp/claude-0/-home-user-compartamos-banco/f5aa2cae-8dfb-5efa-902a-389d1c1ca7cd/scratchpad/cbuild/a/s11_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98051" y="4803326"/>
            <a:ext cx="1600200" cy="707781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3246120" y="2606040"/>
            <a:ext cx="10973" cy="3520440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80760" y="2606040"/>
            <a:ext cx="10973" cy="3520440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15400" y="2606040"/>
            <a:ext cx="10973" cy="3520440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mpartamos-banco/f5aa2cae-8dfb-5efa-902a-389d1c1ca7cd/scratchpad/cbuild/a/dark_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9436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CASOS REALES</a:t>
            </a:r>
            <a:endParaRPr lang="es-PE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118872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Resultados medidos con nuestros clientes</a:t>
            </a:r>
            <a:endParaRPr lang="es-PE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9019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D8D4E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logramos en cada frente</a:t>
            </a:r>
            <a:endParaRPr lang="es-PE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5146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PE" altLang="en-US" sz="13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Reputación y liderazgo</a:t>
            </a:r>
            <a:endParaRPr lang="es-PE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" y="3813048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PE" altLang="en-US" sz="13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Visibilidad y presencia digital</a:t>
            </a:r>
            <a:endParaRPr lang="es-PE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94360" y="5111496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s-PE" altLang="en-US" sz="1300" b="1" dirty="0">
                <a:solidFill>
                  <a:srgbClr val="C0B0F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Adopción y capacidades de IA</a:t>
            </a:r>
            <a:endParaRPr lang="es-PE" sz="1300" dirty="0"/>
          </a:p>
        </p:txBody>
      </p:sp>
      <p:pic>
        <p:nvPicPr>
          <p:cNvPr id="34" name="Picture 33" descr="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5368" y="384048"/>
            <a:ext cx="960120" cy="3383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19456" y="645566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76688" y="6419088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www.verne.la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2459736"/>
            <a:ext cx="11000232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" y="3758184"/>
            <a:ext cx="11000232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" y="5056632"/>
            <a:ext cx="11000232" cy="10973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80" y="2606040"/>
            <a:ext cx="4224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PetroTal · Embajadores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0" y="2898648"/>
            <a:ext cx="1408176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+180%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0" y="3447288"/>
            <a:ext cx="13167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interacciones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34256" y="2898648"/>
            <a:ext cx="1408176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+256%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34256" y="3447288"/>
            <a:ext cx="13167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publicaciones propias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42432" y="2898648"/>
            <a:ext cx="1408176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+13%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42432" y="3447288"/>
            <a:ext cx="13167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seguidores (+6,365)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79208" y="2606040"/>
            <a:ext cx="4224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Enel Perú · Marca Directiva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79208" y="2898648"/>
            <a:ext cx="1188720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+2 pts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79208" y="3447288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posicionamiento digital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67928" y="2898648"/>
            <a:ext cx="1005840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+68%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67928" y="344728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seguidores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73768" y="2898648"/>
            <a:ext cx="1005840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+35%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73768" y="344728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contenido propio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79608" y="2898648"/>
            <a:ext cx="1024128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+27%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79608" y="3447288"/>
            <a:ext cx="9326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interacciones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26080" y="3904488"/>
            <a:ext cx="4224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Promigas · Periodistas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926080" y="4197096"/>
            <a:ext cx="868680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146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26080" y="4745736"/>
            <a:ext cx="777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periodistas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94760" y="4197096"/>
            <a:ext cx="1188720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+7,000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94760" y="4745736"/>
            <a:ext cx="10972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reproducciones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83480" y="4197096"/>
            <a:ext cx="1069848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1,500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83480" y="4745736"/>
            <a:ext cx="9784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interacciones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53328" y="4224528"/>
            <a:ext cx="1051560" cy="5029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América TV, Infomercado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53328" y="4745736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cobertura en medios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79208" y="3904488"/>
            <a:ext cx="4224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InRetail Pharma · Diagnóstico GEO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79208" y="4197096"/>
            <a:ext cx="1408176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79208" y="4745736"/>
            <a:ext cx="13167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motores de IA auditados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87384" y="4197096"/>
            <a:ext cx="1408176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87384" y="4745736"/>
            <a:ext cx="13167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etapas de metodología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95560" y="4197096"/>
            <a:ext cx="1408176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195560" y="4745736"/>
            <a:ext cx="13167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frentes de escucha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26080" y="5202936"/>
            <a:ext cx="4224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D8D4EA"/>
                </a:solidFill>
                <a:latin typeface="Poppins"/>
                <a:ea typeface="Poppins"/>
                <a:cs typeface="Poppins"/>
              </a:rPr>
              <a:t>BCP · Champions de IA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926080" y="5495544"/>
            <a:ext cx="1408176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4.75/5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26080" y="6044184"/>
            <a:ext cx="13167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de satisfacción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34256" y="5495544"/>
            <a:ext cx="1408176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+140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34256" y="6044184"/>
            <a:ext cx="13167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colaboradores capacitados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742432" y="5495544"/>
            <a:ext cx="1408176" cy="53035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100%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742432" y="6044184"/>
            <a:ext cx="131673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0B0F4"/>
                </a:solidFill>
                <a:latin typeface="Poppins"/>
                <a:ea typeface="Poppins"/>
                <a:cs typeface="Poppins"/>
              </a:rPr>
              <a:t>aplicará lo aprendido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178040" y="2560320"/>
            <a:ext cx="10973" cy="2514600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94360" y="914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50" b="1" kern="0" spc="3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EQUIPO</a:t>
            </a:r>
            <a:endParaRPr lang="es-PE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1887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34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Nosotros te acompañamos</a:t>
            </a:r>
            <a:endParaRPr lang="es-PE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01952"/>
            <a:ext cx="11000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40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Potenciamos la comunicación digital en empresas, mejorando el posicionamiento y reputación de directivos y equipos.</a:t>
            </a:r>
            <a:endParaRPr lang="es-PE" sz="1400" dirty="0"/>
          </a:p>
        </p:txBody>
      </p:sp>
      <p:pic>
        <p:nvPicPr>
          <p:cNvPr id="6" name="Image 0" descr="/tmp/claude-0/-home-user-compartamos-banco/f5aa2cae-8dfb-5efa-902a-389d1c1ca7cd/scratchpad/cbuild/a/s1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77440"/>
            <a:ext cx="1325880" cy="1325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48840" y="24688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6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Víctor Lozano</a:t>
            </a:r>
            <a:endParaRPr lang="es-PE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2148840" y="3017520"/>
            <a:ext cx="390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00" b="1" kern="0" spc="2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DIRECTOR DE INNOVACIÓN</a:t>
            </a:r>
            <a:endParaRPr lang="es-PE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2148840" y="3310128"/>
            <a:ext cx="390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0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linkedin.com/in/victorlozanou</a:t>
            </a:r>
            <a:endParaRPr lang="es-PE" sz="1000" dirty="0"/>
          </a:p>
        </p:txBody>
      </p:sp>
      <p:sp>
        <p:nvSpPr>
          <p:cNvPr id="15" name="Shape 9"/>
          <p:cNvSpPr/>
          <p:nvPr/>
        </p:nvSpPr>
        <p:spPr>
          <a:xfrm>
            <a:off x="6095848" y="2377440"/>
            <a:ext cx="0" cy="3886200"/>
          </a:xfrm>
          <a:prstGeom prst="line">
            <a:avLst/>
          </a:prstGeom>
          <a:noFill/>
          <a:ln w="9525">
            <a:solidFill>
              <a:srgbClr val="E3E1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16" name="Image 4" descr="/tmp/claude-0/-home-user-compartamos-banco/f5aa2cae-8dfb-5efa-902a-389d1c1ca7cd/scratchpad/cbuild/a/s13_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7648" y="2377440"/>
            <a:ext cx="1325880" cy="132588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882128" y="24688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2600" b="1" dirty="0">
                <a:solidFill>
                  <a:srgbClr val="2528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Julio Talledo</a:t>
            </a:r>
            <a:endParaRPr lang="es-PE" sz="2000" dirty="0"/>
          </a:p>
        </p:txBody>
      </p:sp>
      <p:sp>
        <p:nvSpPr>
          <p:cNvPr id="18" name="Text 11"/>
          <p:cNvSpPr txBox="1"/>
          <p:nvPr/>
        </p:nvSpPr>
        <p:spPr>
          <a:xfrm>
            <a:off x="7882128" y="3017520"/>
            <a:ext cx="390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00" b="1" kern="0" spc="200" dirty="0">
                <a:solidFill>
                  <a:srgbClr val="6D4AB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DIRECTOR COMERCIAL &amp; MARKETING</a:t>
            </a:r>
            <a:endParaRPr lang="es-PE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7882128" y="3310128"/>
            <a:ext cx="3901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PE" altLang="en-US" sz="1000" dirty="0">
                <a:solidFill>
                  <a:srgbClr val="6B6E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linkedin.com/in/juliotalledo</a:t>
            </a:r>
            <a:endParaRPr lang="es-PE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594360" y="3886200"/>
            <a:ext cx="1325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78000"/>
              </a:lnSpc>
            </a:pPr>
            <a:r>
              <a:rPr sz="36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+20</a:t>
            </a:r>
          </a:p>
          <a:p>
            <a:pPr algn="l">
              <a:lnSpc>
                <a:spcPct val="78000"/>
              </a:lnSpc>
            </a:pPr>
            <a:r>
              <a:rPr sz="13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años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3931920"/>
            <a:ext cx="372160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de experiencia en Investigación de Mercados, Marketing Digital, Gestión de Marcas Directivas y Reputación.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4773168"/>
            <a:ext cx="5276088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882896"/>
            <a:ext cx="52760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300"/>
              </a:spcAft>
              <a:buClr>
                <a:srgbClr val="6D4ABE"/>
              </a:buClr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Poppins"/>
                <a:ea typeface="Poppins"/>
                <a:cs typeface="Poppins"/>
              </a:rPr>
              <a:t>Ha liderado estrategias de posicionamiento corporativo en Telecom, Banca, Consumo Masivo, Minería y Retail.</a:t>
            </a:r>
          </a:p>
          <a:p>
            <a:pPr algn="l" marL="182880" indent="-182880">
              <a:spcAft>
                <a:spcPts val="300"/>
              </a:spcAft>
              <a:buClr>
                <a:srgbClr val="6D4ABE"/>
              </a:buClr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Poppins"/>
                <a:ea typeface="Poppins"/>
                <a:cs typeface="Poppins"/>
              </a:rPr>
              <a:t>Maestría en Marketing y Transformación Digital por INCAE Business School.</a:t>
            </a:r>
          </a:p>
          <a:p>
            <a:pPr algn="l" marL="182880" indent="-182880">
              <a:spcAft>
                <a:spcPts val="300"/>
              </a:spcAft>
              <a:buClr>
                <a:srgbClr val="6D4ABE"/>
              </a:buClr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Poppins"/>
                <a:ea typeface="Poppins"/>
                <a:cs typeface="Poppins"/>
              </a:rPr>
              <a:t>Docente de Postgrado en Universidad de Piura y programas corporativos de UTEC. Columnista en Diario Gestión.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" y="6053328"/>
            <a:ext cx="1160138" cy="27432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65978" y="6053328"/>
            <a:ext cx="1129827" cy="27432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07285" y="6053328"/>
            <a:ext cx="1292911" cy="274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27648" y="3931920"/>
            <a:ext cx="52760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5283D"/>
                </a:solidFill>
                <a:latin typeface="Poppins"/>
                <a:ea typeface="Poppins"/>
                <a:cs typeface="Poppins"/>
              </a:rPr>
              <a:t>Especialista en </a:t>
            </a:r>
            <a:r>
              <a:rPr sz="1700" b="1">
                <a:solidFill>
                  <a:srgbClr val="6D4ABE"/>
                </a:solidFill>
                <a:latin typeface="Poppins"/>
                <a:ea typeface="Poppins"/>
                <a:cs typeface="Poppins"/>
              </a:rPr>
              <a:t>Marketing e Inteligencia Artificial Generativa.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27648" y="4773168"/>
            <a:ext cx="5276088" cy="10973"/>
          </a:xfrm>
          <a:prstGeom prst="rect">
            <a:avLst/>
          </a:prstGeom>
          <a:solidFill>
            <a:srgbClr val="E3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4882896"/>
            <a:ext cx="52760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300"/>
              </a:spcAft>
              <a:buClr>
                <a:srgbClr val="6D4ABE"/>
              </a:buClr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Poppins"/>
                <a:ea typeface="Poppins"/>
                <a:cs typeface="Poppins"/>
              </a:rPr>
              <a:t>Maestría en Marketing y Ventas por INCAE Business School.</a:t>
            </a:r>
          </a:p>
          <a:p>
            <a:pPr algn="l" marL="182880" indent="-182880">
              <a:spcAft>
                <a:spcPts val="300"/>
              </a:spcAft>
              <a:buClr>
                <a:srgbClr val="6D4ABE"/>
              </a:buClr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Poppins"/>
                <a:ea typeface="Poppins"/>
                <a:cs typeface="Poppins"/>
              </a:rPr>
              <a:t>Docente de IA Generativa en UDEP, CENTRUM PUCP, UPC y USIL.</a:t>
            </a:r>
          </a:p>
          <a:p>
            <a:pPr algn="l" marL="182880" indent="-182880">
              <a:spcAft>
                <a:spcPts val="300"/>
              </a:spcAft>
              <a:buClr>
                <a:srgbClr val="6D4ABE"/>
              </a:buClr>
              <a:buFont typeface="Arial"/>
              <a:buChar char="•"/>
            </a:pPr>
            <a:r>
              <a:rPr sz="1050" b="0">
                <a:solidFill>
                  <a:srgbClr val="333333"/>
                </a:solidFill>
                <a:latin typeface="Poppins"/>
                <a:ea typeface="Poppins"/>
                <a:cs typeface="Poppins"/>
              </a:rPr>
              <a:t>Ha colaborado con BCP, Grupo Romero, Universidad de Piura, Ransa, LAP, Bitel y más.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7648" y="6053328"/>
            <a:ext cx="1129827" cy="27432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68955" y="6053328"/>
            <a:ext cx="358203" cy="27432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38638" y="6053328"/>
            <a:ext cx="731520" cy="2743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1525</Words>
  <Application>Microsoft Macintosh PowerPoint</Application>
  <PresentationFormat>Panorámica</PresentationFormat>
  <Paragraphs>241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Poppins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Credenciales 2026</dc:title>
  <dc:subject>PptxGenJS Presentation</dc:subject>
  <dc:creator>Verne Comunicación e Innovación</dc:creator>
  <cp:lastModifiedBy>cielo corescob</cp:lastModifiedBy>
  <cp:revision>3</cp:revision>
  <dcterms:created xsi:type="dcterms:W3CDTF">2026-10-01T06:20:13Z</dcterms:created>
  <dcterms:modified xsi:type="dcterms:W3CDTF">2026-10-01T17:58:54Z</dcterms:modified>
</cp:coreProperties>
</file>