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2.jpg" ContentType="image/jpeg"/>
  <Override PartName="/ppt/media/image34.jpg" ContentType="image/jpeg"/>
  <Override PartName="/ppt/media/image35.jpg" ContentType="image/jpeg"/>
  <Override PartName="/ppt/media/image36.jpg" ContentType="image/jpeg"/>
  <Override PartName="/ppt/media/image50.jpg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0822"/>
  </p:normalViewPr>
  <p:slideViewPr>
    <p:cSldViewPr snapToGrid="0" snapToObjects="1">
      <p:cViewPr varScale="1">
        <p:scale>
          <a:sx n="101" d="100"/>
          <a:sy n="101" d="100"/>
        </p:scale>
        <p:origin x="15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2" d="100"/>
          <a:sy n="72" d="100"/>
        </p:scale>
        <p:origin x="4872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D468A17-14F2-0492-80D3-E68B7A915D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80F9C3C-E504-791C-BF65-E19B6CA87E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8ABE4-1F0C-5A4A-BB38-D28C5F4C7840}" type="datetimeFigureOut">
              <a:rPr lang="es-PE" smtClean="0"/>
              <a:t>1/10/26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E92177-3E7C-C5BB-200B-82E4DA03D01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6F8527-29A5-3940-FD05-718AD4DF87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73F708-9E72-5340-8196-40503EE965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5895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858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Apertura. VERNE: Consultora Estratégica de Comunicación Digital, potenciada con Inteligencia Artificial.</a:t>
            </a:r>
          </a:p>
          <a:p>
            <a:r>
              <a:t>www.verne.la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comunicación estratégica ya no vive solo en los medios. Hoy se juega en tres frentes:</a:t>
            </a:r>
          </a:p>
          <a:p/>
          <a:p>
            <a:r>
              <a:t>1. Reputación y liderazgo — 3x más confianza cuando la información la comparte un directivo o colaborador que la cuenta institucional (Fuente: Edelman Trust Barometer).</a:t>
            </a:r>
          </a:p>
          <a:p>
            <a:r>
              <a:t>Posicionamos a la marca corporativa, a sus líderes y embajadores en el ecosistema digital.</a:t>
            </a:r>
          </a:p>
          <a:p/>
          <a:p>
            <a:r>
              <a:t>2. Visibilidad y presencia digital — 70% de los consumidores peruanos usa IA para informarse antes de comprar o contratar (Fuente: Impronta Research, ago 2025).</a:t>
            </a:r>
          </a:p>
          <a:p>
            <a:r>
              <a:t>Logramos que te encuentren, citen y recomienden en buscadores, IA y medios.</a:t>
            </a:r>
          </a:p>
          <a:p/>
          <a:p>
            <a:r>
              <a:t>3. Adopción y capacidades de IA — 90% de las áreas de Comunicación y Marketing en el mundo ya experimenta con IA (Fuente: McKinsey, 2026).</a:t>
            </a:r>
          </a:p>
          <a:p>
            <a:r>
              <a:t>Habilitamos a los equipos para usar IA generativa en su día a día.</a:t>
            </a:r>
          </a:p>
          <a:p/>
          <a:p>
            <a:r>
              <a:t>Cierre: Ni solo tecnología ni solo comunicación tradicional.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Confían en nosotros: empresas líderes de sectores regulados y competitivos.</a:t>
            </a:r>
          </a:p>
          <a:p>
            <a:r>
              <a:t>Sectores: Energía, Minería e Hidrocarburos · Banca y Servicios Financieros · Consumo, Retail e Industria · Educación, Servicios e Infraestructura.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Nuestros servicios se organizan en dos modalidades para cada uno de los tres frentes:</a:t>
            </a:r>
          </a:p>
          <a:p>
            <a:r>
              <a:t>- CONSULTORÍA (lo hacemos por ti)</a:t>
            </a:r>
          </a:p>
          <a:p>
            <a:r>
              <a:t>- FORMACIÓN (habilitamos a tu equipo)</a:t>
            </a:r>
          </a:p>
          <a:p/>
          <a:p>
            <a:r>
              <a:t>1. Reputación y liderazgo — Consultoría: Marca Directiva y Corporativa; Embajadores digitales. Formación: Talleres de Marca Directiva y Embajadores.</a:t>
            </a:r>
          </a:p>
          <a:p>
            <a:r>
              <a:t>2. Visibilidad y presencia digital — Consultoría: Posicionamiento GEO; Marketing de Contenidos; Asuntos Públicos. Formación: Formación para periodistas; Political Intelligence AI.</a:t>
            </a:r>
          </a:p>
          <a:p>
            <a:r>
              <a:t>3. Adopción y capacidades de IA — Consultoría: Diagnóstico de madurez digital; Agentic AI Studio; Agentic AI Reputation; GEO Rank; Data Pulse. Formación: Talleres de IA, data y automatización; Taller de IA para comunicación y MKT; Claude AI para empresas; Taller IA Agéntica.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Construimos la marca de tu empresa a través de la voz de sus líderes. Los líderes cambian, la marca permanece.</a:t>
            </a:r>
          </a:p>
          <a:p/>
          <a:p>
            <a:r>
              <a:t>Marca Corporativa: la reputación y credibilidad de la empresa en el ecosistema digital. Es lo que permanece.</a:t>
            </a:r>
          </a:p>
          <a:p>
            <a:r>
              <a:t>Marca Directiva: tus C-level, directivos y voceros dan rostro y voz a esa narrativa. Es lo que la amplifica.</a:t>
            </a:r>
          </a:p>
          <a:p/>
          <a:p>
            <a:r>
              <a:t>Cómo trabajamos:</a:t>
            </a:r>
          </a:p>
          <a:p>
            <a:r>
              <a:t>01 Diagnóstico — Analizamos la presencia digital de la empresa y de sus directivos, y la comparamos con la de sus pares en la industria.</a:t>
            </a:r>
          </a:p>
          <a:p>
            <a:r>
              <a:t>02 Estrategia — Definimos la narrativa corporativa, los ejes de contenido y el rol de cada vocero, para que el mensaje sea de la empresa y no dependa de una sola persona.</a:t>
            </a:r>
          </a:p>
          <a:p>
            <a:r>
              <a:t>03 Gestión — Creamos contenidos, acompañamos a los voceros y medimos el desempeño de la marca corporativa y de sus líderes.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Amplificamos la comunicación corporativa a través de tus colaboradores, quienes hablan como la voz más genuina de la marca.</a:t>
            </a:r>
          </a:p>
          <a:p/>
          <a:p>
            <a:r>
              <a:t>01 Estrategia — Seleccionamos y activamos embajadores alineados a los objetivos de la marca.</a:t>
            </a:r>
          </a:p>
          <a:p>
            <a:r>
              <a:t>02 Acompañamiento — Buenas prácticas, benchmark y co-creación de contenidos, con soporte continuo.</a:t>
            </a:r>
          </a:p>
          <a:p>
            <a:r>
              <a:t>03 Medición — Data pública, matriz de evaluación e informe mensual de desempeño, con Data Pulse.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Logramos que la IA cite y recomiende a tu marca. Trabajamos para que ChatGPT, Google AI Overview, Perplexity y Claude te mencionen en tu categoría.</a:t>
            </a:r>
          </a:p>
          <a:p/>
          <a:p>
            <a:r>
              <a:t>01 Diagnóstico (15 días) — Una radiografía de cómo aparece tu marca frente a la competencia, con brechas y oportunidades.</a:t>
            </a:r>
          </a:p>
          <a:p>
            <a:r>
              <a:t>02 Estrategia (15 días) — Definimos narrativas, arquitectura de contenidos y el recorrido del usuario en la IA.</a:t>
            </a:r>
          </a:p>
          <a:p>
            <a:r>
              <a:t>03 Implementación (60 días) — Parrilla GEO, producción de contenidos y verificación de citación en las IAs.</a:t>
            </a:r>
          </a:p>
          <a:p/>
          <a:p>
            <a:r>
              <a:t>Resultados medibles en visibilidad, posición, citaciones y share of voice en IA.</a:t>
            </a:r>
          </a:p>
          <a:p>
            <a:r>
              <a:t>Clientes: Gloria · 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 decimos qué tan bien usan tus equipos la IA y dónde invertir primero. Los niveles se inspiran en el modelo CMMI.</a:t>
            </a:r>
          </a:p>
          <a:p/>
          <a:p>
            <a:r>
              <a:t>01 Medimos la adopción — A través de una encuesta digital representativa y entrevistas a profundidad con quienes deciden, habilitan y construyen soluciones.</a:t>
            </a:r>
          </a:p>
          <a:p>
            <a:r>
              <a:t>02 Comparamos — Ubicamos a cada área en una escala de 5 niveles según su uso de IA generativa, automatización y datos. Cada una se mide con 7 indicadores, como autonomía, impacto y capacitación.</a:t>
            </a:r>
          </a:p>
          <a:p>
            <a:r>
              <a:t>03 Priorizamos — Dashboard interactivo, informe ejecutivo, segmentación de gerencias y hoja de ruta a 0-3, 3-9 y 9-18 meses.</a:t>
            </a:r>
          </a:p>
          <a:p/>
          <a:p>
            <a:r>
              <a:t>Clientes: BCP / Credicorp · Primax.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Nuestras cuatro soluciones de Inteligencia Artificial:</a:t>
            </a:r>
          </a:p>
          <a:p/>
          <a:p>
            <a:r>
              <a:t>Agentic AI Studio — Estudio de contenidos con agentes de IA. Desde el ADN de tu marca, los agentes crean piezas multiformato listas para aprobar en minutos.</a:t>
            </a:r>
          </a:p>
          <a:p>
            <a:r>
              <a:t>Agentic AI Reputation — Consultor de reputación. Asesora ante cualquier situación que afecte tu reputación con base histórica del negocio y la reputación.</a:t>
            </a:r>
          </a:p>
          <a:p>
            <a:r>
              <a:t>GEO Rank — Plataforma de monitoreo GEO. Mide la visibilidad, las citas y la veracidad de tu marca en las IAs, y traza la ruta para posicionarte.</a:t>
            </a:r>
          </a:p>
          <a:p>
            <a:r>
              <a:t>Data Pulse — Tracking de performance de embajadores digitales. Mide el desempeño de tus embajadores y convierte la data en acciones de comunicación.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Temario y casos a medida para cada empresa. Habilitamos a tu equipo para que trabaje con IA y lo haga por sí mismo.</a:t>
            </a:r>
          </a:p>
          <a:p/>
          <a:p>
            <a:r>
              <a:t>1. Reputación y liderazgo — Voceros creíbles</a:t>
            </a:r>
          </a:p>
          <a:p>
            <a:r>
              <a:t>- Marca Directiva y Embajadores: líderes y colaboradores aprenden a comunicar con credibilidad en el entorno digital.</a:t>
            </a:r>
          </a:p>
          <a:p/>
          <a:p>
            <a:r>
              <a:t>2. Visibilidad y presencia digital — Prensa y entorno digital como aliados</a:t>
            </a:r>
          </a:p>
          <a:p>
            <a:r>
              <a:t>- Formación para periodistas: IA generativa aplicada al periodismo, con conferencia, taller práctico y certificado co-branding.</a:t>
            </a:r>
          </a:p>
          <a:p>
            <a:r>
              <a:t>- Political Intelligence AI: exposiciones y talleres de una hora sobre coyuntura política.</a:t>
            </a:r>
          </a:p>
          <a:p/>
          <a:p>
            <a:r>
              <a:t>3. Adopción y capacidades de IA — De la teoría al uso real de la IA</a:t>
            </a:r>
          </a:p>
          <a:p>
            <a:r>
              <a:t>- IA, data y automatización: Copilot Studio y Power Platform aplicados a casos reales del área.</a:t>
            </a:r>
          </a:p>
          <a:p>
            <a:r>
              <a:t>- IA para comunicación y marketing: IA generativa aplicada al análisis de data y a los flujos de contenido, campañas y ventas.</a:t>
            </a:r>
          </a:p>
          <a:p>
            <a:r>
              <a:t>- Claude AI para empresas: implementación y onboarding del área para sistematizar el trabajo con IA en el día a día.</a:t>
            </a:r>
          </a:p>
          <a:p>
            <a:r>
              <a:t>- Taller IA Agéntica: tu equipo aprende a crear y usar agentes de IA que ejecutan tareas de comunicación y marketing de principio a fin.</a:t>
            </a:r>
          </a:p>
          <a:p/>
          <a:p>
            <a:r>
              <a:t>Clientes: BCP · Pacífico Seguros · Interbank · Antapaccay · Petrotal.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Trabajamos con los principales ecosistemas de IA y automatización:</a:t>
            </a:r>
          </a:p>
          <a:p>
            <a:r>
              <a:t>- Ecosistema Microsoft: Copilot Studio, Power Apps, Power BI, Power Automate.</a:t>
            </a:r>
          </a:p>
          <a:p>
            <a:r>
              <a:t>- Ecosistema Anthropic: Claude Projects, Claude Code.</a:t>
            </a:r>
          </a:p>
          <a:p>
            <a:r>
              <a:t>- Ecosistema OpenAI: ChatGPT Projects, Codex.</a:t>
            </a:r>
          </a:p>
          <a:p>
            <a:r>
              <a:t>- Ecosistema Google: Gemini Gems, Nano Banana.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Resultados medidos con nuestros clientes: lo que logramos en cada frente.</a:t>
            </a:r>
          </a:p>
          <a:p/>
          <a:p>
            <a:r>
              <a:t>Reputación y liderazgo</a:t>
            </a:r>
          </a:p>
          <a:p>
            <a:r>
              <a:t>- PetroTal · Embajadores: +180% interacciones; +256% publicaciones propias; +13% seguidores (+6,365).</a:t>
            </a:r>
          </a:p>
          <a:p>
            <a:r>
              <a:t>- Enel Perú · Marca Directiva (Marco Fragale): +2 pts posicionamiento digital; +68% seguidores; +35% contenido propio; +27% interacciones.</a:t>
            </a:r>
          </a:p>
          <a:p/>
          <a:p>
            <a:r>
              <a:t>Visibilidad y presencia digital</a:t>
            </a:r>
          </a:p>
          <a:p>
            <a:r>
              <a:t>- Promigas · Periodistas: 146 periodistas; +7,000 reproducciones; 1,500 interacciones; cobertura en medios (América TV, Infomercado).</a:t>
            </a:r>
          </a:p>
          <a:p>
            <a:r>
              <a:t>- InRetail Pharma · Diagnóstico GEO: caso de diagnóstico. 3 motores de IA auditados (ChatGPT, Gemini, Perplexity); metodología en 3 etapas; 2 frentes de escucha.</a:t>
            </a:r>
          </a:p>
          <a:p/>
          <a:p>
            <a:r>
              <a:t>Adopción y capacidades de IA</a:t>
            </a:r>
          </a:p>
          <a:p>
            <a:r>
              <a:t>- BCP · Champions de IA: 4.75/5 de satisfacción; +140 colaboradores capacitados; 100% aplicará lo aprendido.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Nosotros te acompañamos. Potenciamos la comunicación digital en empresas, mejorando el posicionamiento y reputación de directivos y equipos.</a:t>
            </a:r>
          </a:p>
          <a:p/>
          <a:p>
            <a:r>
              <a:t>Víctor Lozano — Director de Innovación (linkedin.com/in/victorlozanou)</a:t>
            </a:r>
          </a:p>
          <a:p>
            <a:r>
              <a:t>- +20 años de experiencia en Investigación de Mercados, Marketing Digital, Gestión de Marcas Directivas y Reputación.</a:t>
            </a:r>
          </a:p>
          <a:p>
            <a:r>
              <a:t>- Ha liderado estrategias de posicionamiento corporativo en Telecom, Banca, Consumo Masivo, Minería y Retail.</a:t>
            </a:r>
          </a:p>
          <a:p>
            <a:r>
              <a:t>- Maestría en Marketing y Transformación Digital por INCAE Business School.</a:t>
            </a:r>
          </a:p>
          <a:p>
            <a:r>
              <a:t>- Docente de Postgrado en Universidad de Piura y programas corporativos de UTEC. Columnista en Diario Gestión.</a:t>
            </a:r>
          </a:p>
          <a:p/>
          <a:p>
            <a:r>
              <a:t>Julio Talledo — Director Comercial &amp; Marketing (linkedin.com/in/juliotalledo)</a:t>
            </a:r>
          </a:p>
          <a:p>
            <a:r>
              <a:t>- Especialista en Marketing e Inteligencia Artificial Generativa. Director Comercial y de Marketing de Verne.</a:t>
            </a:r>
          </a:p>
          <a:p>
            <a:r>
              <a:t>- Maestría en Marketing y Ventas por INCAE Business School.</a:t>
            </a:r>
          </a:p>
          <a:p>
            <a:r>
              <a:t>- Docente de IA Generativa en UDEP, CENTRUM PUCP, UPC y USIL.</a:t>
            </a:r>
          </a:p>
          <a:p>
            <a:r>
              <a:t>- Ha colaborado con BCP, Grupo Romero, Universidad de Piura, Ransa, LAP, Bitel y más.</a:t>
            </a:r>
          </a:p>
          <a:p/>
          <a:p>
            <a:r>
              <a:t>www.verne.la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186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177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tamos-banco/f5aa2cae-8dfb-5efa-902a-389d1c1ca7cd/scratchpad/build/a/verne_purple.png">
            <a:extLst>
              <a:ext uri="{FF2B5EF4-FFF2-40B4-BE49-F238E27FC236}">
                <a16:creationId xmlns:a16="http://schemas.microsoft.com/office/drawing/2014/main" id="{FBB6DC3B-FB91-824D-CEFF-13DEA329E6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45368" y="384048"/>
            <a:ext cx="960120" cy="337771"/>
          </a:xfrm>
          <a:prstGeom prst="rect">
            <a:avLst/>
          </a:prstGeom>
        </p:spPr>
      </p:pic>
      <p:sp>
        <p:nvSpPr>
          <p:cNvPr id="3" name="Text 19">
            <a:extLst>
              <a:ext uri="{FF2B5EF4-FFF2-40B4-BE49-F238E27FC236}">
                <a16:creationId xmlns:a16="http://schemas.microsoft.com/office/drawing/2014/main" id="{7A0CFB29-85BB-E5E4-3FF9-FD0648AF6788}"/>
              </a:ext>
            </a:extLst>
          </p:cNvPr>
          <p:cNvSpPr txBox="1"/>
          <p:nvPr userDrawn="1"/>
        </p:nvSpPr>
        <p:spPr>
          <a:xfrm>
            <a:off x="10076688" y="6419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900" dirty="0">
                <a:solidFill>
                  <a:srgbClr val="8A8C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www.verne.la</a:t>
            </a:r>
            <a:endParaRPr lang="es-PE" sz="900" dirty="0"/>
          </a:p>
        </p:txBody>
      </p:sp>
      <p:sp>
        <p:nvSpPr>
          <p:cNvPr id="5" name="Google Shape;6;g3a6107b0a18_10_0">
            <a:extLst>
              <a:ext uri="{FF2B5EF4-FFF2-40B4-BE49-F238E27FC236}">
                <a16:creationId xmlns:a16="http://schemas.microsoft.com/office/drawing/2014/main" id="{6C4E5576-B09F-ADF2-2BBB-D511D116F8AB}"/>
              </a:ext>
            </a:extLst>
          </p:cNvPr>
          <p:cNvSpPr txBox="1"/>
          <p:nvPr userDrawn="1"/>
        </p:nvSpPr>
        <p:spPr>
          <a:xfrm>
            <a:off x="-255255" y="6453553"/>
            <a:ext cx="92960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 sz="1100" b="1" i="0" u="none" strike="noStrike" cap="none">
                <a:solidFill>
                  <a:srgbClr val="25283D"/>
                </a:solidFill>
                <a:latin typeface="Poppins"/>
                <a:ea typeface="Poppins"/>
                <a:cs typeface="Poppins"/>
                <a:sym typeface="Poppins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t>‹Nº›</a:t>
            </a:fld>
            <a:endParaRPr sz="1100" b="1" i="0" u="none" strike="noStrike" cap="none" dirty="0">
              <a:solidFill>
                <a:srgbClr val="25283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189482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Relationship Id="rId29" Type="http://schemas.openxmlformats.org/officeDocument/2006/relationships/image" Target="../media/image29.png"/><Relationship Id="rId30" Type="http://schemas.openxmlformats.org/officeDocument/2006/relationships/image" Target="../media/image30.png"/><Relationship Id="rId31" Type="http://schemas.openxmlformats.org/officeDocument/2006/relationships/image" Target="../media/image31.png"/><Relationship Id="rId32" Type="http://schemas.openxmlformats.org/officeDocument/2006/relationships/image" Target="../media/image32.png"/><Relationship Id="rId33" Type="http://schemas.openxmlformats.org/officeDocument/2006/relationships/image" Target="../media/image3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4.jpg"/><Relationship Id="rId4" Type="http://schemas.openxmlformats.org/officeDocument/2006/relationships/image" Target="../media/image25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32.png"/><Relationship Id="rId9" Type="http://schemas.openxmlformats.org/officeDocument/2006/relationships/image" Target="../media/image6.png"/><Relationship Id="rId10" Type="http://schemas.openxmlformats.org/officeDocument/2006/relationships/image" Target="../media/image14.png"/><Relationship Id="rId11" Type="http://schemas.openxmlformats.org/officeDocument/2006/relationships/image" Target="../media/image13.png"/><Relationship Id="rId12" Type="http://schemas.openxmlformats.org/officeDocument/2006/relationships/image" Target="../media/image15.png"/><Relationship Id="rId13" Type="http://schemas.openxmlformats.org/officeDocument/2006/relationships/image" Target="../media/image20.png"/><Relationship Id="rId14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jp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9.png"/><Relationship Id="rId8" Type="http://schemas.openxmlformats.org/officeDocument/2006/relationships/image" Target="../media/image3.png"/><Relationship Id="rId9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jp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tamos-banco/f5aa2cae-8dfb-5efa-902a-389d1c1ca7cd/scratchpad/cbuild/a/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14884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PE" alt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Consultora Estratégica de Comunicación Digital, potenciada con Inteligencia Artificial</a:t>
            </a:r>
            <a:endParaRPr lang="es-PE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1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www.verne.la</a:t>
            </a:r>
            <a:endParaRPr lang="es-PE" sz="1100" dirty="0"/>
          </a:p>
        </p:txBody>
      </p:sp>
      <p:sp>
        <p:nvSpPr>
          <p:cNvPr id="3" name="Text 0"/>
          <p:cNvSpPr txBox="1"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verne</a:t>
            </a:r>
            <a:r>
              <a:rPr lang="es-PE" altLang="en-US" sz="85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Comunicación e Innovación</a:t>
            </a:r>
            <a:endParaRPr lang="es-PE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9436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QUIÉNES SOMOS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nexo entre la comunicación y la IA</a:t>
            </a:r>
            <a:endParaRPr lang="es-PE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59436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s-PE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24712" y="2331720"/>
            <a:ext cx="28142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35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Reputación y liderazgo</a:t>
            </a:r>
            <a:endParaRPr lang="es-PE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788920"/>
            <a:ext cx="334457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76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3x</a:t>
            </a:r>
            <a:endParaRPr lang="es-PE" sz="58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4114800"/>
            <a:ext cx="33628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2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más confianza cuando la información la comparte un directivo o colaborador que la cuenta institucional.</a:t>
            </a:r>
            <a:endParaRPr lang="es-PE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983480"/>
            <a:ext cx="3362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900" i="1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Fuente. Edelman Trust Barometer</a:t>
            </a:r>
            <a:endParaRPr lang="es-PE" sz="900" dirty="0"/>
          </a:p>
        </p:txBody>
      </p:sp>
      <p:sp>
        <p:nvSpPr>
          <p:cNvPr id="14" name="Shape 12"/>
          <p:cNvSpPr/>
          <p:nvPr/>
        </p:nvSpPr>
        <p:spPr>
          <a:xfrm>
            <a:off x="4185818" y="2331720"/>
            <a:ext cx="0" cy="292608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4414418" y="233172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 txBox="1"/>
          <p:nvPr/>
        </p:nvSpPr>
        <p:spPr>
          <a:xfrm>
            <a:off x="4414418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s-PE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944770" y="2331720"/>
            <a:ext cx="28142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35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Visibilidad y presencia digital</a:t>
            </a:r>
            <a:endParaRPr lang="es-PE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14418" y="2788920"/>
            <a:ext cx="33628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76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</a:t>
            </a:r>
            <a:endParaRPr lang="es-PE" sz="5800" dirty="0"/>
          </a:p>
        </p:txBody>
      </p:sp>
      <p:sp>
        <p:nvSpPr>
          <p:cNvPr id="19" name="Text 17"/>
          <p:cNvSpPr txBox="1"/>
          <p:nvPr/>
        </p:nvSpPr>
        <p:spPr>
          <a:xfrm>
            <a:off x="4414418" y="4114800"/>
            <a:ext cx="33628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2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los consumidores peruanos usa IA para informarse antes de comprar o contratar.</a:t>
            </a:r>
            <a:endParaRPr lang="es-PE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414418" y="4983480"/>
            <a:ext cx="3362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900" i="1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Fuente. Impronta Research, ago 2025</a:t>
            </a:r>
            <a:endParaRPr lang="es-PE" sz="900" dirty="0"/>
          </a:p>
        </p:txBody>
      </p:sp>
      <p:sp>
        <p:nvSpPr>
          <p:cNvPr id="23" name="Shape 21"/>
          <p:cNvSpPr/>
          <p:nvPr/>
        </p:nvSpPr>
        <p:spPr>
          <a:xfrm>
            <a:off x="8005877" y="2331720"/>
            <a:ext cx="0" cy="292608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8234477" y="233172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 txBox="1"/>
          <p:nvPr/>
        </p:nvSpPr>
        <p:spPr>
          <a:xfrm>
            <a:off x="8234477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s-PE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64829" y="2331720"/>
            <a:ext cx="28142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35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Adopción y capacidades de IA</a:t>
            </a:r>
            <a:endParaRPr lang="es-PE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234477" y="2788920"/>
            <a:ext cx="33628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76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90%</a:t>
            </a:r>
            <a:endParaRPr lang="es-PE" sz="5800" dirty="0"/>
          </a:p>
        </p:txBody>
      </p:sp>
      <p:sp>
        <p:nvSpPr>
          <p:cNvPr id="28" name="Text 26"/>
          <p:cNvSpPr txBox="1"/>
          <p:nvPr/>
        </p:nvSpPr>
        <p:spPr>
          <a:xfrm>
            <a:off x="8234477" y="4114800"/>
            <a:ext cx="33628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2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las áreas de Comunicación y Marketing en el mundo ya experimenta con IA.</a:t>
            </a:r>
            <a:endParaRPr lang="es-PE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234477" y="4983480"/>
            <a:ext cx="3362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900" i="1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Fuente. McKinsey, 2026</a:t>
            </a:r>
            <a:endParaRPr lang="es-PE" sz="900" dirty="0"/>
          </a:p>
        </p:txBody>
      </p:sp>
      <p:sp>
        <p:nvSpPr>
          <p:cNvPr id="32" name="Shape 30"/>
          <p:cNvSpPr/>
          <p:nvPr/>
        </p:nvSpPr>
        <p:spPr>
          <a:xfrm>
            <a:off x="594360" y="5870448"/>
            <a:ext cx="11002975" cy="457200"/>
          </a:xfrm>
          <a:prstGeom prst="rect">
            <a:avLst/>
          </a:prstGeom>
          <a:solidFill>
            <a:srgbClr val="25283D"/>
          </a:solidFill>
          <a:ln w="12700">
            <a:solidFill>
              <a:srgbClr val="2528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 txBox="1"/>
          <p:nvPr/>
        </p:nvSpPr>
        <p:spPr>
          <a:xfrm>
            <a:off x="594360" y="5870448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 solo tecnología ni solo comunicación tradicional.</a:t>
            </a:r>
            <a:endParaRPr lang="es-PE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94360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QUIÉNES TRABAJAMOS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Confían en nosotros</a:t>
            </a:r>
            <a:endParaRPr lang="es-PE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019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Empresas líderes de sectores regulados y competitivos.</a:t>
            </a:r>
            <a:endParaRPr lang="es-PE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514600"/>
            <a:ext cx="5364328" cy="196596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594360" y="2514600"/>
            <a:ext cx="91" cy="196596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 txBox="1"/>
          <p:nvPr/>
        </p:nvSpPr>
        <p:spPr>
          <a:xfrm>
            <a:off x="868680" y="2679192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5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Energía, Minería e Hidrocarburos</a:t>
            </a:r>
            <a:endParaRPr lang="es-PE" sz="1250" dirty="0"/>
          </a:p>
        </p:txBody>
      </p:sp>
      <p:pic>
        <p:nvPicPr>
          <p:cNvPr id="9" name="Image 0" descr="/tmp/claude-0/-home-user-compartamos-banco/f5aa2cae-8dfb-5efa-902a-389d1c1ca7cd/scratchpad/cbuild/a/s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161426"/>
            <a:ext cx="798546" cy="169388"/>
          </a:xfrm>
          <a:prstGeom prst="rect">
            <a:avLst/>
          </a:prstGeom>
        </p:spPr>
      </p:pic>
      <p:pic>
        <p:nvPicPr>
          <p:cNvPr id="10" name="Image 1" descr="/tmp/claude-0/-home-user-compartamos-banco/f5aa2cae-8dfb-5efa-902a-389d1c1ca7cd/scratchpad/cbuild/a/s3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6035" y="3081528"/>
            <a:ext cx="244974" cy="329184"/>
          </a:xfrm>
          <a:prstGeom prst="rect">
            <a:avLst/>
          </a:prstGeom>
        </p:spPr>
      </p:pic>
      <p:pic>
        <p:nvPicPr>
          <p:cNvPr id="11" name="Image 2" descr="/tmp/claude-0/-home-user-compartamos-banco/f5aa2cae-8dfb-5efa-902a-389d1c1ca7cd/scratchpad/cbuild/a/s3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1244" y="3081528"/>
            <a:ext cx="670560" cy="329184"/>
          </a:xfrm>
          <a:prstGeom prst="rect">
            <a:avLst/>
          </a:prstGeom>
        </p:spPr>
      </p:pic>
      <p:pic>
        <p:nvPicPr>
          <p:cNvPr id="12" name="Image 3" descr="/tmp/claude-0/-home-user-compartamos-banco/f5aa2cae-8dfb-5efa-902a-389d1c1ca7cd/scratchpad/cbuild/a/s3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5253" y="3163827"/>
            <a:ext cx="798546" cy="164586"/>
          </a:xfrm>
          <a:prstGeom prst="rect">
            <a:avLst/>
          </a:prstGeom>
        </p:spPr>
      </p:pic>
      <p:pic>
        <p:nvPicPr>
          <p:cNvPr id="13" name="Image 4" descr="/tmp/claude-0/-home-user-compartamos-banco/f5aa2cae-8dfb-5efa-902a-389d1c1ca7cd/scratchpad/cbuild/a/s3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3254" y="3118353"/>
            <a:ext cx="798546" cy="255535"/>
          </a:xfrm>
          <a:prstGeom prst="rect">
            <a:avLst/>
          </a:prstGeom>
        </p:spPr>
      </p:pic>
      <p:pic>
        <p:nvPicPr>
          <p:cNvPr id="14" name="Image 5" descr="/tmp/claude-0/-home-user-compartamos-banco/f5aa2cae-8dfb-5efa-902a-389d1c1ca7cd/scratchpad/cbuild/a/s3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927" y="3538728"/>
            <a:ext cx="755187" cy="329184"/>
          </a:xfrm>
          <a:prstGeom prst="rect">
            <a:avLst/>
          </a:prstGeom>
        </p:spPr>
      </p:pic>
      <p:pic>
        <p:nvPicPr>
          <p:cNvPr id="15" name="Image 6" descr="/tmp/claude-0/-home-user-compartamos-banco/f5aa2cae-8dfb-5efa-902a-389d1c1ca7cd/scratchpad/cbuild/a/s3_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9250" y="3563815"/>
            <a:ext cx="798546" cy="279010"/>
          </a:xfrm>
          <a:prstGeom prst="rect">
            <a:avLst/>
          </a:prstGeom>
        </p:spPr>
      </p:pic>
      <p:pic>
        <p:nvPicPr>
          <p:cNvPr id="16" name="Image 7" descr="/tmp/claude-0/-home-user-compartamos-banco/f5aa2cae-8dfb-5efa-902a-389d1c1ca7cd/scratchpad/cbuild/a/s3_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7251" y="3559831"/>
            <a:ext cx="798546" cy="286977"/>
          </a:xfrm>
          <a:prstGeom prst="rect">
            <a:avLst/>
          </a:prstGeom>
        </p:spPr>
      </p:pic>
      <p:pic>
        <p:nvPicPr>
          <p:cNvPr id="17" name="Image 8" descr="/tmp/claude-0/-home-user-compartamos-banco/f5aa2cae-8dfb-5efa-902a-389d1c1ca7cd/scratchpad/cbuild/a/s3_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253" y="3547083"/>
            <a:ext cx="798546" cy="312474"/>
          </a:xfrm>
          <a:prstGeom prst="rect">
            <a:avLst/>
          </a:prstGeom>
        </p:spPr>
      </p:pic>
      <p:pic>
        <p:nvPicPr>
          <p:cNvPr id="18" name="Image 9" descr="/tmp/claude-0/-home-user-compartamos-banco/f5aa2cae-8dfb-5efa-902a-389d1c1ca7cd/scratchpad/cbuild/a/s3_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0978" y="3538728"/>
            <a:ext cx="623098" cy="329184"/>
          </a:xfrm>
          <a:prstGeom prst="rect">
            <a:avLst/>
          </a:prstGeom>
        </p:spPr>
      </p:pic>
      <p:pic>
        <p:nvPicPr>
          <p:cNvPr id="19" name="Image 10" descr="/tmp/claude-0/-home-user-compartamos-banco/f5aa2cae-8dfb-5efa-902a-389d1c1ca7cd/scratchpad/cbuild/a/s3_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33079" y="3995928"/>
            <a:ext cx="650887" cy="329184"/>
          </a:xfrm>
          <a:prstGeom prst="rect">
            <a:avLst/>
          </a:prstGeom>
        </p:spPr>
      </p:pic>
      <p:pic>
        <p:nvPicPr>
          <p:cNvPr id="20" name="Image 11" descr="/tmp/claude-0/-home-user-compartamos-banco/f5aa2cae-8dfb-5efa-902a-389d1c1ca7cd/scratchpad/cbuild/a/s3_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77251" y="4042639"/>
            <a:ext cx="798546" cy="235761"/>
          </a:xfrm>
          <a:prstGeom prst="rect">
            <a:avLst/>
          </a:prstGeom>
        </p:spPr>
      </p:pic>
      <p:pic>
        <p:nvPicPr>
          <p:cNvPr id="21" name="Image 12" descr="/tmp/claude-0/-home-user-compartamos-banco/f5aa2cae-8dfb-5efa-902a-389d1c1ca7cd/scratchpad/cbuild/a/s3_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01749" y="3995928"/>
            <a:ext cx="785553" cy="329184"/>
          </a:xfrm>
          <a:prstGeom prst="rect">
            <a:avLst/>
          </a:prstGeom>
        </p:spPr>
      </p:pic>
      <p:sp>
        <p:nvSpPr>
          <p:cNvPr id="22" name="Shape 7"/>
          <p:cNvSpPr/>
          <p:nvPr/>
        </p:nvSpPr>
        <p:spPr>
          <a:xfrm>
            <a:off x="6233008" y="2514600"/>
            <a:ext cx="5364328" cy="196596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Shape 8"/>
          <p:cNvSpPr/>
          <p:nvPr/>
        </p:nvSpPr>
        <p:spPr>
          <a:xfrm>
            <a:off x="6233008" y="2514600"/>
            <a:ext cx="91" cy="196596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9"/>
          <p:cNvSpPr txBox="1"/>
          <p:nvPr/>
        </p:nvSpPr>
        <p:spPr>
          <a:xfrm>
            <a:off x="6507328" y="2679192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5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Banca y Servicios Financieros</a:t>
            </a:r>
            <a:endParaRPr lang="es-PE" sz="1250" dirty="0"/>
          </a:p>
        </p:txBody>
      </p:sp>
      <p:pic>
        <p:nvPicPr>
          <p:cNvPr id="25" name="Image 13" descr="/tmp/claude-0/-home-user-compartamos-banco/f5aa2cae-8dfb-5efa-902a-389d1c1ca7cd/scratchpad/cbuild/a/s3_1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9896" y="3220126"/>
            <a:ext cx="1477213" cy="280588"/>
          </a:xfrm>
          <a:prstGeom prst="rect">
            <a:avLst/>
          </a:prstGeom>
        </p:spPr>
      </p:pic>
      <p:pic>
        <p:nvPicPr>
          <p:cNvPr id="26" name="Image 14" descr="/tmp/claude-0/-home-user-compartamos-banco/f5aa2cae-8dfb-5efa-902a-389d1c1ca7cd/scratchpad/cbuild/a/s3_1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25942" y="3195828"/>
            <a:ext cx="1378458" cy="329184"/>
          </a:xfrm>
          <a:prstGeom prst="rect">
            <a:avLst/>
          </a:prstGeom>
        </p:spPr>
      </p:pic>
      <p:pic>
        <p:nvPicPr>
          <p:cNvPr id="27" name="Image 15" descr="/tmp/claude-0/-home-user-compartamos-banco/f5aa2cae-8dfb-5efa-902a-389d1c1ca7cd/scratchpad/cbuild/a/s3_15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31527" y="3195828"/>
            <a:ext cx="1360627" cy="329184"/>
          </a:xfrm>
          <a:prstGeom prst="rect">
            <a:avLst/>
          </a:prstGeom>
        </p:spPr>
      </p:pic>
      <p:pic>
        <p:nvPicPr>
          <p:cNvPr id="28" name="Image 16" descr="/tmp/claude-0/-home-user-compartamos-banco/f5aa2cae-8dfb-5efa-902a-389d1c1ca7cd/scratchpad/cbuild/a/s3_16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34137" y="3881628"/>
            <a:ext cx="1465400" cy="329184"/>
          </a:xfrm>
          <a:prstGeom prst="rect">
            <a:avLst/>
          </a:prstGeom>
        </p:spPr>
      </p:pic>
      <p:pic>
        <p:nvPicPr>
          <p:cNvPr id="29" name="Image 17" descr="/tmp/claude-0/-home-user-compartamos-banco/f5aa2cae-8dfb-5efa-902a-389d1c1ca7cd/scratchpad/cbuild/a/s3_17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24899" y="3911928"/>
            <a:ext cx="1477213" cy="268584"/>
          </a:xfrm>
          <a:prstGeom prst="rect">
            <a:avLst/>
          </a:prstGeom>
        </p:spPr>
      </p:pic>
      <p:sp>
        <p:nvSpPr>
          <p:cNvPr id="30" name="Shape 10"/>
          <p:cNvSpPr/>
          <p:nvPr/>
        </p:nvSpPr>
        <p:spPr>
          <a:xfrm>
            <a:off x="594360" y="4663440"/>
            <a:ext cx="5364328" cy="155448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Shape 11"/>
          <p:cNvSpPr/>
          <p:nvPr/>
        </p:nvSpPr>
        <p:spPr>
          <a:xfrm>
            <a:off x="594360" y="4663440"/>
            <a:ext cx="91" cy="155448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12"/>
          <p:cNvSpPr txBox="1"/>
          <p:nvPr/>
        </p:nvSpPr>
        <p:spPr>
          <a:xfrm>
            <a:off x="868680" y="4828032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5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Consumo, Retail e Industria</a:t>
            </a:r>
            <a:endParaRPr lang="es-PE" sz="1250" dirty="0"/>
          </a:p>
        </p:txBody>
      </p:sp>
      <p:pic>
        <p:nvPicPr>
          <p:cNvPr id="33" name="Image 18" descr="/tmp/claude-0/-home-user-compartamos-banco/f5aa2cae-8dfb-5efa-902a-389d1c1ca7cd/scratchpad/cbuild/a/s3_2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1248" y="5562716"/>
            <a:ext cx="1053046" cy="167407"/>
          </a:xfrm>
          <a:prstGeom prst="rect">
            <a:avLst/>
          </a:prstGeom>
        </p:spPr>
      </p:pic>
      <p:pic>
        <p:nvPicPr>
          <p:cNvPr id="34" name="Image 19" descr="/tmp/claude-0/-home-user-compartamos-banco/f5aa2cae-8dfb-5efa-902a-389d1c1ca7cd/scratchpad/cbuild/a/s3_18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349298" y="5481828"/>
            <a:ext cx="581950" cy="329184"/>
          </a:xfrm>
          <a:prstGeom prst="rect">
            <a:avLst/>
          </a:prstGeom>
        </p:spPr>
      </p:pic>
      <p:pic>
        <p:nvPicPr>
          <p:cNvPr id="35" name="Image 20" descr="/tmp/claude-0/-home-user-compartamos-banco/f5aa2cae-8dfb-5efa-902a-389d1c1ca7cd/scratchpad/cbuild/a/s3_30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86252" y="5513982"/>
            <a:ext cx="1053046" cy="264877"/>
          </a:xfrm>
          <a:prstGeom prst="rect">
            <a:avLst/>
          </a:prstGeom>
        </p:spPr>
      </p:pic>
      <p:pic>
        <p:nvPicPr>
          <p:cNvPr id="36" name="Image 21" descr="/tmp/claude-0/-home-user-compartamos-banco/f5aa2cae-8dfb-5efa-902a-389d1c1ca7cd/scratchpad/cbuild/a/s3_19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58754" y="5565416"/>
            <a:ext cx="1053046" cy="162007"/>
          </a:xfrm>
          <a:prstGeom prst="rect">
            <a:avLst/>
          </a:prstGeom>
        </p:spPr>
      </p:pic>
      <p:sp>
        <p:nvSpPr>
          <p:cNvPr id="37" name="Shape 13"/>
          <p:cNvSpPr/>
          <p:nvPr/>
        </p:nvSpPr>
        <p:spPr>
          <a:xfrm>
            <a:off x="6233008" y="4663440"/>
            <a:ext cx="5364328" cy="155448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8" name="Shape 14"/>
          <p:cNvSpPr/>
          <p:nvPr/>
        </p:nvSpPr>
        <p:spPr>
          <a:xfrm>
            <a:off x="6233008" y="4663440"/>
            <a:ext cx="91" cy="155448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15"/>
          <p:cNvSpPr txBox="1"/>
          <p:nvPr/>
        </p:nvSpPr>
        <p:spPr>
          <a:xfrm>
            <a:off x="6507328" y="4828032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5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Educación, Servicios e Infraestructura</a:t>
            </a:r>
            <a:endParaRPr lang="es-PE" sz="1250" dirty="0"/>
          </a:p>
        </p:txBody>
      </p:sp>
      <p:pic>
        <p:nvPicPr>
          <p:cNvPr id="40" name="Image 22" descr="/tmp/claude-0/-home-user-compartamos-banco/f5aa2cae-8dfb-5efa-902a-389d1c1ca7cd/scratchpad/cbuild/a/s3_20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9896" y="5272368"/>
            <a:ext cx="798546" cy="268043"/>
          </a:xfrm>
          <a:prstGeom prst="rect">
            <a:avLst/>
          </a:prstGeom>
        </p:spPr>
      </p:pic>
      <p:pic>
        <p:nvPicPr>
          <p:cNvPr id="41" name="Image 23" descr="/tmp/claude-0/-home-user-compartamos-banco/f5aa2cae-8dfb-5efa-902a-389d1c1ca7cd/scratchpad/cbuild/a/s3_21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638525" y="5241798"/>
            <a:ext cx="517289" cy="329184"/>
          </a:xfrm>
          <a:prstGeom prst="rect">
            <a:avLst/>
          </a:prstGeom>
        </p:spPr>
      </p:pic>
      <p:pic>
        <p:nvPicPr>
          <p:cNvPr id="42" name="Image 24" descr="/tmp/claude-0/-home-user-compartamos-banco/f5aa2cae-8dfb-5efa-902a-389d1c1ca7cd/scratchpad/cbuild/a/s3_22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515899" y="5256549"/>
            <a:ext cx="798546" cy="299683"/>
          </a:xfrm>
          <a:prstGeom prst="rect">
            <a:avLst/>
          </a:prstGeom>
        </p:spPr>
      </p:pic>
      <p:pic>
        <p:nvPicPr>
          <p:cNvPr id="43" name="Image 25" descr="/tmp/claude-0/-home-user-compartamos-banco/f5aa2cae-8dfb-5efa-902a-389d1c1ca7cd/scratchpad/cbuild/a/s3_23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568912" y="5241798"/>
            <a:ext cx="728522" cy="329184"/>
          </a:xfrm>
          <a:prstGeom prst="rect">
            <a:avLst/>
          </a:prstGeom>
        </p:spPr>
      </p:pic>
      <p:pic>
        <p:nvPicPr>
          <p:cNvPr id="44" name="Image 26" descr="/tmp/claude-0/-home-user-compartamos-banco/f5aa2cae-8dfb-5efa-902a-389d1c1ca7cd/scratchpad/cbuild/a/s3_24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51902" y="5277394"/>
            <a:ext cx="798546" cy="257992"/>
          </a:xfrm>
          <a:prstGeom prst="rect">
            <a:avLst/>
          </a:prstGeom>
        </p:spPr>
      </p:pic>
      <p:pic>
        <p:nvPicPr>
          <p:cNvPr id="45" name="Image 27" descr="/tmp/claude-0/-home-user-compartamos-banco/f5aa2cae-8dfb-5efa-902a-389d1c1ca7cd/scratchpad/cbuild/a/s3_25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88896" y="5776791"/>
            <a:ext cx="798546" cy="219319"/>
          </a:xfrm>
          <a:prstGeom prst="rect">
            <a:avLst/>
          </a:prstGeom>
        </p:spPr>
      </p:pic>
      <p:pic>
        <p:nvPicPr>
          <p:cNvPr id="46" name="Image 28" descr="/tmp/claude-0/-home-user-compartamos-banco/f5aa2cae-8dfb-5efa-902a-389d1c1ca7cd/scratchpad/cbuild/a/s3_26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006898" y="5753359"/>
            <a:ext cx="798546" cy="266182"/>
          </a:xfrm>
          <a:prstGeom prst="rect">
            <a:avLst/>
          </a:prstGeom>
        </p:spPr>
      </p:pic>
      <p:pic>
        <p:nvPicPr>
          <p:cNvPr id="47" name="Image 29" descr="/tmp/claude-0/-home-user-compartamos-banco/f5aa2cae-8dfb-5efa-902a-389d1c1ca7cd/scratchpad/cbuild/a/s3_27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024899" y="5767369"/>
            <a:ext cx="798546" cy="238163"/>
          </a:xfrm>
          <a:prstGeom prst="rect">
            <a:avLst/>
          </a:prstGeom>
        </p:spPr>
      </p:pic>
      <p:pic>
        <p:nvPicPr>
          <p:cNvPr id="48" name="Image 30" descr="/tmp/claude-0/-home-user-compartamos-banco/f5aa2cae-8dfb-5efa-902a-389d1c1ca7cd/scratchpad/cbuild/a/s3_28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042901" y="5801756"/>
            <a:ext cx="798546" cy="1693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9436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HACEMOS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Nuestros servicios</a:t>
            </a:r>
            <a:endParaRPr lang="es-PE" sz="3400" dirty="0"/>
          </a:p>
        </p:txBody>
      </p:sp>
      <p:sp>
        <p:nvSpPr>
          <p:cNvPr id="5" name="Shape 3"/>
          <p:cNvSpPr/>
          <p:nvPr/>
        </p:nvSpPr>
        <p:spPr>
          <a:xfrm>
            <a:off x="3685032" y="2057400"/>
            <a:ext cx="3873856" cy="685800"/>
          </a:xfrm>
          <a:prstGeom prst="rect">
            <a:avLst/>
          </a:prstGeom>
          <a:solidFill>
            <a:srgbClr val="25283D"/>
          </a:solidFill>
          <a:ln w="12700">
            <a:solidFill>
              <a:srgbClr val="2528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 txBox="1"/>
          <p:nvPr/>
        </p:nvSpPr>
        <p:spPr>
          <a:xfrm>
            <a:off x="4005072" y="2057400"/>
            <a:ext cx="3416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500" b="1" kern="0" spc="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CONSULTORÍA</a:t>
            </a:r>
            <a:endParaRPr lang="es-PE" sz="1500" dirty="0"/>
          </a:p>
          <a:p>
            <a:pPr marL="0" indent="0">
              <a:buNone/>
            </a:pPr>
            <a:r>
              <a:rPr lang="es-PE" altLang="en-US" sz="1150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(lo hacemos por ti)</a:t>
            </a:r>
            <a:endParaRPr lang="es-PE" sz="1500" dirty="0"/>
          </a:p>
        </p:txBody>
      </p:sp>
      <p:sp>
        <p:nvSpPr>
          <p:cNvPr id="7" name="Shape 5"/>
          <p:cNvSpPr/>
          <p:nvPr/>
        </p:nvSpPr>
        <p:spPr>
          <a:xfrm>
            <a:off x="7723480" y="2057400"/>
            <a:ext cx="3873856" cy="685800"/>
          </a:xfrm>
          <a:prstGeom prst="rect">
            <a:avLst/>
          </a:prstGeom>
          <a:solidFill>
            <a:srgbClr val="6D4ABE"/>
          </a:solidFill>
          <a:ln w="1270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 txBox="1"/>
          <p:nvPr/>
        </p:nvSpPr>
        <p:spPr>
          <a:xfrm>
            <a:off x="8043520" y="2057400"/>
            <a:ext cx="3416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500" b="1" kern="0" spc="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FORMACIÓN</a:t>
            </a:r>
            <a:endParaRPr lang="es-PE" sz="1500" dirty="0"/>
          </a:p>
          <a:p>
            <a:pPr marL="0" indent="0">
              <a:buNone/>
            </a:pPr>
            <a:r>
              <a:rPr lang="es-PE" altLang="en-US" sz="1150" dirty="0">
                <a:solidFill>
                  <a:srgbClr val="EDE7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(habilitamos a tu equipo)</a:t>
            </a:r>
            <a:endParaRPr lang="es-PE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852928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26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Reputación y liderazgo</a:t>
            </a:r>
            <a:endParaRPr lang="es-PE" sz="2600" dirty="0"/>
          </a:p>
        </p:txBody>
      </p:sp>
      <p:sp>
        <p:nvSpPr>
          <p:cNvPr id="10" name="Shape 8"/>
          <p:cNvSpPr/>
          <p:nvPr/>
        </p:nvSpPr>
        <p:spPr>
          <a:xfrm>
            <a:off x="3685032" y="2852928"/>
            <a:ext cx="3873856" cy="804672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7723480" y="2852928"/>
            <a:ext cx="3873856" cy="804672"/>
          </a:xfrm>
          <a:prstGeom prst="rect">
            <a:avLst/>
          </a:prstGeom>
          <a:solidFill>
            <a:srgbClr val="F3F0FB"/>
          </a:solidFill>
          <a:ln w="12700">
            <a:solidFill>
              <a:srgbClr val="F3F0F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 txBox="1"/>
          <p:nvPr/>
        </p:nvSpPr>
        <p:spPr>
          <a:xfrm>
            <a:off x="3959352" y="2852928"/>
            <a:ext cx="3416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Marca Directiva y Corporativa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Embajadores digitales</a:t>
            </a:r>
            <a:endParaRPr lang="es-PE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997800" y="2852928"/>
            <a:ext cx="3416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Talleres de Marca Directiva y Embajadores</a:t>
            </a:r>
            <a:endParaRPr lang="es-PE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7490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26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Visibilidad y presencia digital</a:t>
            </a:r>
            <a:endParaRPr lang="es-PE" sz="2600" dirty="0"/>
          </a:p>
        </p:txBody>
      </p:sp>
      <p:sp>
        <p:nvSpPr>
          <p:cNvPr id="15" name="Shape 13"/>
          <p:cNvSpPr/>
          <p:nvPr/>
        </p:nvSpPr>
        <p:spPr>
          <a:xfrm>
            <a:off x="3685032" y="3749040"/>
            <a:ext cx="3873856" cy="9601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7723480" y="3749040"/>
            <a:ext cx="3873856" cy="960120"/>
          </a:xfrm>
          <a:prstGeom prst="rect">
            <a:avLst/>
          </a:prstGeom>
          <a:solidFill>
            <a:srgbClr val="F3F0FB"/>
          </a:solidFill>
          <a:ln w="12700">
            <a:solidFill>
              <a:srgbClr val="F3F0F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 txBox="1"/>
          <p:nvPr/>
        </p:nvSpPr>
        <p:spPr>
          <a:xfrm>
            <a:off x="3959352" y="3749040"/>
            <a:ext cx="3416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Posicionamiento GEO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Marketing de Contenidos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Asuntos Públicos</a:t>
            </a:r>
            <a:endParaRPr lang="es-PE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997800" y="3749040"/>
            <a:ext cx="3416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Formación para periodistas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Political Intelligence AI</a:t>
            </a:r>
            <a:endParaRPr lang="es-PE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48006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26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Adopción y capacidades de IA</a:t>
            </a:r>
            <a:endParaRPr lang="es-PE" sz="2600" dirty="0"/>
          </a:p>
        </p:txBody>
      </p:sp>
      <p:sp>
        <p:nvSpPr>
          <p:cNvPr id="20" name="Shape 18"/>
          <p:cNvSpPr/>
          <p:nvPr/>
        </p:nvSpPr>
        <p:spPr>
          <a:xfrm>
            <a:off x="3685032" y="4800600"/>
            <a:ext cx="3873856" cy="14630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7723480" y="4800600"/>
            <a:ext cx="3873856" cy="1463040"/>
          </a:xfrm>
          <a:prstGeom prst="rect">
            <a:avLst/>
          </a:prstGeom>
          <a:solidFill>
            <a:srgbClr val="F3F0FB"/>
          </a:solidFill>
          <a:ln w="12700">
            <a:solidFill>
              <a:srgbClr val="F3F0F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 txBox="1"/>
          <p:nvPr/>
        </p:nvSpPr>
        <p:spPr>
          <a:xfrm>
            <a:off x="3959352" y="4800600"/>
            <a:ext cx="3416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Diagnóstico de madurez digital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Agentic AI Studio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Agentic AI Reputation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GEO Rank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Pulse</a:t>
            </a:r>
            <a:endParaRPr lang="es-PE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97800" y="4800600"/>
            <a:ext cx="3416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Talleres de IA, data y automatización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Taller de IA para comunicación y MKT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AI para empresas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Taller IA Agéntica</a:t>
            </a:r>
            <a:endParaRPr lang="es-PE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tamos-banco/f5aa2cae-8dfb-5efa-902a-389d1c1ca7cd/scratchpad/cbuild/a/p_directiva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0" y="0"/>
            <a:ext cx="35048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94360" y="914400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REPUTACIÓN Y LIDERAZGO · CONSULTORÍA</a:t>
            </a:r>
            <a:endParaRPr lang="es-PE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188720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0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Marca Corporativa y Marca Directiva</a:t>
            </a:r>
            <a:endParaRPr lang="es-PE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93852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dirty="0" b="1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líderes cambian, la marca permanece.</a:t>
            </a:r>
            <a:endParaRPr lang="es-PE" sz="1350" dirty="0"/>
          </a:p>
        </p:txBody>
      </p:sp>
      <p:sp>
        <p:nvSpPr>
          <p:cNvPr id="7" name="Shape 4"/>
          <p:cNvSpPr/>
          <p:nvPr/>
        </p:nvSpPr>
        <p:spPr>
          <a:xfrm>
            <a:off x="594360" y="2606040"/>
            <a:ext cx="3726180" cy="1097280"/>
          </a:xfrm>
          <a:prstGeom prst="rect">
            <a:avLst/>
          </a:prstGeom>
          <a:solidFill>
            <a:srgbClr val="25283D"/>
          </a:solidFill>
          <a:ln w="12700">
            <a:solidFill>
              <a:srgbClr val="2528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 txBox="1"/>
          <p:nvPr/>
        </p:nvSpPr>
        <p:spPr>
          <a:xfrm>
            <a:off x="868680" y="2770632"/>
            <a:ext cx="3268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Marca Corporativa</a:t>
            </a:r>
            <a:endParaRPr lang="es-PE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200400"/>
            <a:ext cx="3268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PE" altLang="en-US" sz="14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 lo que permanece.</a:t>
            </a:r>
            <a:endParaRPr lang="es-PE" sz="1100" dirty="0"/>
          </a:p>
        </p:txBody>
      </p:sp>
      <p:sp>
        <p:nvSpPr>
          <p:cNvPr id="10" name="Shape 7"/>
          <p:cNvSpPr/>
          <p:nvPr/>
        </p:nvSpPr>
        <p:spPr>
          <a:xfrm>
            <a:off x="4503420" y="2606040"/>
            <a:ext cx="3726180" cy="1097280"/>
          </a:xfrm>
          <a:prstGeom prst="rect">
            <a:avLst/>
          </a:prstGeom>
          <a:solidFill>
            <a:srgbClr val="F3F0FB"/>
          </a:solidFill>
          <a:ln w="12700">
            <a:solidFill>
              <a:srgbClr val="F3F0F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 txBox="1"/>
          <p:nvPr/>
        </p:nvSpPr>
        <p:spPr>
          <a:xfrm>
            <a:off x="4777740" y="2770632"/>
            <a:ext cx="3268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Marca Directiva</a:t>
            </a:r>
            <a:endParaRPr lang="es-PE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777740" y="3200400"/>
            <a:ext cx="3268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PE" alt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 lo que la amplifica.</a:t>
            </a:r>
            <a:endParaRPr lang="es-PE" sz="1100" dirty="0"/>
          </a:p>
        </p:txBody>
      </p:sp>
      <p:sp>
        <p:nvSpPr>
          <p:cNvPr id="13" name="Shape 10"/>
          <p:cNvSpPr/>
          <p:nvPr/>
        </p:nvSpPr>
        <p:spPr>
          <a:xfrm>
            <a:off x="594360" y="4069080"/>
            <a:ext cx="2423160" cy="0"/>
          </a:xfrm>
          <a:prstGeom prst="line">
            <a:avLst/>
          </a:prstGeom>
          <a:noFill/>
          <a:ln w="1905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 txBox="1"/>
          <p:nvPr/>
        </p:nvSpPr>
        <p:spPr>
          <a:xfrm>
            <a:off x="594360" y="4224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r>
              <a:rPr lang="es-PE" altLang="en-US" sz="18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Diagnóstico</a:t>
            </a:r>
            <a:endParaRPr lang="es-PE" sz="1300" dirty="0"/>
          </a:p>
        </p:txBody>
      </p:sp>
      <p:sp>
        <p:nvSpPr>
          <p:cNvPr id="16" name="Shape 13"/>
          <p:cNvSpPr/>
          <p:nvPr/>
        </p:nvSpPr>
        <p:spPr>
          <a:xfrm>
            <a:off x="3200400" y="4069080"/>
            <a:ext cx="2423160" cy="0"/>
          </a:xfrm>
          <a:prstGeom prst="line">
            <a:avLst/>
          </a:prstGeom>
          <a:noFill/>
          <a:ln w="1905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 txBox="1"/>
          <p:nvPr/>
        </p:nvSpPr>
        <p:spPr>
          <a:xfrm>
            <a:off x="3200400" y="4224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r>
              <a:rPr lang="es-PE" altLang="en-US" sz="18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Estrategia</a:t>
            </a:r>
            <a:endParaRPr lang="es-PE" sz="1300" dirty="0"/>
          </a:p>
        </p:txBody>
      </p:sp>
      <p:sp>
        <p:nvSpPr>
          <p:cNvPr id="19" name="Shape 16"/>
          <p:cNvSpPr/>
          <p:nvPr/>
        </p:nvSpPr>
        <p:spPr>
          <a:xfrm>
            <a:off x="5806440" y="4069080"/>
            <a:ext cx="2423160" cy="0"/>
          </a:xfrm>
          <a:prstGeom prst="line">
            <a:avLst/>
          </a:prstGeom>
          <a:noFill/>
          <a:ln w="1905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7"/>
          <p:cNvSpPr txBox="1"/>
          <p:nvPr/>
        </p:nvSpPr>
        <p:spPr>
          <a:xfrm>
            <a:off x="5806440" y="4224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r>
              <a:rPr lang="es-PE" altLang="en-US" sz="18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Gestión</a:t>
            </a:r>
            <a:endParaRPr lang="es-PE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" y="5303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0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CLIENTES </a:t>
            </a:r>
            <a:endParaRPr lang="es-PE" sz="1000" dirty="0"/>
          </a:p>
        </p:txBody>
      </p:sp>
      <p:pic>
        <p:nvPicPr>
          <p:cNvPr id="23" name="Image 1" descr="/tmp/claude-0/-home-user-compartamos-banco/f5aa2cae-8dfb-5efa-902a-389d1c1ca7cd/scratchpad/cbuild/a/s5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568" y="5616702"/>
            <a:ext cx="817245" cy="274320"/>
          </a:xfrm>
          <a:prstGeom prst="rect">
            <a:avLst/>
          </a:prstGeom>
        </p:spPr>
      </p:pic>
      <p:pic>
        <p:nvPicPr>
          <p:cNvPr id="24" name="Image 2" descr="/tmp/claude-0/-home-user-compartamos-banco/f5aa2cae-8dfb-5efa-902a-389d1c1ca7cd/scratchpad/cbuild/a/s5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5745" y="5616702"/>
            <a:ext cx="785123" cy="274320"/>
          </a:xfrm>
          <a:prstGeom prst="rect">
            <a:avLst/>
          </a:prstGeom>
        </p:spPr>
      </p:pic>
      <p:pic>
        <p:nvPicPr>
          <p:cNvPr id="25" name="Image 3" descr="/tmp/claude-0/-home-user-compartamos-banco/f5aa2cae-8dfb-5efa-902a-389d1c1ca7cd/scratchpad/cbuild/a/s5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5349" y="5616702"/>
            <a:ext cx="204145" cy="274320"/>
          </a:xfrm>
          <a:prstGeom prst="rect">
            <a:avLst/>
          </a:prstGeom>
        </p:spPr>
      </p:pic>
      <p:pic>
        <p:nvPicPr>
          <p:cNvPr id="26" name="Image 4" descr="/tmp/claude-0/-home-user-compartamos-banco/f5aa2cae-8dfb-5efa-902a-389d1c1ca7cd/scratchpad/cbuild/a/s5_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1708" y="5638292"/>
            <a:ext cx="1089660" cy="231140"/>
          </a:xfrm>
          <a:prstGeom prst="rect">
            <a:avLst/>
          </a:prstGeom>
        </p:spPr>
      </p:pic>
      <p:pic>
        <p:nvPicPr>
          <p:cNvPr id="27" name="Image 5" descr="/tmp/claude-0/-home-user-compartamos-banco/f5aa2cae-8dfb-5efa-902a-389d1c1ca7cd/scratchpad/cbuild/a/s5_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5765" y="5616702"/>
            <a:ext cx="919779" cy="274320"/>
          </a:xfrm>
          <a:prstGeom prst="rect">
            <a:avLst/>
          </a:prstGeom>
        </p:spPr>
      </p:pic>
      <p:pic>
        <p:nvPicPr>
          <p:cNvPr id="28" name="Image 6" descr="/tmp/claude-0/-home-user-compartamos-banco/f5aa2cae-8dfb-5efa-902a-389d1c1ca7cd/scratchpad/cbuild/a/s5_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9940" y="5641569"/>
            <a:ext cx="1089660" cy="224586"/>
          </a:xfrm>
          <a:prstGeom prst="rect">
            <a:avLst/>
          </a:prstGeom>
        </p:spPr>
      </p:pic>
      <p:pic>
        <p:nvPicPr>
          <p:cNvPr id="29" name="Image 7" descr="/tmp/claude-0/-home-user-compartamos-banco/f5aa2cae-8dfb-5efa-902a-389d1c1ca7cd/scratchpad/cbuild/a/s5_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9174" y="6005322"/>
            <a:ext cx="929148" cy="274320"/>
          </a:xfrm>
          <a:prstGeom prst="rect">
            <a:avLst/>
          </a:prstGeom>
        </p:spPr>
      </p:pic>
      <p:pic>
        <p:nvPicPr>
          <p:cNvPr id="30" name="Image 8" descr="/tmp/claude-0/-home-user-compartamos-banco/f5aa2cae-8dfb-5efa-902a-389d1c1ca7cd/scratchpad/cbuild/a/s5_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31661" y="6005322"/>
            <a:ext cx="542405" cy="274320"/>
          </a:xfrm>
          <a:prstGeom prst="rect">
            <a:avLst/>
          </a:prstGeom>
        </p:spPr>
      </p:pic>
      <p:pic>
        <p:nvPicPr>
          <p:cNvPr id="31" name="Image 9" descr="/tmp/claude-0/-home-user-compartamos-banco/f5aa2cae-8dfb-5efa-902a-389d1c1ca7cd/scratchpad/cbuild/a/s5_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84666" y="6005322"/>
            <a:ext cx="654627" cy="274320"/>
          </a:xfrm>
          <a:prstGeom prst="rect">
            <a:avLst/>
          </a:prstGeom>
        </p:spPr>
      </p:pic>
      <p:pic>
        <p:nvPicPr>
          <p:cNvPr id="32" name="Image 10" descr="/tmp/claude-0/-home-user-compartamos-banco/f5aa2cae-8dfb-5efa-902a-389d1c1ca7cd/scratchpad/cbuild/a/s5_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6266" y="6043422"/>
            <a:ext cx="1089660" cy="198120"/>
          </a:xfrm>
          <a:prstGeom prst="rect">
            <a:avLst/>
          </a:prstGeom>
        </p:spPr>
      </p:pic>
      <p:pic>
        <p:nvPicPr>
          <p:cNvPr id="33" name="Image 11" descr="/tmp/claude-0/-home-user-compartamos-banco/f5aa2cae-8dfb-5efa-902a-389d1c1ca7cd/scratchpad/cbuild/a/s5_1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5382" y="6026912"/>
            <a:ext cx="1089660" cy="2311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tamos-banco/f5aa2cae-8dfb-5efa-902a-389d1c1ca7cd/scratchpad/cbuild/a/p_embajadore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61188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06240" y="914400"/>
            <a:ext cx="7391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REPUTACIÓN Y LIDERAZGO · CONSULTORÍA</a:t>
            </a:r>
            <a:endParaRPr lang="es-PE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1188720"/>
            <a:ext cx="7391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Embajadores Digitales</a:t>
            </a:r>
            <a:endParaRPr lang="es-PE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1920240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6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Amplificamos la comunicación corporativa a través de tus colaboradores, quienes hablan como la voz más genuina de la marca.</a:t>
            </a:r>
            <a:endParaRPr lang="es-PE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206240" y="3154680"/>
            <a:ext cx="2219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60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s-PE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4206240" y="4114800"/>
            <a:ext cx="2219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Estrategia</a:t>
            </a:r>
            <a:endParaRPr lang="es-PE" sz="1600" dirty="0"/>
          </a:p>
        </p:txBody>
      </p:sp>
      <p:sp>
        <p:nvSpPr>
          <p:cNvPr id="10" name="Shape 7"/>
          <p:cNvSpPr/>
          <p:nvPr/>
        </p:nvSpPr>
        <p:spPr>
          <a:xfrm>
            <a:off x="6608978" y="3246120"/>
            <a:ext cx="0" cy="132588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 txBox="1"/>
          <p:nvPr/>
        </p:nvSpPr>
        <p:spPr>
          <a:xfrm>
            <a:off x="6791858" y="3154680"/>
            <a:ext cx="2219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60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s-PE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6791858" y="4114800"/>
            <a:ext cx="2219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Acompañamiento</a:t>
            </a:r>
            <a:endParaRPr lang="es-PE" sz="1600" dirty="0"/>
          </a:p>
        </p:txBody>
      </p:sp>
      <p:sp>
        <p:nvSpPr>
          <p:cNvPr id="14" name="Shape 11"/>
          <p:cNvSpPr/>
          <p:nvPr/>
        </p:nvSpPr>
        <p:spPr>
          <a:xfrm>
            <a:off x="9194597" y="3246120"/>
            <a:ext cx="0" cy="132588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 txBox="1"/>
          <p:nvPr/>
        </p:nvSpPr>
        <p:spPr>
          <a:xfrm>
            <a:off x="9377477" y="3154680"/>
            <a:ext cx="2219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60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s-PE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9377477" y="4114800"/>
            <a:ext cx="2219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Medición</a:t>
            </a:r>
            <a:endParaRPr lang="es-PE" sz="1600" dirty="0"/>
          </a:p>
        </p:txBody>
      </p:sp>
      <p:sp>
        <p:nvSpPr>
          <p:cNvPr id="18" name="Shape 15"/>
          <p:cNvSpPr/>
          <p:nvPr/>
        </p:nvSpPr>
        <p:spPr>
          <a:xfrm>
            <a:off x="4206240" y="5349240"/>
            <a:ext cx="7391095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6"/>
          <p:cNvSpPr txBox="1"/>
          <p:nvPr/>
        </p:nvSpPr>
        <p:spPr>
          <a:xfrm>
            <a:off x="4206240" y="5623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00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CLIENTES</a:t>
            </a:r>
            <a:endParaRPr lang="es-PE" sz="1000" dirty="0"/>
          </a:p>
        </p:txBody>
      </p:sp>
      <p:pic>
        <p:nvPicPr>
          <p:cNvPr id="20" name="Image 1" descr="/tmp/claude-0/-home-user-compartamos-banco/f5aa2cae-8dfb-5efa-902a-389d1c1ca7cd/scratchpad/cbuild/a/s6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5715232"/>
            <a:ext cx="783793" cy="273855"/>
          </a:xfrm>
          <a:prstGeom prst="rect">
            <a:avLst/>
          </a:prstGeom>
        </p:spPr>
      </p:pic>
      <p:pic>
        <p:nvPicPr>
          <p:cNvPr id="21" name="Image 2" descr="/tmp/claude-0/-home-user-compartamos-banco/f5aa2cae-8dfb-5efa-902a-389d1c1ca7cd/scratchpad/cbuild/a/s6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817" y="5726753"/>
            <a:ext cx="783793" cy="250814"/>
          </a:xfrm>
          <a:prstGeom prst="rect">
            <a:avLst/>
          </a:prstGeom>
        </p:spPr>
      </p:pic>
      <p:pic>
        <p:nvPicPr>
          <p:cNvPr id="22" name="Image 3" descr="/tmp/claude-0/-home-user-compartamos-banco/f5aa2cae-8dfb-5efa-902a-389d1c1ca7cd/scratchpad/cbuild/a/s6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0324" y="5705856"/>
            <a:ext cx="671277" cy="292608"/>
          </a:xfrm>
          <a:prstGeom prst="rect">
            <a:avLst/>
          </a:prstGeom>
        </p:spPr>
      </p:pic>
      <p:pic>
        <p:nvPicPr>
          <p:cNvPr id="23" name="Image 4" descr="/tmp/claude-0/-home-user-compartamos-banco/f5aa2cae-8dfb-5efa-902a-389d1c1ca7cd/scratchpad/cbuild/a/s6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7316" y="5764125"/>
            <a:ext cx="783793" cy="176069"/>
          </a:xfrm>
          <a:prstGeom prst="rect">
            <a:avLst/>
          </a:prstGeom>
        </p:spPr>
      </p:pic>
      <p:pic>
        <p:nvPicPr>
          <p:cNvPr id="24" name="Image 5" descr="/tmp/claude-0/-home-user-compartamos-banco/f5aa2cae-8dfb-5efa-902a-389d1c1ca7cd/scratchpad/cbuild/a/s6_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0565" y="5769030"/>
            <a:ext cx="783793" cy="166259"/>
          </a:xfrm>
          <a:prstGeom prst="rect">
            <a:avLst/>
          </a:prstGeom>
        </p:spPr>
      </p:pic>
      <p:pic>
        <p:nvPicPr>
          <p:cNvPr id="25" name="Image 6" descr="/tmp/claude-0/-home-user-compartamos-banco/f5aa2cae-8dfb-5efa-902a-389d1c1ca7cd/scratchpad/cbuild/a/s6_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03814" y="5769030"/>
            <a:ext cx="783793" cy="166259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4206240" y="64008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900" b="1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s-P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94360" y="9144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VISIBILIDAD Y PRESENCIA DIGITAL · CONSULTORÍA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Posicionamiento GEO</a:t>
            </a:r>
            <a:endParaRPr lang="es-PE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202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2000" dirty="0" b="1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Logramos que la IA cite y recomiende a tu marca.</a:t>
            </a:r>
            <a:endParaRPr lang="es-PE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3310128"/>
            <a:ext cx="1815084" cy="310896"/>
          </a:xfrm>
          <a:prstGeom prst="rect">
            <a:avLst/>
          </a:prstGeom>
          <a:solidFill>
            <a:srgbClr val="C0B0F4"/>
          </a:solidFill>
          <a:ln w="12700">
            <a:solidFill>
              <a:srgbClr val="C0B0F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594360" y="3767328"/>
            <a:ext cx="18150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3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 </a:t>
            </a:r>
            <a:r>
              <a:rPr lang="es-PE" altLang="en-US" sz="13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Diagnóstico</a:t>
            </a:r>
            <a:endParaRPr lang="es-PE" sz="1300" dirty="0"/>
          </a:p>
        </p:txBody>
      </p:sp>
      <p:sp>
        <p:nvSpPr>
          <p:cNvPr id="9" name="Shape 7"/>
          <p:cNvSpPr/>
          <p:nvPr/>
        </p:nvSpPr>
        <p:spPr>
          <a:xfrm>
            <a:off x="2464308" y="3310128"/>
            <a:ext cx="1815084" cy="310896"/>
          </a:xfrm>
          <a:prstGeom prst="rect">
            <a:avLst/>
          </a:prstGeom>
          <a:solidFill>
            <a:srgbClr val="6D4ABE"/>
          </a:solidFill>
          <a:ln w="1270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 txBox="1"/>
          <p:nvPr/>
        </p:nvSpPr>
        <p:spPr>
          <a:xfrm>
            <a:off x="2464308" y="3767328"/>
            <a:ext cx="18150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3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 </a:t>
            </a:r>
            <a:r>
              <a:rPr lang="es-PE" altLang="en-US" sz="13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Estrategia</a:t>
            </a:r>
            <a:endParaRPr lang="es-PE" sz="1300" dirty="0"/>
          </a:p>
        </p:txBody>
      </p:sp>
      <p:sp>
        <p:nvSpPr>
          <p:cNvPr id="12" name="Shape 10"/>
          <p:cNvSpPr/>
          <p:nvPr/>
        </p:nvSpPr>
        <p:spPr>
          <a:xfrm>
            <a:off x="4334256" y="3310128"/>
            <a:ext cx="7260336" cy="310896"/>
          </a:xfrm>
          <a:prstGeom prst="rect">
            <a:avLst/>
          </a:prstGeom>
          <a:solidFill>
            <a:srgbClr val="25283D"/>
          </a:solidFill>
          <a:ln w="12700">
            <a:solidFill>
              <a:srgbClr val="2528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 txBox="1"/>
          <p:nvPr/>
        </p:nvSpPr>
        <p:spPr>
          <a:xfrm>
            <a:off x="4334256" y="3767328"/>
            <a:ext cx="7260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3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 </a:t>
            </a:r>
            <a:r>
              <a:rPr lang="es-PE" altLang="en-US" sz="13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Implementación</a:t>
            </a:r>
            <a:endParaRPr lang="es-PE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4983480"/>
            <a:ext cx="11002975" cy="566928"/>
          </a:xfrm>
          <a:prstGeom prst="rect">
            <a:avLst/>
          </a:prstGeom>
          <a:solidFill>
            <a:srgbClr val="F3F0FB"/>
          </a:solidFill>
          <a:ln w="12700">
            <a:solidFill>
              <a:srgbClr val="F3F0F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 txBox="1"/>
          <p:nvPr/>
        </p:nvSpPr>
        <p:spPr>
          <a:xfrm>
            <a:off x="868680" y="498348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4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Resultados medibles en visibilidad, posición, citaciones y share of voice en IA.</a:t>
            </a:r>
            <a:endParaRPr lang="es-PE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00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CLIENTES  </a:t>
            </a:r>
            <a:r>
              <a:rPr lang="es-PE" altLang="en-US" sz="13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Gloria · ISA</a:t>
            </a:r>
            <a:endParaRPr lang="es-PE" sz="1000" dirty="0"/>
          </a:p>
        </p:txBody>
      </p:sp>
      <p:sp>
        <p:nvSpPr>
          <p:cNvPr id="18" name="Rounded Rectangle 17"/>
          <p:cNvSpPr/>
          <p:nvPr/>
        </p:nvSpPr>
        <p:spPr>
          <a:xfrm>
            <a:off x="594360" y="2542032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254203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ChatGPT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2542032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828800" y="254203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Google AI Overview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254203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886200" y="2542032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Perplexity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57800" y="2542032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257800" y="25420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Claude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096512"/>
            <a:ext cx="18150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15</a:t>
            </a:r>
            <a:r>
              <a:rPr sz="130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 días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4308" y="4096512"/>
            <a:ext cx="18150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15</a:t>
            </a:r>
            <a:r>
              <a:rPr sz="130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 días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6" y="4096512"/>
            <a:ext cx="72603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60</a:t>
            </a:r>
            <a:r>
              <a:rPr sz="130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 días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94360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ADOPCIÓN Y CAPACIDADES DE IA · CONSULTORÍA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Diagnóstico de Madurez Digital</a:t>
            </a:r>
            <a:endParaRPr lang="es-PE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PE" altLang="en-US" sz="16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 decimos qué tan bien usan tus equipos la IA y dónde invertir primero.</a:t>
            </a:r>
            <a:endParaRPr lang="es-PE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3931920"/>
            <a:ext cx="3931920" cy="640080"/>
          </a:xfrm>
          <a:prstGeom prst="rect">
            <a:avLst/>
          </a:prstGeom>
          <a:solidFill>
            <a:srgbClr val="25283D"/>
          </a:solidFill>
          <a:ln w="12700">
            <a:solidFill>
              <a:srgbClr val="2528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850392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niveles se inspiran en el modelo CMMI.</a:t>
            </a:r>
            <a:endParaRPr lang="es-PE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4846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00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CLIENTES  </a:t>
            </a:r>
            <a:r>
              <a:rPr lang="es-PE" altLang="en-US" sz="13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BCP / Credicorp · Primax</a:t>
            </a:r>
            <a:endParaRPr lang="es-PE" sz="1000" dirty="0"/>
          </a:p>
        </p:txBody>
      </p:sp>
      <p:sp>
        <p:nvSpPr>
          <p:cNvPr id="9" name="Shape 7"/>
          <p:cNvSpPr/>
          <p:nvPr/>
        </p:nvSpPr>
        <p:spPr>
          <a:xfrm>
            <a:off x="5166360" y="1234440"/>
            <a:ext cx="6430975" cy="1481328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 txBox="1"/>
          <p:nvPr/>
        </p:nvSpPr>
        <p:spPr>
          <a:xfrm>
            <a:off x="5486400" y="1234440"/>
            <a:ext cx="10058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40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s-PE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1508760"/>
            <a:ext cx="4693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Medimos la adopción</a:t>
            </a:r>
            <a:endParaRPr lang="es-PE" sz="1600" dirty="0"/>
          </a:p>
        </p:txBody>
      </p:sp>
      <p:sp>
        <p:nvSpPr>
          <p:cNvPr id="13" name="Shape 11"/>
          <p:cNvSpPr/>
          <p:nvPr/>
        </p:nvSpPr>
        <p:spPr>
          <a:xfrm>
            <a:off x="5166360" y="2825496"/>
            <a:ext cx="6430975" cy="1481328"/>
          </a:xfrm>
          <a:prstGeom prst="rect">
            <a:avLst/>
          </a:prstGeom>
          <a:solidFill>
            <a:srgbClr val="F3F0FB"/>
          </a:solidFill>
          <a:ln w="12700">
            <a:solidFill>
              <a:srgbClr val="F3F0F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 txBox="1"/>
          <p:nvPr/>
        </p:nvSpPr>
        <p:spPr>
          <a:xfrm>
            <a:off x="5486400" y="2825496"/>
            <a:ext cx="10058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40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s-PE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099816"/>
            <a:ext cx="4693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Comparamos</a:t>
            </a:r>
            <a:endParaRPr lang="es-PE" sz="1600" dirty="0"/>
          </a:p>
        </p:txBody>
      </p:sp>
      <p:sp>
        <p:nvSpPr>
          <p:cNvPr id="17" name="Shape 15"/>
          <p:cNvSpPr/>
          <p:nvPr/>
        </p:nvSpPr>
        <p:spPr>
          <a:xfrm>
            <a:off x="5166360" y="4416552"/>
            <a:ext cx="6430975" cy="1481328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 txBox="1"/>
          <p:nvPr/>
        </p:nvSpPr>
        <p:spPr>
          <a:xfrm>
            <a:off x="5486400" y="4416552"/>
            <a:ext cx="10058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40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s-PE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4690872"/>
            <a:ext cx="4693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7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Priorizamos</a:t>
            </a:r>
            <a:endParaRPr lang="es-PE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6629400" y="2039112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Encuesta digital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039112"/>
            <a:ext cx="274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039112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Entrevistas a profundidad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53872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5</a:t>
            </a:r>
            <a:r>
              <a:rPr sz="120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 niveles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353872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7</a:t>
            </a:r>
            <a:r>
              <a:rPr sz="120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 indicadores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87000" y="3959352"/>
            <a:ext cx="164592" cy="128016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0506456" y="3858768"/>
            <a:ext cx="164592" cy="228600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0725912" y="3758184"/>
            <a:ext cx="164592" cy="329184"/>
          </a:xfrm>
          <a:prstGeom prst="rect">
            <a:avLst/>
          </a:prstGeom>
          <a:solidFill>
            <a:srgbClr val="C0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10945368" y="3657600"/>
            <a:ext cx="164592" cy="429768"/>
          </a:xfrm>
          <a:prstGeom prst="rect">
            <a:avLst/>
          </a:prstGeom>
          <a:solidFill>
            <a:srgbClr val="8F7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1164824" y="3557016"/>
            <a:ext cx="164592" cy="530352"/>
          </a:xfrm>
          <a:prstGeom prst="rect">
            <a:avLst/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629400" y="5202936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Hoja de ruta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5202936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C0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863840" y="5202936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0-3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05672" y="5202936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805672" y="5202936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3-9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47504" y="5202936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25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747504" y="5202936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9-18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35056" y="520293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meses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tamos-banco/f5aa2cae-8dfb-5efa-902a-389d1c1ca7cd/scratchpad/cbuild/a/dark_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verne</a:t>
            </a:r>
            <a:r>
              <a:rPr lang="es-PE" altLang="en-US" sz="85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Comunicación e Innovación</a:t>
            </a:r>
            <a:endParaRPr lang="es-PE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ADOPCIÓN Y CAPACIDADES DE IA</a:t>
            </a:r>
            <a:endParaRPr lang="es-PE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188720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Nuestras cuatro soluciones de Inteligencia Artificial</a:t>
            </a:r>
            <a:endParaRPr lang="es-PE" sz="2900" dirty="0"/>
          </a:p>
        </p:txBody>
      </p:sp>
      <p:sp>
        <p:nvSpPr>
          <p:cNvPr id="6" name="Shape 3"/>
          <p:cNvSpPr/>
          <p:nvPr/>
        </p:nvSpPr>
        <p:spPr>
          <a:xfrm>
            <a:off x="594360" y="2286000"/>
            <a:ext cx="2599868" cy="3566160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4"/>
          <p:cNvSpPr/>
          <p:nvPr/>
        </p:nvSpPr>
        <p:spPr>
          <a:xfrm>
            <a:off x="868680" y="2697480"/>
            <a:ext cx="731520" cy="731520"/>
          </a:xfrm>
          <a:prstGeom prst="ellipse">
            <a:avLst/>
          </a:prstGeom>
          <a:solidFill>
            <a:srgbClr val="6D4ABE"/>
          </a:solidFill>
          <a:ln w="1270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28986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" y="3840480"/>
            <a:ext cx="21426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Agentic AI Studio</a:t>
            </a:r>
            <a:endParaRPr lang="es-PE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4773168"/>
            <a:ext cx="21426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2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Estudio de contenidos con agentes de IA</a:t>
            </a:r>
            <a:endParaRPr lang="es-PE" sz="1100" dirty="0"/>
          </a:p>
        </p:txBody>
      </p:sp>
      <p:sp>
        <p:nvSpPr>
          <p:cNvPr id="11" name="Shape 7"/>
          <p:cNvSpPr/>
          <p:nvPr/>
        </p:nvSpPr>
        <p:spPr>
          <a:xfrm>
            <a:off x="868680" y="4617720"/>
            <a:ext cx="2051228" cy="0"/>
          </a:xfrm>
          <a:prstGeom prst="line">
            <a:avLst/>
          </a:prstGeom>
          <a:noFill/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9"/>
          <p:cNvSpPr/>
          <p:nvPr/>
        </p:nvSpPr>
        <p:spPr>
          <a:xfrm>
            <a:off x="3395396" y="2286000"/>
            <a:ext cx="2599868" cy="3566160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Shape 10"/>
          <p:cNvSpPr/>
          <p:nvPr/>
        </p:nvSpPr>
        <p:spPr>
          <a:xfrm>
            <a:off x="3669716" y="2697480"/>
            <a:ext cx="731520" cy="731520"/>
          </a:xfrm>
          <a:prstGeom prst="ellipse">
            <a:avLst/>
          </a:prstGeom>
          <a:solidFill>
            <a:srgbClr val="6D4ABE"/>
          </a:solidFill>
          <a:ln w="1270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0884" y="289864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69716" y="3840480"/>
            <a:ext cx="21426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Agentic AI Reputation</a:t>
            </a:r>
            <a:endParaRPr lang="es-PE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669716" y="4773168"/>
            <a:ext cx="21426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2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Consultor de reputación</a:t>
            </a:r>
            <a:endParaRPr lang="es-PE" sz="1100" dirty="0"/>
          </a:p>
        </p:txBody>
      </p:sp>
      <p:sp>
        <p:nvSpPr>
          <p:cNvPr id="18" name="Shape 13"/>
          <p:cNvSpPr/>
          <p:nvPr/>
        </p:nvSpPr>
        <p:spPr>
          <a:xfrm>
            <a:off x="3669716" y="4617720"/>
            <a:ext cx="2051228" cy="0"/>
          </a:xfrm>
          <a:prstGeom prst="line">
            <a:avLst/>
          </a:prstGeom>
          <a:noFill/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5"/>
          <p:cNvSpPr/>
          <p:nvPr/>
        </p:nvSpPr>
        <p:spPr>
          <a:xfrm>
            <a:off x="6196432" y="2286000"/>
            <a:ext cx="2599868" cy="3566160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6"/>
          <p:cNvSpPr/>
          <p:nvPr/>
        </p:nvSpPr>
        <p:spPr>
          <a:xfrm>
            <a:off x="6470752" y="2697480"/>
            <a:ext cx="731520" cy="731520"/>
          </a:xfrm>
          <a:prstGeom prst="ellipse">
            <a:avLst/>
          </a:prstGeom>
          <a:solidFill>
            <a:srgbClr val="6D4ABE"/>
          </a:solidFill>
          <a:ln w="1270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1920" y="289864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470752" y="3840480"/>
            <a:ext cx="21426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GEO Rank</a:t>
            </a:r>
            <a:endParaRPr lang="es-PE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470752" y="4773168"/>
            <a:ext cx="21426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2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Plataforma de monitoreo GEO</a:t>
            </a:r>
            <a:endParaRPr lang="es-PE" sz="1100" dirty="0"/>
          </a:p>
        </p:txBody>
      </p:sp>
      <p:sp>
        <p:nvSpPr>
          <p:cNvPr id="25" name="Shape 19"/>
          <p:cNvSpPr/>
          <p:nvPr/>
        </p:nvSpPr>
        <p:spPr>
          <a:xfrm>
            <a:off x="6470752" y="4617720"/>
            <a:ext cx="2051228" cy="0"/>
          </a:xfrm>
          <a:prstGeom prst="line">
            <a:avLst/>
          </a:prstGeom>
          <a:noFill/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Shape 21"/>
          <p:cNvSpPr/>
          <p:nvPr/>
        </p:nvSpPr>
        <p:spPr>
          <a:xfrm>
            <a:off x="8997467" y="2286000"/>
            <a:ext cx="2599868" cy="3566160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Shape 22"/>
          <p:cNvSpPr/>
          <p:nvPr/>
        </p:nvSpPr>
        <p:spPr>
          <a:xfrm>
            <a:off x="9271787" y="2697480"/>
            <a:ext cx="731520" cy="731520"/>
          </a:xfrm>
          <a:prstGeom prst="ellipse">
            <a:avLst/>
          </a:prstGeom>
          <a:solidFill>
            <a:srgbClr val="6D4ABE"/>
          </a:solidFill>
          <a:ln w="1270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2955" y="2898648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271787" y="3840480"/>
            <a:ext cx="21426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Pulse</a:t>
            </a:r>
            <a:endParaRPr lang="es-PE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9271787" y="4773168"/>
            <a:ext cx="21426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2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Tracking de performance de embajadores digitales</a:t>
            </a:r>
            <a:endParaRPr lang="es-PE" sz="1100" dirty="0"/>
          </a:p>
        </p:txBody>
      </p:sp>
      <p:sp>
        <p:nvSpPr>
          <p:cNvPr id="32" name="Shape 25"/>
          <p:cNvSpPr/>
          <p:nvPr/>
        </p:nvSpPr>
        <p:spPr>
          <a:xfrm>
            <a:off x="9271787" y="4617720"/>
            <a:ext cx="2051228" cy="0"/>
          </a:xfrm>
          <a:prstGeom prst="line">
            <a:avLst/>
          </a:prstGeom>
          <a:noFill/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27"/>
          <p:cNvSpPr txBox="1"/>
          <p:nvPr/>
        </p:nvSpPr>
        <p:spPr>
          <a:xfrm>
            <a:off x="11048695" y="64008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9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s-P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94360" y="9144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TEMARIO Y CASOS A MEDIDA PARA CADA EMPRESA 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Formación </a:t>
            </a:r>
            <a:endParaRPr lang="es-PE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019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Habilitamos a tu equipo para que trabaje con IA y lo haga por sí mismo.</a:t>
            </a:r>
            <a:endParaRPr lang="es-PE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395728"/>
            <a:ext cx="2743200" cy="292608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850392" y="2578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r>
              <a:rPr lang="es-PE" altLang="en-US" sz="11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Reputación y liderazgo</a:t>
            </a:r>
            <a:endParaRPr lang="es-PE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29443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9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Voceros creíbles</a:t>
            </a:r>
            <a:endParaRPr lang="es-PE" sz="1500" dirty="0"/>
          </a:p>
        </p:txBody>
      </p:sp>
      <p:sp>
        <p:nvSpPr>
          <p:cNvPr id="9" name="Shape 7"/>
          <p:cNvSpPr/>
          <p:nvPr/>
        </p:nvSpPr>
        <p:spPr>
          <a:xfrm>
            <a:off x="850392" y="3931920"/>
            <a:ext cx="2231136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 txBox="1"/>
          <p:nvPr/>
        </p:nvSpPr>
        <p:spPr>
          <a:xfrm>
            <a:off x="850392" y="404164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3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Marca Directiva y Embajadores</a:t>
            </a:r>
            <a:endParaRPr lang="es-PE" sz="1050" dirty="0"/>
          </a:p>
        </p:txBody>
      </p:sp>
      <p:sp>
        <p:nvSpPr>
          <p:cNvPr id="12" name="Shape 10"/>
          <p:cNvSpPr/>
          <p:nvPr/>
        </p:nvSpPr>
        <p:spPr>
          <a:xfrm>
            <a:off x="3538728" y="2395728"/>
            <a:ext cx="3017520" cy="292608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 txBox="1"/>
          <p:nvPr/>
        </p:nvSpPr>
        <p:spPr>
          <a:xfrm>
            <a:off x="3794760" y="25786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r>
              <a:rPr lang="es-PE" altLang="en-US" sz="11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Visibilidad y presencia digital</a:t>
            </a:r>
            <a:endParaRPr lang="es-PE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29443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9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Prensa y entorno digital como aliados</a:t>
            </a:r>
            <a:endParaRPr lang="es-PE" sz="1500" dirty="0"/>
          </a:p>
        </p:txBody>
      </p:sp>
      <p:sp>
        <p:nvSpPr>
          <p:cNvPr id="15" name="Shape 13"/>
          <p:cNvSpPr/>
          <p:nvPr/>
        </p:nvSpPr>
        <p:spPr>
          <a:xfrm>
            <a:off x="3794760" y="3931920"/>
            <a:ext cx="2505456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 txBox="1"/>
          <p:nvPr/>
        </p:nvSpPr>
        <p:spPr>
          <a:xfrm>
            <a:off x="3794760" y="404164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3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Formación para periodistas</a:t>
            </a:r>
            <a:endParaRPr lang="es-PE" sz="1050" dirty="0"/>
          </a:p>
        </p:txBody>
      </p:sp>
      <p:sp>
        <p:nvSpPr>
          <p:cNvPr id="18" name="Shape 16"/>
          <p:cNvSpPr/>
          <p:nvPr/>
        </p:nvSpPr>
        <p:spPr>
          <a:xfrm>
            <a:off x="3794760" y="4572000"/>
            <a:ext cx="2505456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 txBox="1"/>
          <p:nvPr/>
        </p:nvSpPr>
        <p:spPr>
          <a:xfrm>
            <a:off x="3794760" y="468172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3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Political Intelligence AI</a:t>
            </a:r>
            <a:endParaRPr lang="es-PE" sz="1050" dirty="0"/>
          </a:p>
        </p:txBody>
      </p:sp>
      <p:sp>
        <p:nvSpPr>
          <p:cNvPr id="21" name="Shape 19"/>
          <p:cNvSpPr/>
          <p:nvPr/>
        </p:nvSpPr>
        <p:spPr>
          <a:xfrm>
            <a:off x="6757416" y="2395728"/>
            <a:ext cx="4839919" cy="2926080"/>
          </a:xfrm>
          <a:prstGeom prst="rect">
            <a:avLst/>
          </a:prstGeom>
          <a:solidFill>
            <a:srgbClr val="25283D"/>
          </a:solidFill>
          <a:ln w="12700">
            <a:solidFill>
              <a:srgbClr val="2528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 txBox="1"/>
          <p:nvPr/>
        </p:nvSpPr>
        <p:spPr>
          <a:xfrm>
            <a:off x="7013448" y="2578608"/>
            <a:ext cx="43827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r>
              <a:rPr lang="es-PE" altLang="en-US" sz="11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Adopción y capacidades de IA</a:t>
            </a:r>
            <a:endParaRPr lang="es-PE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013448" y="2944368"/>
            <a:ext cx="43827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la teoría al uso real de la IA</a:t>
            </a:r>
            <a:endParaRPr lang="es-PE" sz="1500" dirty="0"/>
          </a:p>
        </p:txBody>
      </p:sp>
      <p:sp>
        <p:nvSpPr>
          <p:cNvPr id="24" name="Shape 22"/>
          <p:cNvSpPr/>
          <p:nvPr/>
        </p:nvSpPr>
        <p:spPr>
          <a:xfrm>
            <a:off x="7013448" y="3931920"/>
            <a:ext cx="2049628" cy="0"/>
          </a:xfrm>
          <a:prstGeom prst="line">
            <a:avLst/>
          </a:prstGeom>
          <a:noFill/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 txBox="1"/>
          <p:nvPr/>
        </p:nvSpPr>
        <p:spPr>
          <a:xfrm>
            <a:off x="7013448" y="4041648"/>
            <a:ext cx="2049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IA, data y automatización</a:t>
            </a:r>
            <a:endParaRPr lang="es-PE" sz="1050" dirty="0"/>
          </a:p>
        </p:txBody>
      </p:sp>
      <p:sp>
        <p:nvSpPr>
          <p:cNvPr id="27" name="Shape 25"/>
          <p:cNvSpPr/>
          <p:nvPr/>
        </p:nvSpPr>
        <p:spPr>
          <a:xfrm>
            <a:off x="9291676" y="3931920"/>
            <a:ext cx="2049628" cy="0"/>
          </a:xfrm>
          <a:prstGeom prst="line">
            <a:avLst/>
          </a:prstGeom>
          <a:noFill/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 txBox="1"/>
          <p:nvPr/>
        </p:nvSpPr>
        <p:spPr>
          <a:xfrm>
            <a:off x="9291676" y="4041648"/>
            <a:ext cx="2049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 para comunicación y marketing</a:t>
            </a:r>
            <a:endParaRPr lang="es-PE" sz="1050" dirty="0"/>
          </a:p>
        </p:txBody>
      </p:sp>
      <p:sp>
        <p:nvSpPr>
          <p:cNvPr id="30" name="Shape 28"/>
          <p:cNvSpPr/>
          <p:nvPr/>
        </p:nvSpPr>
        <p:spPr>
          <a:xfrm>
            <a:off x="7013448" y="4572000"/>
            <a:ext cx="2049628" cy="0"/>
          </a:xfrm>
          <a:prstGeom prst="line">
            <a:avLst/>
          </a:prstGeom>
          <a:noFill/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 txBox="1"/>
          <p:nvPr/>
        </p:nvSpPr>
        <p:spPr>
          <a:xfrm>
            <a:off x="7013448" y="4681728"/>
            <a:ext cx="2049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AI para empresas</a:t>
            </a:r>
            <a:endParaRPr lang="es-PE" sz="1050" dirty="0"/>
          </a:p>
        </p:txBody>
      </p:sp>
      <p:sp>
        <p:nvSpPr>
          <p:cNvPr id="33" name="Shape 31"/>
          <p:cNvSpPr/>
          <p:nvPr/>
        </p:nvSpPr>
        <p:spPr>
          <a:xfrm>
            <a:off x="9291676" y="4572000"/>
            <a:ext cx="2049628" cy="0"/>
          </a:xfrm>
          <a:prstGeom prst="line">
            <a:avLst/>
          </a:prstGeom>
          <a:noFill/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32"/>
          <p:cNvSpPr txBox="1"/>
          <p:nvPr/>
        </p:nvSpPr>
        <p:spPr>
          <a:xfrm>
            <a:off x="9291676" y="4681728"/>
            <a:ext cx="2049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Taller IA Agéntica</a:t>
            </a:r>
            <a:endParaRPr lang="es-PE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562356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00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CLIENTES      </a:t>
            </a:r>
            <a:r>
              <a:rPr lang="es-PE" altLang="en-US" sz="125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BCP · Pacífico Seguros · Interbank · Antapaccay · Petrotal</a:t>
            </a:r>
            <a:endParaRPr lang="es-PE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94360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ADOPCIÓN Y CAPACIDADES DE IA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Herramientas de Formación</a:t>
            </a:r>
            <a:endParaRPr lang="es-PE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019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Trabajamos con los principales ecosistemas de IA y automatización.</a:t>
            </a:r>
            <a:endParaRPr lang="es-PE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560320"/>
            <a:ext cx="259986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2142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Ecosistema Microsoft</a:t>
            </a:r>
            <a:endParaRPr lang="es-PE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273552"/>
            <a:ext cx="2051228" cy="0"/>
          </a:xfrm>
          <a:prstGeom prst="line">
            <a:avLst/>
          </a:prstGeom>
          <a:noFill/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9" name="Image 0" descr="/tmp/claude-0/-home-user-compartamos-banco/f5aa2cae-8dfb-5efa-902a-389d1c1ca7cd/scratchpad/cbuild/a/s11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33995"/>
            <a:ext cx="384048" cy="35693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3520440"/>
            <a:ext cx="15025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2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Copilot Studio</a:t>
            </a:r>
            <a:endParaRPr lang="es-PE" sz="1250" dirty="0"/>
          </a:p>
        </p:txBody>
      </p:sp>
      <p:pic>
        <p:nvPicPr>
          <p:cNvPr id="11" name="Image 1" descr="/tmp/claude-0/-home-user-compartamos-banco/f5aa2cae-8dfb-5efa-902a-389d1c1ca7cd/scratchpad/cbuild/a/s1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47093"/>
            <a:ext cx="384048" cy="3743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4142232"/>
            <a:ext cx="15025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2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Apps</a:t>
            </a:r>
            <a:endParaRPr lang="es-PE" sz="1250" dirty="0"/>
          </a:p>
        </p:txBody>
      </p:sp>
      <p:pic>
        <p:nvPicPr>
          <p:cNvPr id="13" name="Image 2" descr="/tmp/claude-0/-home-user-compartamos-banco/f5aa2cae-8dfb-5efa-902a-389d1c1ca7cd/scratchpad/cbuild/a/s11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432" y="4764024"/>
            <a:ext cx="296543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4764024"/>
            <a:ext cx="15025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2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BI</a:t>
            </a:r>
            <a:endParaRPr lang="es-PE" sz="1250" dirty="0"/>
          </a:p>
        </p:txBody>
      </p:sp>
      <p:pic>
        <p:nvPicPr>
          <p:cNvPr id="15" name="Image 3" descr="/tmp/claude-0/-home-user-compartamos-banco/f5aa2cae-8dfb-5efa-902a-389d1c1ca7cd/scratchpad/cbuild/a/s11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423747"/>
            <a:ext cx="384048" cy="30818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5385816"/>
            <a:ext cx="15025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2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Automate</a:t>
            </a:r>
            <a:endParaRPr lang="es-PE" sz="1250" dirty="0"/>
          </a:p>
        </p:txBody>
      </p:sp>
      <p:sp>
        <p:nvSpPr>
          <p:cNvPr id="17" name="Shape 11"/>
          <p:cNvSpPr/>
          <p:nvPr/>
        </p:nvSpPr>
        <p:spPr>
          <a:xfrm>
            <a:off x="3395396" y="2560320"/>
            <a:ext cx="259986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2"/>
          <p:cNvSpPr txBox="1"/>
          <p:nvPr/>
        </p:nvSpPr>
        <p:spPr>
          <a:xfrm>
            <a:off x="3669716" y="2788920"/>
            <a:ext cx="2142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Ecosistema Anthropic</a:t>
            </a:r>
            <a:endParaRPr lang="es-PE" sz="1400" dirty="0"/>
          </a:p>
        </p:txBody>
      </p:sp>
      <p:sp>
        <p:nvSpPr>
          <p:cNvPr id="19" name="Shape 13"/>
          <p:cNvSpPr/>
          <p:nvPr/>
        </p:nvSpPr>
        <p:spPr>
          <a:xfrm>
            <a:off x="3669716" y="3273552"/>
            <a:ext cx="2051228" cy="0"/>
          </a:xfrm>
          <a:prstGeom prst="line">
            <a:avLst/>
          </a:prstGeom>
          <a:noFill/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0" name="Image 4" descr="/tmp/claude-0/-home-user-compartamos-banco/f5aa2cae-8dfb-5efa-902a-389d1c1ca7cd/scratchpad/cbuild/a/s11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9716" y="3578064"/>
            <a:ext cx="1600200" cy="34195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669716" y="4005072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Projects</a:t>
            </a:r>
            <a:endParaRPr lang="es-PE" sz="1200" dirty="0"/>
          </a:p>
        </p:txBody>
      </p:sp>
      <p:pic>
        <p:nvPicPr>
          <p:cNvPr id="22" name="Image 5" descr="/tmp/claude-0/-home-user-compartamos-banco/f5aa2cae-8dfb-5efa-902a-389d1c1ca7cd/scratchpad/cbuild/a/s11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9716" y="4812504"/>
            <a:ext cx="1600200" cy="341951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669716" y="5239512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</a:t>
            </a:r>
            <a:endParaRPr lang="es-PE" sz="1200" dirty="0"/>
          </a:p>
        </p:txBody>
      </p:sp>
      <p:sp>
        <p:nvSpPr>
          <p:cNvPr id="24" name="Shape 16"/>
          <p:cNvSpPr/>
          <p:nvPr/>
        </p:nvSpPr>
        <p:spPr>
          <a:xfrm>
            <a:off x="6196432" y="2560320"/>
            <a:ext cx="259986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17"/>
          <p:cNvSpPr txBox="1"/>
          <p:nvPr/>
        </p:nvSpPr>
        <p:spPr>
          <a:xfrm>
            <a:off x="6470752" y="2788920"/>
            <a:ext cx="2142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Ecosistema OpenAI</a:t>
            </a:r>
            <a:endParaRPr lang="es-PE" sz="1400" dirty="0"/>
          </a:p>
        </p:txBody>
      </p:sp>
      <p:sp>
        <p:nvSpPr>
          <p:cNvPr id="26" name="Shape 18"/>
          <p:cNvSpPr/>
          <p:nvPr/>
        </p:nvSpPr>
        <p:spPr>
          <a:xfrm>
            <a:off x="6470752" y="3273552"/>
            <a:ext cx="2051228" cy="0"/>
          </a:xfrm>
          <a:prstGeom prst="line">
            <a:avLst/>
          </a:prstGeom>
          <a:noFill/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7" name="Image 6" descr="/tmp/claude-0/-home-user-compartamos-banco/f5aa2cae-8dfb-5efa-902a-389d1c1ca7cd/scratchpad/cbuild/a/s11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0752" y="3566160"/>
            <a:ext cx="1364512" cy="4572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470752" y="4096512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Projects</a:t>
            </a:r>
            <a:endParaRPr lang="es-PE" sz="1200" dirty="0"/>
          </a:p>
        </p:txBody>
      </p:sp>
      <p:pic>
        <p:nvPicPr>
          <p:cNvPr id="29" name="Image 7" descr="/tmp/claude-0/-home-user-compartamos-banco/f5aa2cae-8dfb-5efa-902a-389d1c1ca7cd/scratchpad/cbuild/a/s11_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0752" y="4803443"/>
            <a:ext cx="548640" cy="54295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6470752" y="5422392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Codex</a:t>
            </a:r>
            <a:endParaRPr lang="es-PE" sz="1200" dirty="0"/>
          </a:p>
        </p:txBody>
      </p:sp>
      <p:sp>
        <p:nvSpPr>
          <p:cNvPr id="31" name="Shape 21"/>
          <p:cNvSpPr/>
          <p:nvPr/>
        </p:nvSpPr>
        <p:spPr>
          <a:xfrm>
            <a:off x="8997467" y="2560320"/>
            <a:ext cx="259986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22"/>
          <p:cNvSpPr txBox="1"/>
          <p:nvPr/>
        </p:nvSpPr>
        <p:spPr>
          <a:xfrm>
            <a:off x="9271787" y="2788920"/>
            <a:ext cx="2142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Ecosistema Google</a:t>
            </a:r>
            <a:endParaRPr lang="es-PE" sz="1400" dirty="0"/>
          </a:p>
        </p:txBody>
      </p:sp>
      <p:sp>
        <p:nvSpPr>
          <p:cNvPr id="33" name="Shape 23"/>
          <p:cNvSpPr/>
          <p:nvPr/>
        </p:nvSpPr>
        <p:spPr>
          <a:xfrm>
            <a:off x="9271787" y="3273552"/>
            <a:ext cx="2051228" cy="0"/>
          </a:xfrm>
          <a:prstGeom prst="line">
            <a:avLst/>
          </a:prstGeom>
          <a:noFill/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34" name="Image 8" descr="/tmp/claude-0/-home-user-compartamos-banco/f5aa2cae-8dfb-5efa-902a-389d1c1ca7cd/scratchpad/cbuild/a/s11_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1787" y="3580236"/>
            <a:ext cx="1554480" cy="337608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9271787" y="4005072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Gems</a:t>
            </a:r>
            <a:endParaRPr lang="es-PE" sz="1200" dirty="0"/>
          </a:p>
        </p:txBody>
      </p:sp>
      <p:pic>
        <p:nvPicPr>
          <p:cNvPr id="36" name="Image 9" descr="/tmp/claude-0/-home-user-compartamos-banco/f5aa2cae-8dfb-5efa-902a-389d1c1ca7cd/scratchpad/cbuild/a/s11_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1787" y="4803326"/>
            <a:ext cx="1600200" cy="7077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tamos-banco/f5aa2cae-8dfb-5efa-902a-389d1c1ca7cd/scratchpad/cbuild/a/dark_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verne</a:t>
            </a:r>
            <a:r>
              <a:rPr lang="es-PE" altLang="en-US" sz="85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Comunicación e Innovación</a:t>
            </a:r>
            <a:endParaRPr lang="es-PE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CASOS REALES</a:t>
            </a:r>
            <a:endParaRPr lang="es-PE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1887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Resultados medidos con nuestros clientes</a:t>
            </a:r>
            <a:endParaRPr lang="es-PE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14884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3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Reputación y liderazgo</a:t>
            </a:r>
            <a:endParaRPr lang="es-PE" sz="1300" dirty="0"/>
          </a:p>
        </p:txBody>
      </p:sp>
      <p:sp>
        <p:nvSpPr>
          <p:cNvPr id="8" name="Shape 5"/>
          <p:cNvSpPr/>
          <p:nvPr/>
        </p:nvSpPr>
        <p:spPr>
          <a:xfrm>
            <a:off x="2926080" y="2148840"/>
            <a:ext cx="4221328" cy="1234440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 txBox="1"/>
          <p:nvPr/>
        </p:nvSpPr>
        <p:spPr>
          <a:xfrm>
            <a:off x="3127248" y="225856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PetroTal · Embajadores</a:t>
            </a:r>
            <a:endParaRPr lang="es-PE" sz="1100" dirty="0"/>
          </a:p>
        </p:txBody>
      </p:sp>
      <p:sp>
        <p:nvSpPr>
          <p:cNvPr id="13" name="Shape 10"/>
          <p:cNvSpPr/>
          <p:nvPr/>
        </p:nvSpPr>
        <p:spPr>
          <a:xfrm>
            <a:off x="7376008" y="2148840"/>
            <a:ext cx="4221328" cy="1234440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 txBox="1"/>
          <p:nvPr/>
        </p:nvSpPr>
        <p:spPr>
          <a:xfrm>
            <a:off x="7577176" y="225856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Enel Perú · Marca Directiva</a:t>
            </a:r>
            <a:endParaRPr lang="es-PE" sz="1100" dirty="0"/>
          </a:p>
        </p:txBody>
      </p:sp>
      <p:sp>
        <p:nvSpPr>
          <p:cNvPr id="19" name="Shape 16"/>
          <p:cNvSpPr/>
          <p:nvPr/>
        </p:nvSpPr>
        <p:spPr>
          <a:xfrm>
            <a:off x="594360" y="3474720"/>
            <a:ext cx="11002975" cy="0"/>
          </a:xfrm>
          <a:prstGeom prst="line">
            <a:avLst/>
          </a:prstGeom>
          <a:noFill/>
          <a:ln w="9525">
            <a:solidFill>
              <a:srgbClr val="3E3A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7"/>
          <p:cNvSpPr txBox="1"/>
          <p:nvPr/>
        </p:nvSpPr>
        <p:spPr>
          <a:xfrm>
            <a:off x="594360" y="3547872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3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Visibilidad y presencia digital</a:t>
            </a:r>
            <a:endParaRPr lang="es-PE" sz="1300" dirty="0"/>
          </a:p>
        </p:txBody>
      </p:sp>
      <p:sp>
        <p:nvSpPr>
          <p:cNvPr id="21" name="Shape 18"/>
          <p:cNvSpPr/>
          <p:nvPr/>
        </p:nvSpPr>
        <p:spPr>
          <a:xfrm>
            <a:off x="2926080" y="3547872"/>
            <a:ext cx="4221328" cy="1234440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19"/>
          <p:cNvSpPr txBox="1"/>
          <p:nvPr/>
        </p:nvSpPr>
        <p:spPr>
          <a:xfrm>
            <a:off x="3127248" y="3657600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Promigas · Periodistas</a:t>
            </a:r>
            <a:endParaRPr lang="es-PE" sz="1100" dirty="0"/>
          </a:p>
        </p:txBody>
      </p:sp>
      <p:sp>
        <p:nvSpPr>
          <p:cNvPr id="27" name="Shape 24"/>
          <p:cNvSpPr/>
          <p:nvPr/>
        </p:nvSpPr>
        <p:spPr>
          <a:xfrm>
            <a:off x="7376008" y="3547872"/>
            <a:ext cx="4221328" cy="1234440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5"/>
          <p:cNvSpPr txBox="1"/>
          <p:nvPr/>
        </p:nvSpPr>
        <p:spPr>
          <a:xfrm>
            <a:off x="7577176" y="3657600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InRetail Pharma · Diagnóstico GEO</a:t>
            </a:r>
            <a:endParaRPr lang="es-PE" sz="1100" dirty="0"/>
          </a:p>
        </p:txBody>
      </p:sp>
      <p:sp>
        <p:nvSpPr>
          <p:cNvPr id="32" name="Shape 29"/>
          <p:cNvSpPr/>
          <p:nvPr/>
        </p:nvSpPr>
        <p:spPr>
          <a:xfrm>
            <a:off x="594360" y="4873752"/>
            <a:ext cx="11002975" cy="0"/>
          </a:xfrm>
          <a:prstGeom prst="line">
            <a:avLst/>
          </a:prstGeom>
          <a:noFill/>
          <a:ln w="9525">
            <a:solidFill>
              <a:srgbClr val="3E3A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0"/>
          <p:cNvSpPr txBox="1"/>
          <p:nvPr/>
        </p:nvSpPr>
        <p:spPr>
          <a:xfrm>
            <a:off x="594360" y="4946904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3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Adopción y capacidades de IA</a:t>
            </a:r>
            <a:endParaRPr lang="es-PE" sz="1300" dirty="0"/>
          </a:p>
        </p:txBody>
      </p:sp>
      <p:sp>
        <p:nvSpPr>
          <p:cNvPr id="34" name="Shape 31"/>
          <p:cNvSpPr/>
          <p:nvPr/>
        </p:nvSpPr>
        <p:spPr>
          <a:xfrm>
            <a:off x="2926080" y="4946904"/>
            <a:ext cx="4221328" cy="1234440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2"/>
          <p:cNvSpPr txBox="1"/>
          <p:nvPr/>
        </p:nvSpPr>
        <p:spPr>
          <a:xfrm>
            <a:off x="3127248" y="5056632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BCP · Champions de IA</a:t>
            </a:r>
            <a:endParaRPr lang="es-PE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1048695" y="64008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9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s-PE" sz="900" dirty="0"/>
          </a:p>
        </p:txBody>
      </p:sp>
      <p:sp>
        <p:nvSpPr>
          <p:cNvPr id="40" name="TextBox 39"/>
          <p:cNvSpPr txBox="1"/>
          <p:nvPr/>
        </p:nvSpPr>
        <p:spPr>
          <a:xfrm>
            <a:off x="3127248" y="2560320"/>
            <a:ext cx="127299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+180%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27248" y="2990088"/>
            <a:ext cx="119984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interacciones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00245" y="2560320"/>
            <a:ext cx="127299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+256%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00245" y="2990088"/>
            <a:ext cx="119984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publicaciones propias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73243" y="2560320"/>
            <a:ext cx="127299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+13%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73243" y="2990088"/>
            <a:ext cx="119984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seguidores (+6,365)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77176" y="256032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+2 pts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77176" y="2990088"/>
            <a:ext cx="10698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posicionamiento digital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20176" y="2560320"/>
            <a:ext cx="905256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+68%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20176" y="2990088"/>
            <a:ext cx="8321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seguidores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25432" y="2560320"/>
            <a:ext cx="905256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+35%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25432" y="2990088"/>
            <a:ext cx="8321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contenido propio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30688" y="2560320"/>
            <a:ext cx="905256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+27%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30688" y="2990088"/>
            <a:ext cx="8321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interacciones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27248" y="3959352"/>
            <a:ext cx="127299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146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27248" y="4389120"/>
            <a:ext cx="119984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periodistas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00245" y="3959352"/>
            <a:ext cx="127299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+7,000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00245" y="4389120"/>
            <a:ext cx="119984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reproducciones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73243" y="3959352"/>
            <a:ext cx="127299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1,500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73243" y="4389120"/>
            <a:ext cx="119984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interacciones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77176" y="3959352"/>
            <a:ext cx="127299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77176" y="4389120"/>
            <a:ext cx="119984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motores de IA auditados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50173" y="3959352"/>
            <a:ext cx="127299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50173" y="4389120"/>
            <a:ext cx="119984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etapas de metodología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23171" y="3959352"/>
            <a:ext cx="127299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23171" y="4389120"/>
            <a:ext cx="119984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frentes de escucha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27248" y="5358384"/>
            <a:ext cx="127299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4.75/5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27248" y="5788152"/>
            <a:ext cx="119984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de satisfacción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00245" y="5358384"/>
            <a:ext cx="127299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+140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00245" y="5788152"/>
            <a:ext cx="119984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colaboradores capacitados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73243" y="5358384"/>
            <a:ext cx="127299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100%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73243" y="5788152"/>
            <a:ext cx="119984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aplicará lo aprendido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94360" y="914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EQUIPO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Nosotros te acompañamos</a:t>
            </a:r>
            <a:endParaRPr lang="es-PE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01952"/>
            <a:ext cx="11000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Potenciamos la comunicación digital en empresas, mejorando el posicionamiento y reputación de directivos y equipos.</a:t>
            </a:r>
            <a:endParaRPr lang="es-PE" sz="1400" dirty="0"/>
          </a:p>
        </p:txBody>
      </p:sp>
      <p:pic>
        <p:nvPicPr>
          <p:cNvPr id="6" name="Image 0" descr="/tmp/claude-0/-home-user-compartamos-banco/f5aa2cae-8dfb-5efa-902a-389d1c1ca7cd/scratchpad/cbuild/a/s1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14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94560" y="2697480"/>
            <a:ext cx="390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Víctor Lozano</a:t>
            </a:r>
            <a:endParaRPr lang="es-PE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2194560" y="3127248"/>
            <a:ext cx="390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00" b="1" kern="0" spc="2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DIRECTOR DE INNOVACIÓN</a:t>
            </a:r>
            <a:endParaRPr lang="es-PE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194560" y="3419856"/>
            <a:ext cx="390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linkedin.com/in/victorlozanou</a:t>
            </a:r>
            <a:endParaRPr lang="es-PE" sz="1000" dirty="0"/>
          </a:p>
        </p:txBody>
      </p:sp>
      <p:sp>
        <p:nvSpPr>
          <p:cNvPr id="11" name="Shape 8"/>
          <p:cNvSpPr/>
          <p:nvPr/>
        </p:nvSpPr>
        <p:spPr>
          <a:xfrm>
            <a:off x="594360" y="5760720"/>
            <a:ext cx="5272888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2" name="Image 1" descr="/tmp/claude-0/-home-user-compartamos-banco/f5aa2cae-8dfb-5efa-902a-389d1c1ca7cd/scratchpad/cbuild/a/s13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39" y="5893308"/>
            <a:ext cx="1392166" cy="329184"/>
          </a:xfrm>
          <a:prstGeom prst="rect">
            <a:avLst/>
          </a:prstGeom>
        </p:spPr>
      </p:pic>
      <p:pic>
        <p:nvPicPr>
          <p:cNvPr id="13" name="Image 2" descr="/tmp/claude-0/-home-user-compartamos-banco/f5aa2cae-8dfb-5efa-902a-389d1c1ca7cd/scratchpad/cbuild/a/s13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2908" y="5893308"/>
            <a:ext cx="1355792" cy="329184"/>
          </a:xfrm>
          <a:prstGeom prst="rect">
            <a:avLst/>
          </a:prstGeom>
        </p:spPr>
      </p:pic>
      <p:pic>
        <p:nvPicPr>
          <p:cNvPr id="14" name="Image 3" descr="/tmp/claude-0/-home-user-compartamos-banco/f5aa2cae-8dfb-5efa-902a-389d1c1ca7cd/scratchpad/cbuild/a/s13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5839" y="5893308"/>
            <a:ext cx="1551493" cy="32918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095848" y="2560320"/>
            <a:ext cx="0" cy="361188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6" name="Image 4" descr="/tmp/claude-0/-home-user-compartamos-banco/f5aa2cae-8dfb-5efa-902a-389d1c1ca7cd/scratchpad/cbuild/a/s13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448" y="2514600"/>
            <a:ext cx="1371600" cy="13716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924648" y="2697480"/>
            <a:ext cx="390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2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Julio Talledo</a:t>
            </a:r>
            <a:endParaRPr lang="es-PE" sz="2000" dirty="0"/>
          </a:p>
        </p:txBody>
      </p:sp>
      <p:sp>
        <p:nvSpPr>
          <p:cNvPr id="18" name="Text 11"/>
          <p:cNvSpPr txBox="1"/>
          <p:nvPr/>
        </p:nvSpPr>
        <p:spPr>
          <a:xfrm>
            <a:off x="7924648" y="3127248"/>
            <a:ext cx="390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00" b="1" kern="0" spc="2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DIRECTOR COMERCIAL &amp; MARKETING</a:t>
            </a:r>
            <a:endParaRPr lang="es-PE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7924648" y="3419856"/>
            <a:ext cx="390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linkedin.com/in/juliotalledo</a:t>
            </a:r>
            <a:endParaRPr lang="es-PE" sz="1000" dirty="0"/>
          </a:p>
        </p:txBody>
      </p:sp>
      <p:sp>
        <p:nvSpPr>
          <p:cNvPr id="21" name="Shape 14"/>
          <p:cNvSpPr/>
          <p:nvPr/>
        </p:nvSpPr>
        <p:spPr>
          <a:xfrm>
            <a:off x="6324448" y="5760720"/>
            <a:ext cx="5272888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2" name="Image 5" descr="/tmp/claude-0/-home-user-compartamos-banco/f5aa2cae-8dfb-5efa-902a-389d1c1ca7cd/scratchpad/cbuild/a/s13_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214" y="5893308"/>
            <a:ext cx="1355792" cy="329184"/>
          </a:xfrm>
          <a:prstGeom prst="rect">
            <a:avLst/>
          </a:prstGeom>
        </p:spPr>
      </p:pic>
      <p:pic>
        <p:nvPicPr>
          <p:cNvPr id="23" name="Image 6" descr="/tmp/claude-0/-home-user-compartamos-banco/f5aa2cae-8dfb-5efa-902a-389d1c1ca7cd/scratchpad/cbuild/a/s13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5970" y="5893308"/>
            <a:ext cx="429844" cy="329184"/>
          </a:xfrm>
          <a:prstGeom prst="rect">
            <a:avLst/>
          </a:prstGeom>
        </p:spPr>
      </p:pic>
      <p:pic>
        <p:nvPicPr>
          <p:cNvPr id="24" name="Image 7" descr="/tmp/claude-0/-home-user-compartamos-banco/f5aa2cae-8dfb-5efa-902a-389d1c1ca7cd/scratchpad/cbuild/a/s13_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52761" y="5893308"/>
            <a:ext cx="877824" cy="3291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4360" y="4206240"/>
            <a:ext cx="52728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+20 años</a:t>
            </a:r>
            <a:r>
              <a:rPr sz="1600" b="0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 de experiencia en Investigación de Mercados, Marketing Digital, Gestión de Marcas Directivas y Reputación.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448" y="4206240"/>
            <a:ext cx="52728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Especialista en </a:t>
            </a:r>
            <a:r>
              <a:rPr sz="16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Marketing e Inteligencia Artificial Generativa.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1525</Words>
  <Application>Microsoft Macintosh PowerPoint</Application>
  <PresentationFormat>Panorámica</PresentationFormat>
  <Paragraphs>241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Poppins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Credenciales 2026</dc:title>
  <dc:subject>PptxGenJS Presentation</dc:subject>
  <dc:creator>Verne Comunicación e Innovación</dc:creator>
  <cp:lastModifiedBy>cielo corescob</cp:lastModifiedBy>
  <cp:revision>3</cp:revision>
  <dcterms:created xsi:type="dcterms:W3CDTF">2026-10-01T06:20:13Z</dcterms:created>
  <dcterms:modified xsi:type="dcterms:W3CDTF">2026-10-01T17:58:54Z</dcterms:modified>
</cp:coreProperties>
</file>