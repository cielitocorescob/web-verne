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jpg" ContentType="image/jpeg"/>
  <Override PartName="/ppt/media/image34.jpg" ContentType="image/jpeg"/>
  <Override PartName="/ppt/media/image35.jpg" ContentType="image/jpeg"/>
  <Override PartName="/ppt/media/image36.jpg" ContentType="image/jpeg"/>
  <Override PartName="/ppt/media/image50.jpg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0822"/>
  </p:normalViewPr>
  <p:slideViewPr>
    <p:cSldViewPr snapToGrid="0" snapToObjects="1">
      <p:cViewPr varScale="1">
        <p:scale>
          <a:sx n="101" d="100"/>
          <a:sy n="101" d="100"/>
        </p:scale>
        <p:origin x="1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4872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D468A17-14F2-0492-80D3-E68B7A915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0F9C3C-E504-791C-BF65-E19B6CA87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8ABE4-1F0C-5A4A-BB38-D28C5F4C7840}" type="datetimeFigureOut">
              <a:rPr lang="es-PE" smtClean="0"/>
              <a:t>1/10/26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E92177-3E7C-C5BB-200B-82E4DA03D0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6F8527-29A5-3940-FD05-718AD4DF87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3F708-9E72-5340-8196-40503EE965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895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85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Apertura. VERNE: Consultora Estratégica de Comunicación Digital, potenciada con Inteligencia Artificial.</a:t>
            </a:r>
          </a:p>
          <a:p>
            <a:r>
              <a:t>www.verne.la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comunicación estratégica ya no vive solo en los medios. Hoy se juega en tres frentes:</a:t>
            </a:r>
          </a:p>
          <a:p/>
          <a:p>
            <a:r>
              <a:t>1. Reputación y liderazgo — 3x más confianza cuando la información la comparte un directivo o colaborador que la cuenta institucional (Fuente: Edelman Trust Barometer). Posicionamos a la marca corporativa, a sus líderes y embajadores en el ecosistema digital.</a:t>
            </a:r>
          </a:p>
          <a:p>
            <a:r>
              <a:t>2. Visibilidad y presencia digital — 70% de los consumidores peruanos usa IA para informarse antes de comprar o contratar (Fuente: Impronta Research, ago 2025). Logramos que te encuentren, citen y recomienden en buscadores, IA y medios.</a:t>
            </a:r>
          </a:p>
          <a:p>
            <a:r>
              <a:t>3. Adopción y capacidades de IA — 90% de las áreas de Comunicación y Marketing en el mundo ya experimenta con IA (Fuente: McKinsey, 2026). Habilitamos a los equipos para usar IA generativa en su día a día.</a:t>
            </a:r>
          </a:p>
          <a:p/>
          <a:p>
            <a:r>
              <a:t>Cierre: Ni solo tecnología ni solo comunicación tradicional.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Confían en nosotros: empresas líderes de sectores regulados y competitivos.</a:t>
            </a:r>
          </a:p>
          <a:p>
            <a:r>
              <a:t>Sectores: Energía, Minería e Hidrocarburos · Banca y Servicios Financieros · Consumo, Retail e Industria · Educación, Servicios e Infraestructura.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Dos modalidades para cada uno de los tres frentes:</a:t>
            </a:r>
          </a:p>
          <a:p>
            <a:r>
              <a:t>- CONSULTORÍA (lo hacemos por ti)</a:t>
            </a:r>
          </a:p>
          <a:p>
            <a:r>
              <a:t>- FORMACIÓN (habilitamos a tu equipo)</a:t>
            </a:r>
          </a:p>
          <a:p/>
          <a:p>
            <a:r>
              <a:t>1. Reputación y liderazgo — Consultoría: Marca Directiva y Corporativa; Embajadores digitales. Formación: Talleres de Marca Directiva y Embajadores.</a:t>
            </a:r>
          </a:p>
          <a:p>
            <a:r>
              <a:t>2. Visibilidad y presencia digital — Consultoría: Posicionamiento GEO; Marketing de Contenidos; Asuntos Públicos. Formación: Formación para periodistas; Political Intelligence AI.</a:t>
            </a:r>
          </a:p>
          <a:p>
            <a:r>
              <a:t>3. Adopción y capacidades de IA — Consultoría: Diagnóstico de madurez digital; Agentic AI Studio; Agentic AI Reputation; GEO Rank; Data Pulse. Formación: Talleres de IA, data y automatización; Taller de IA para comunicación y MKT; Claude AI para empresas; Taller IA Agéntica.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Construimos la marca de tu empresa a través de la voz de sus líderes. Los líderes cambian, la marca permanece.</a:t>
            </a:r>
          </a:p>
          <a:p/>
          <a:p>
            <a:r>
              <a:t>Marca Corporativa: la reputación y credibilidad de la empresa en el ecosistema digital. Es lo que permanece.</a:t>
            </a:r>
          </a:p>
          <a:p>
            <a:r>
              <a:t>Marca Directiva: tus C-level, directivos y voceros dan rostro y voz a esa narrativa. Es lo que la amplifica.</a:t>
            </a:r>
          </a:p>
          <a:p/>
          <a:p>
            <a:r>
              <a:t>Cómo trabajamos:</a:t>
            </a:r>
          </a:p>
          <a:p>
            <a:r>
              <a:t>01 Diagnóstico — Analizamos la presencia digital de la empresa y de sus directivos, y la comparamos con la de sus pares en la industria.</a:t>
            </a:r>
          </a:p>
          <a:p>
            <a:r>
              <a:t>02 Estrategia — Definimos la narrativa corporativa, los ejes de contenido y el rol de cada vocero, para que el mensaje sea de la empresa y no dependa de una sola persona.</a:t>
            </a:r>
          </a:p>
          <a:p>
            <a:r>
              <a:t>03 Gestión — Creamos contenidos, acompañamos a los voceros y medimos el desempeño de la marca corporativa y de sus líderes.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Amplificamos la comunicación corporativa a través de tus colaboradores, quienes hablan como la voz más genuina de la marca.</a:t>
            </a:r>
          </a:p>
          <a:p/>
          <a:p>
            <a:r>
              <a:t>01 Estrategia — Seleccionamos y activamos embajadores alineados a los objetivos de la marca.</a:t>
            </a:r>
          </a:p>
          <a:p>
            <a:r>
              <a:t>02 Acompañamiento — Buenas prácticas, benchmark y co-creación de contenidos, con soporte continuo.</a:t>
            </a:r>
          </a:p>
          <a:p>
            <a:r>
              <a:t>03 Medición — Data pública, matriz de evaluación e informe mensual de desempeño, con Data Pulse.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Logramos que la IA cite y recomiende a tu marca. Trabajamos para que ChatGPT, Google AI Overview, Perplexity y Claude te mencionen en tu categoría.</a:t>
            </a:r>
          </a:p>
          <a:p>
            <a:r>
              <a:t>(La tarjeta de la derecha es una ilustración del objetivo: que tu marca aparezca en la respuesta de los motores de IA.)</a:t>
            </a:r>
          </a:p>
          <a:p/>
          <a:p>
            <a:r>
              <a:t>01 Diagnóstico (15 días) — Una radiografía de cómo aparece tu marca frente a la competencia, con brechas y oportunidades.</a:t>
            </a:r>
          </a:p>
          <a:p>
            <a:r>
              <a:t>02 Estrategia (15 días) — Definimos narrativas, arquitectura de contenidos y el recorrido del usuario en la IA.</a:t>
            </a:r>
          </a:p>
          <a:p>
            <a:r>
              <a:t>03 Implementación (60 días) — Parrilla GEO, producción de contenidos y verificación de citación en las IAs.</a:t>
            </a:r>
          </a:p>
          <a:p/>
          <a:p>
            <a:r>
              <a:t>Resultados medibles en visibilidad, posición, citaciones y share of voice en IA.</a:t>
            </a:r>
          </a:p>
          <a:p>
            <a:r>
              <a:t>Clientes: Gloria · 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 decimos qué tan bien usan tus equipos la IA y dónde invertir primero. Los niveles se inspiran en el modelo CMMI.</a:t>
            </a:r>
          </a:p>
          <a:p/>
          <a:p>
            <a:r>
              <a:t>01 Medimos la adopción — A través de una encuesta digital representativa y entrevistas a profundidad con quienes deciden, habilitan y construyen soluciones.</a:t>
            </a:r>
          </a:p>
          <a:p>
            <a:r>
              <a:t>02 Comparamos — Ubicamos a cada área en una escala de 5 niveles según su uso de IA generativa, automatización y datos. Cada una se mide con 7 indicadores, como autonomía, impacto y capacitación.</a:t>
            </a:r>
          </a:p>
          <a:p>
            <a:r>
              <a:t>03 Priorizamos — Dashboard interactivo, informe ejecutivo, segmentación de gerencias y hoja de ruta a 0-3, 3-9 y 9-18 meses.</a:t>
            </a:r>
          </a:p>
          <a:p/>
          <a:p>
            <a:r>
              <a:t>Clientes: BCP / Credicorp · Primax.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Nuestras cuatro soluciones de Inteligencia Artificial:</a:t>
            </a:r>
          </a:p>
          <a:p/>
          <a:p>
            <a:r>
              <a:t>Agentic AI Studio — Estudio de contenidos con agentes de IA. Desde el ADN de tu marca, los agentes crean piezas multiformato listas para aprobar en minutos.</a:t>
            </a:r>
          </a:p>
          <a:p>
            <a:r>
              <a:t>Agentic AI Reputation — Consultor de reputación. Asesora ante cualquier situación que afecte tu reputación con base histórica del negocio y la reputación.</a:t>
            </a:r>
          </a:p>
          <a:p>
            <a:r>
              <a:t>GEO Rank — Plataforma de monitoreo GEO. Mide la visibilidad, las citas y la veracidad de tu marca en las IAs, y traza la ruta para posicionarte.</a:t>
            </a:r>
          </a:p>
          <a:p>
            <a:r>
              <a:t>Data Pulse — Tracking de performance de embajadores digitales. Mide el desempeño de tus embajadores y convierte la data en acciones de comunicación.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Temario y casos a medida para cada empresa. Habilitamos a tu equipo para que trabaje con IA y lo haga por sí mismo.</a:t>
            </a:r>
          </a:p>
          <a:p/>
          <a:p>
            <a:r>
              <a:t>1. Reputación y liderazgo — Voceros creíbles</a:t>
            </a:r>
          </a:p>
          <a:p>
            <a:r>
              <a:t>- Marca Directiva y Embajadores: líderes y colaboradores aprenden a comunicar con credibilidad en el entorno digital.</a:t>
            </a:r>
          </a:p>
          <a:p/>
          <a:p>
            <a:r>
              <a:t>2. Visibilidad y presencia digital — Prensa y entorno digital como aliados</a:t>
            </a:r>
          </a:p>
          <a:p>
            <a:r>
              <a:t>- Formación para periodistas: IA generativa aplicada al periodismo, con conferencia, taller práctico y certificado co-branding.</a:t>
            </a:r>
          </a:p>
          <a:p>
            <a:r>
              <a:t>- Political Intelligence AI: exposiciones y talleres de una hora sobre coyuntura política.</a:t>
            </a:r>
          </a:p>
          <a:p/>
          <a:p>
            <a:r>
              <a:t>3. Adopción y capacidades de IA — De la teoría al uso real de la IA</a:t>
            </a:r>
          </a:p>
          <a:p>
            <a:r>
              <a:t>- IA, data y automatización: Copilot Studio y Power Platform aplicados a casos reales del área.</a:t>
            </a:r>
          </a:p>
          <a:p>
            <a:r>
              <a:t>- IA para comunicación y marketing: IA generativa aplicada al análisis de data y a los flujos de contenido, campañas y ventas.</a:t>
            </a:r>
          </a:p>
          <a:p>
            <a:r>
              <a:t>- Claude AI para empresas: implementación y onboarding del área para sistematizar el trabajo con IA en el día a día.</a:t>
            </a:r>
          </a:p>
          <a:p>
            <a:r>
              <a:t>- Taller IA Agéntica: tu equipo aprende a crear y usar agentes de IA que ejecutan tareas de comunicación y marketing de principio a fin.</a:t>
            </a:r>
          </a:p>
          <a:p/>
          <a:p>
            <a:r>
              <a:t>Clientes: BCP · Pacífico Seguros · Interbank · Antapaccay · Petrotal.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Trabajamos con los principales ecosistemas de IA y automatización:</a:t>
            </a:r>
          </a:p>
          <a:p>
            <a:r>
              <a:t>- Ecosistema Microsoft: Copilot Studio, Power Apps, Power BI, Power Automate.</a:t>
            </a:r>
          </a:p>
          <a:p>
            <a:r>
              <a:t>- Ecosistema Anthropic: Claude Projects, Claude Code.</a:t>
            </a:r>
          </a:p>
          <a:p>
            <a:r>
              <a:t>- Ecosistema OpenAI: ChatGPT Projects, Codex.</a:t>
            </a:r>
          </a:p>
          <a:p>
            <a:r>
              <a:t>- Ecosistema Google: Gemini Gems, Nano Banana.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Resultados medidos con nuestros clientes: lo que logramos en cada frente.</a:t>
            </a:r>
          </a:p>
          <a:p/>
          <a:p>
            <a:r>
              <a:t>Reputación y liderazgo</a:t>
            </a:r>
          </a:p>
          <a:p>
            <a:r>
              <a:t>- PetroTal · Embajadores: +180% interacciones; +256% publicaciones propias; +13% seguidores (+6,365).</a:t>
            </a:r>
          </a:p>
          <a:p>
            <a:r>
              <a:t>- Enel Perú · Marca Directiva (Marco Fragale): +2 pts posicionamiento digital; +68% seguidores; +35% contenido propio; +27% interacciones.</a:t>
            </a:r>
          </a:p>
          <a:p/>
          <a:p>
            <a:r>
              <a:t>Visibilidad y presencia digital</a:t>
            </a:r>
          </a:p>
          <a:p>
            <a:r>
              <a:t>- Promigas · Periodistas: 146 periodistas; +7,000 reproducciones; 1,500 interacciones; cobertura en medios (América TV, Infomercado).</a:t>
            </a:r>
          </a:p>
          <a:p>
            <a:r>
              <a:t>- InRetail Pharma · Diagnóstico GEO: caso de diagnóstico. 3 motores de IA auditados (ChatGPT, Gemini, Perplexity); metodología en 3 etapas; 2 frentes de escucha.</a:t>
            </a:r>
          </a:p>
          <a:p/>
          <a:p>
            <a:r>
              <a:t>Adopción y capacidades de IA</a:t>
            </a:r>
          </a:p>
          <a:p>
            <a:r>
              <a:t>- BCP · Champions de IA: 4.75/5 de satisfacción; +140 colaboradores capacitados; 100% aplicará lo aprendido.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Nosotros te acompañamos. Potenciamos la comunicación digital en empresas, mejorando el posicionamiento y reputación de directivos y equipos.</a:t>
            </a:r>
          </a:p>
          <a:p/>
          <a:p>
            <a:r>
              <a:t>Víctor Lozano — Director de Innovación (linkedin.com/in/victorlozanou)</a:t>
            </a:r>
          </a:p>
          <a:p>
            <a:r>
              <a:t>- +20 años de experiencia en Investigación de Mercados, Marketing Digital, Gestión de Marcas Directivas y Reputación.</a:t>
            </a:r>
          </a:p>
          <a:p>
            <a:r>
              <a:t>- Ha liderado estrategias de posicionamiento corporativo en Telecom, Banca, Consumo Masivo, Minería y Retail.</a:t>
            </a:r>
          </a:p>
          <a:p>
            <a:r>
              <a:t>- Maestría en Marketing y Transformación Digital por INCAE Business School.</a:t>
            </a:r>
          </a:p>
          <a:p>
            <a:r>
              <a:t>- Docente de Postgrado en Universidad de Piura y programas corporativos de UTEC. Columnista en Diario Gestión.</a:t>
            </a:r>
          </a:p>
          <a:p/>
          <a:p>
            <a:r>
              <a:t>Julio Talledo — Director Comercial &amp; Marketing (linkedin.com/in/juliotalledo)</a:t>
            </a:r>
          </a:p>
          <a:p>
            <a:r>
              <a:t>- Especialista en Marketing e Inteligencia Artificial Generativa. Director Comercial y de Marketing de Verne.</a:t>
            </a:r>
          </a:p>
          <a:p>
            <a:r>
              <a:t>- Maestría en Marketing y Ventas por INCAE Business School.</a:t>
            </a:r>
          </a:p>
          <a:p>
            <a:r>
              <a:t>- Docente de IA Generativa en UDEP, CENTRUM PUCP, UPC y USIL.</a:t>
            </a:r>
          </a:p>
          <a:p>
            <a:r>
              <a:t>- Ha colaborado con BCP, Grupo Romero, Universidad de Piura, Ransa, LAP, Bitel y más.</a:t>
            </a:r>
          </a:p>
          <a:p/>
          <a:p>
            <a:r>
              <a:t>www.verne.la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86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177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build/a/verne_purple.png">
            <a:extLst>
              <a:ext uri="{FF2B5EF4-FFF2-40B4-BE49-F238E27FC236}">
                <a16:creationId xmlns:a16="http://schemas.microsoft.com/office/drawing/2014/main" id="{FBB6DC3B-FB91-824D-CEFF-13DEA329E6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7771"/>
          </a:xfrm>
          <a:prstGeom prst="rect">
            <a:avLst/>
          </a:prstGeom>
        </p:spPr>
      </p:pic>
      <p:sp>
        <p:nvSpPr>
          <p:cNvPr id="3" name="Text 19">
            <a:extLst>
              <a:ext uri="{FF2B5EF4-FFF2-40B4-BE49-F238E27FC236}">
                <a16:creationId xmlns:a16="http://schemas.microsoft.com/office/drawing/2014/main" id="{7A0CFB29-85BB-E5E4-3FF9-FD0648AF6788}"/>
              </a:ext>
            </a:extLst>
          </p:cNvPr>
          <p:cNvSpPr txBox="1"/>
          <p:nvPr userDrawn="1"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dirty="0">
                <a:solidFill>
                  <a:srgbClr val="8A8C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www.verne.la</a:t>
            </a:r>
            <a:endParaRPr lang="es-PE" sz="900" dirty="0"/>
          </a:p>
        </p:txBody>
      </p:sp>
      <p:sp>
        <p:nvSpPr>
          <p:cNvPr id="5" name="Google Shape;6;g3a6107b0a18_10_0">
            <a:extLst>
              <a:ext uri="{FF2B5EF4-FFF2-40B4-BE49-F238E27FC236}">
                <a16:creationId xmlns:a16="http://schemas.microsoft.com/office/drawing/2014/main" id="{6C4E5576-B09F-ADF2-2BBB-D511D116F8AB}"/>
              </a:ext>
            </a:extLst>
          </p:cNvPr>
          <p:cNvSpPr txBox="1"/>
          <p:nvPr userDrawn="1"/>
        </p:nvSpPr>
        <p:spPr>
          <a:xfrm>
            <a:off x="-255255" y="6453553"/>
            <a:ext cx="92960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 sz="1100" b="1" i="0" u="none" strike="noStrike" cap="none">
                <a:solidFill>
                  <a:srgbClr val="25283D"/>
                </a:solidFill>
                <a:latin typeface="Poppins"/>
                <a:ea typeface="Poppins"/>
                <a:cs typeface="Poppins"/>
                <a:sym typeface="Poppin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t>‹Nº›</a:t>
            </a:fld>
            <a:endParaRPr sz="1100" b="1" i="0" u="none" strike="noStrike" cap="none" dirty="0">
              <a:solidFill>
                <a:srgbClr val="2528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8948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jpg"/><Relationship Id="rId4" Type="http://schemas.openxmlformats.org/officeDocument/2006/relationships/image" Target="../media/image5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jpg"/><Relationship Id="rId4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32.png"/><Relationship Id="rId9" Type="http://schemas.openxmlformats.org/officeDocument/2006/relationships/image" Target="../media/image6.png"/><Relationship Id="rId10" Type="http://schemas.openxmlformats.org/officeDocument/2006/relationships/image" Target="../media/image14.png"/><Relationship Id="rId11" Type="http://schemas.openxmlformats.org/officeDocument/2006/relationships/image" Target="../media/image13.png"/><Relationship Id="rId12" Type="http://schemas.openxmlformats.org/officeDocument/2006/relationships/image" Target="../media/image15.png"/><Relationship Id="rId13" Type="http://schemas.openxmlformats.org/officeDocument/2006/relationships/image" Target="../media/image20.png"/><Relationship Id="rId14" Type="http://schemas.openxmlformats.org/officeDocument/2006/relationships/image" Target="../media/image33.png"/><Relationship Id="rId15" Type="http://schemas.openxmlformats.org/officeDocument/2006/relationships/image" Target="../media/image59.jpg"/><Relationship Id="rId16" Type="http://schemas.openxmlformats.org/officeDocument/2006/relationships/image" Target="../media/image60.png"/><Relationship Id="rId17" Type="http://schemas.openxmlformats.org/officeDocument/2006/relationships/image" Target="../media/image5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jp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image" Target="../media/image3.png"/><Relationship Id="rId9" Type="http://schemas.openxmlformats.org/officeDocument/2006/relationships/image" Target="../media/image33.png"/><Relationship Id="rId10" Type="http://schemas.openxmlformats.org/officeDocument/2006/relationships/image" Target="../media/image6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jpg"/><Relationship Id="rId4" Type="http://schemas.openxmlformats.org/officeDocument/2006/relationships/image" Target="../media/image5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jp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2.jpg"/><Relationship Id="rId4" Type="http://schemas.openxmlformats.org/officeDocument/2006/relationships/image" Target="../media/image63.png"/><Relationship Id="rId5" Type="http://schemas.openxmlformats.org/officeDocument/2006/relationships/image" Target="../media/image5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jpg"/><Relationship Id="rId4" Type="http://schemas.openxmlformats.org/officeDocument/2006/relationships/image" Target="../media/image5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37744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Consultora Estratégica de Comunicación Digital, potenciada con Inteligencia Artificial</a:t>
            </a:r>
            <a:endParaRPr lang="es-PE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6199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www.verne.la</a:t>
            </a:r>
            <a:endParaRPr lang="es-PE" sz="1100" dirty="0"/>
          </a:p>
        </p:txBody>
      </p:sp>
      <p:pic>
        <p:nvPicPr>
          <p:cNvPr id="8" name="Picture 7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02920"/>
            <a:ext cx="1325880" cy="466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0116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CREDENCIALES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053328"/>
            <a:ext cx="548640" cy="10973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QUIÉNES SOMOS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40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nexo entre la comunicación y la IA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933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comunicación estratégica ya no vive solo en los medios. Hoy se juega en tres frentes: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s-PE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2514600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</a:t>
            </a:r>
            <a:endParaRPr lang="es-PE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07792"/>
            <a:ext cx="33445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84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3x</a:t>
            </a:r>
            <a:endParaRPr lang="es-PE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06908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confianza cuando la información la comparte un directivo o colaborador que la cuenta institucional.</a:t>
            </a:r>
            <a:endParaRPr lang="es-PE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709160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Edelman Trust Barometer</a:t>
            </a:r>
            <a:endParaRPr lang="es-PE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4992624"/>
            <a:ext cx="336285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594360" y="5084064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Posicionamos a la marca corporativa, a sus líderes y embajadores en el ecosistema digital.</a:t>
            </a:r>
            <a:endParaRPr lang="es-PE" sz="1200" dirty="0"/>
          </a:p>
        </p:txBody>
      </p:sp>
      <p:sp>
        <p:nvSpPr>
          <p:cNvPr id="14" name="Shape 12"/>
          <p:cNvSpPr/>
          <p:nvPr/>
        </p:nvSpPr>
        <p:spPr>
          <a:xfrm>
            <a:off x="4185818" y="2514600"/>
            <a:ext cx="0" cy="310896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414418" y="2514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441441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s-PE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44770" y="2514600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</a:t>
            </a:r>
            <a:endParaRPr lang="es-PE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14418" y="2907792"/>
            <a:ext cx="3362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84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s-PE" sz="5800" dirty="0"/>
          </a:p>
        </p:txBody>
      </p:sp>
      <p:sp>
        <p:nvSpPr>
          <p:cNvPr id="19" name="Text 17"/>
          <p:cNvSpPr txBox="1"/>
          <p:nvPr/>
        </p:nvSpPr>
        <p:spPr>
          <a:xfrm>
            <a:off x="4414418" y="406908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consumidores peruanos usa IA para informarse antes de comprar o contratar.</a:t>
            </a:r>
            <a:endParaRPr lang="es-PE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14418" y="4709160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Impronta Research, ago 2025</a:t>
            </a:r>
            <a:endParaRPr lang="es-PE" sz="900" dirty="0"/>
          </a:p>
        </p:txBody>
      </p:sp>
      <p:sp>
        <p:nvSpPr>
          <p:cNvPr id="21" name="Shape 19"/>
          <p:cNvSpPr/>
          <p:nvPr/>
        </p:nvSpPr>
        <p:spPr>
          <a:xfrm>
            <a:off x="4414418" y="4992624"/>
            <a:ext cx="336285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4414418" y="5084064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Logramos que te encuentren, citen y recomienden en buscadores, IA y medios.</a:t>
            </a:r>
            <a:endParaRPr lang="es-PE" sz="1200" dirty="0"/>
          </a:p>
        </p:txBody>
      </p:sp>
      <p:sp>
        <p:nvSpPr>
          <p:cNvPr id="23" name="Shape 21"/>
          <p:cNvSpPr/>
          <p:nvPr/>
        </p:nvSpPr>
        <p:spPr>
          <a:xfrm>
            <a:off x="8005877" y="2514600"/>
            <a:ext cx="0" cy="310896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234477" y="2514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8234477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s-PE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64829" y="2514600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34477" y="2907792"/>
            <a:ext cx="3362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84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90%</a:t>
            </a:r>
            <a:endParaRPr lang="es-PE" sz="5800" dirty="0"/>
          </a:p>
        </p:txBody>
      </p:sp>
      <p:sp>
        <p:nvSpPr>
          <p:cNvPr id="28" name="Text 26"/>
          <p:cNvSpPr txBox="1"/>
          <p:nvPr/>
        </p:nvSpPr>
        <p:spPr>
          <a:xfrm>
            <a:off x="8234477" y="406908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las áreas de Comunicación y Marketing en el mundo ya experimenta con IA.</a:t>
            </a:r>
            <a:endParaRPr lang="es-PE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34477" y="4709160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McKinsey, 2026</a:t>
            </a:r>
            <a:endParaRPr lang="es-PE" sz="900" dirty="0"/>
          </a:p>
        </p:txBody>
      </p:sp>
      <p:sp>
        <p:nvSpPr>
          <p:cNvPr id="30" name="Shape 28"/>
          <p:cNvSpPr/>
          <p:nvPr/>
        </p:nvSpPr>
        <p:spPr>
          <a:xfrm>
            <a:off x="8234477" y="4992624"/>
            <a:ext cx="336285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 txBox="1"/>
          <p:nvPr/>
        </p:nvSpPr>
        <p:spPr>
          <a:xfrm>
            <a:off x="8234477" y="5084064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Habilitamos a los equipos para usar IA generativa en su día a día.</a:t>
            </a:r>
            <a:endParaRPr lang="es-PE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 txBox="1"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 solo tecnología ni solo comunicación tradicional.</a:t>
            </a:r>
            <a:endParaRPr lang="es-PE" sz="15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tmp/claude-0/-home-user-compartamos-banco/f5aa2cae-8dfb-5efa-902a-389d1c1ca7cd/scratchpad/cbuild/a/s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916" y="1665594"/>
            <a:ext cx="676656" cy="143533"/>
          </a:xfrm>
          <a:prstGeom prst="rect">
            <a:avLst/>
          </a:prstGeom>
        </p:spPr>
      </p:pic>
      <p:pic>
        <p:nvPicPr>
          <p:cNvPr id="10" name="Image 1" descr="/tmp/claude-0/-home-user-compartamos-banco/f5aa2cae-8dfb-5efa-902a-389d1c1ca7cd/scratchpad/cbuild/a/s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055" y="1591056"/>
            <a:ext cx="217755" cy="292608"/>
          </a:xfrm>
          <a:prstGeom prst="rect">
            <a:avLst/>
          </a:prstGeom>
        </p:spPr>
      </p:pic>
      <p:pic>
        <p:nvPicPr>
          <p:cNvPr id="11" name="Image 2" descr="/tmp/claude-0/-home-user-compartamos-banco/f5aa2cae-8dfb-5efa-902a-389d1c1ca7cd/scratchpad/cbuild/a/s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593" y="1591056"/>
            <a:ext cx="596053" cy="292608"/>
          </a:xfrm>
          <a:prstGeom prst="rect">
            <a:avLst/>
          </a:prstGeom>
        </p:spPr>
      </p:pic>
      <p:pic>
        <p:nvPicPr>
          <p:cNvPr id="12" name="Image 3" descr="/tmp/claude-0/-home-user-compartamos-banco/f5aa2cae-8dfb-5efa-902a-389d1c1ca7cd/scratchpad/cbuild/a/s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980" y="1667628"/>
            <a:ext cx="676656" cy="139464"/>
          </a:xfrm>
          <a:prstGeom prst="rect">
            <a:avLst/>
          </a:prstGeom>
        </p:spPr>
      </p:pic>
      <p:pic>
        <p:nvPicPr>
          <p:cNvPr id="13" name="Image 4" descr="/tmp/claude-0/-home-user-compartamos-banco/f5aa2cae-8dfb-5efa-902a-389d1c1ca7cd/scratchpad/cbuild/a/s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0668" y="1629095"/>
            <a:ext cx="676656" cy="216530"/>
          </a:xfrm>
          <a:prstGeom prst="rect">
            <a:avLst/>
          </a:prstGeom>
        </p:spPr>
      </p:pic>
      <p:pic>
        <p:nvPicPr>
          <p:cNvPr id="14" name="Image 5" descr="/tmp/claude-0/-home-user-compartamos-banco/f5aa2cae-8dfb-5efa-902a-389d1c1ca7cd/scratchpad/cbuild/a/s3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045" y="1591056"/>
            <a:ext cx="671277" cy="292608"/>
          </a:xfrm>
          <a:prstGeom prst="rect">
            <a:avLst/>
          </a:prstGeom>
        </p:spPr>
      </p:pic>
      <p:pic>
        <p:nvPicPr>
          <p:cNvPr id="15" name="Image 6" descr="/tmp/claude-0/-home-user-compartamos-banco/f5aa2cae-8dfb-5efa-902a-389d1c1ca7cd/scratchpad/cbuild/a/s3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2044" y="1619149"/>
            <a:ext cx="676656" cy="236422"/>
          </a:xfrm>
          <a:prstGeom prst="rect">
            <a:avLst/>
          </a:prstGeom>
        </p:spPr>
      </p:pic>
      <p:pic>
        <p:nvPicPr>
          <p:cNvPr id="16" name="Image 7" descr="/tmp/claude-0/-home-user-compartamos-banco/f5aa2cae-8dfb-5efa-902a-389d1c1ca7cd/scratchpad/cbuild/a/s3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7732" y="1615774"/>
            <a:ext cx="676656" cy="243173"/>
          </a:xfrm>
          <a:prstGeom prst="rect">
            <a:avLst/>
          </a:prstGeom>
        </p:spPr>
      </p:pic>
      <p:pic>
        <p:nvPicPr>
          <p:cNvPr id="17" name="Image 8" descr="/tmp/claude-0/-home-user-compartamos-banco/f5aa2cae-8dfb-5efa-902a-389d1c1ca7cd/scratchpad/cbuild/a/s3_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3420" y="1604971"/>
            <a:ext cx="676656" cy="264778"/>
          </a:xfrm>
          <a:prstGeom prst="rect">
            <a:avLst/>
          </a:prstGeom>
        </p:spPr>
      </p:pic>
      <p:pic>
        <p:nvPicPr>
          <p:cNvPr id="18" name="Image 9" descr="/tmp/claude-0/-home-user-compartamos-banco/f5aa2cae-8dfb-5efa-902a-389d1c1ca7cd/scratchpad/cbuild/a/s3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9312" y="2048256"/>
            <a:ext cx="553865" cy="292608"/>
          </a:xfrm>
          <a:prstGeom prst="rect">
            <a:avLst/>
          </a:prstGeom>
        </p:spPr>
      </p:pic>
      <p:pic>
        <p:nvPicPr>
          <p:cNvPr id="19" name="Image 10" descr="/tmp/claude-0/-home-user-compartamos-banco/f5aa2cae-8dfb-5efa-902a-389d1c1ca7cd/scratchpad/cbuild/a/s3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62649" y="2048256"/>
            <a:ext cx="578566" cy="292608"/>
          </a:xfrm>
          <a:prstGeom prst="rect">
            <a:avLst/>
          </a:prstGeom>
        </p:spPr>
      </p:pic>
      <p:pic>
        <p:nvPicPr>
          <p:cNvPr id="20" name="Image 11" descr="/tmp/claude-0/-home-user-compartamos-banco/f5aa2cae-8dfb-5efa-902a-389d1c1ca7cd/scratchpad/cbuild/a/s3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9292" y="2094673"/>
            <a:ext cx="676656" cy="199774"/>
          </a:xfrm>
          <a:prstGeom prst="rect">
            <a:avLst/>
          </a:prstGeom>
        </p:spPr>
      </p:pic>
      <p:pic>
        <p:nvPicPr>
          <p:cNvPr id="21" name="Image 12" descr="/tmp/claude-0/-home-user-compartamos-banco/f5aa2cae-8dfb-5efa-902a-389d1c1ca7cd/scratchpad/cbuild/a/s3_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24980" y="2052785"/>
            <a:ext cx="676656" cy="283551"/>
          </a:xfrm>
          <a:prstGeom prst="rect">
            <a:avLst/>
          </a:prstGeom>
        </p:spPr>
      </p:pic>
      <p:pic>
        <p:nvPicPr>
          <p:cNvPr id="25" name="Image 13" descr="/tmp/claude-0/-home-user-compartamos-banco/f5aa2cae-8dfb-5efa-902a-389d1c1ca7cd/scratchpad/cbuild/a/s3_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07916" y="3300729"/>
            <a:ext cx="676656" cy="128527"/>
          </a:xfrm>
          <a:prstGeom prst="rect">
            <a:avLst/>
          </a:prstGeom>
        </p:spPr>
      </p:pic>
      <p:pic>
        <p:nvPicPr>
          <p:cNvPr id="26" name="Image 14" descr="/tmp/claude-0/-home-user-compartamos-banco/f5aa2cae-8dfb-5efa-902a-389d1c1ca7cd/scratchpad/cbuild/a/s3_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13604" y="3284197"/>
            <a:ext cx="676656" cy="161589"/>
          </a:xfrm>
          <a:prstGeom prst="rect">
            <a:avLst/>
          </a:prstGeom>
        </p:spPr>
      </p:pic>
      <p:pic>
        <p:nvPicPr>
          <p:cNvPr id="27" name="Image 15" descr="/tmp/claude-0/-home-user-compartamos-banco/f5aa2cae-8dfb-5efa-902a-389d1c1ca7cd/scratchpad/cbuild/a/s3_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9292" y="3283138"/>
            <a:ext cx="676656" cy="163707"/>
          </a:xfrm>
          <a:prstGeom prst="rect">
            <a:avLst/>
          </a:prstGeom>
        </p:spPr>
      </p:pic>
      <p:pic>
        <p:nvPicPr>
          <p:cNvPr id="28" name="Image 16" descr="/tmp/claude-0/-home-user-compartamos-banco/f5aa2cae-8dfb-5efa-902a-389d1c1ca7cd/scratchpad/cbuild/a/s3_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24980" y="3288991"/>
            <a:ext cx="676656" cy="152002"/>
          </a:xfrm>
          <a:prstGeom prst="rect">
            <a:avLst/>
          </a:prstGeom>
        </p:spPr>
      </p:pic>
      <p:pic>
        <p:nvPicPr>
          <p:cNvPr id="29" name="Image 17" descr="/tmp/claude-0/-home-user-compartamos-banco/f5aa2cae-8dfb-5efa-902a-389d1c1ca7cd/scratchpad/cbuild/a/s3_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30668" y="3303478"/>
            <a:ext cx="676656" cy="123028"/>
          </a:xfrm>
          <a:prstGeom prst="rect">
            <a:avLst/>
          </a:prstGeom>
        </p:spPr>
      </p:pic>
      <p:pic>
        <p:nvPicPr>
          <p:cNvPr id="33" name="Image 18" descr="/tmp/claude-0/-home-user-compartamos-banco/f5aa2cae-8dfb-5efa-902a-389d1c1ca7cd/scratchpad/cbuild/a/s3_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07916" y="4481639"/>
            <a:ext cx="676656" cy="107571"/>
          </a:xfrm>
          <a:prstGeom prst="rect">
            <a:avLst/>
          </a:prstGeom>
        </p:spPr>
      </p:pic>
      <p:pic>
        <p:nvPicPr>
          <p:cNvPr id="34" name="Image 19" descr="/tmp/claude-0/-home-user-compartamos-banco/f5aa2cae-8dfb-5efa-902a-389d1c1ca7cd/scratchpad/cbuild/a/s3_1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93288" y="4389120"/>
            <a:ext cx="517289" cy="292608"/>
          </a:xfrm>
          <a:prstGeom prst="rect">
            <a:avLst/>
          </a:prstGeom>
        </p:spPr>
      </p:pic>
      <p:pic>
        <p:nvPicPr>
          <p:cNvPr id="35" name="Image 20" descr="/tmp/claude-0/-home-user-compartamos-banco/f5aa2cae-8dfb-5efa-902a-389d1c1ca7cd/scratchpad/cbuild/a/s3_3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9292" y="4450323"/>
            <a:ext cx="676656" cy="170202"/>
          </a:xfrm>
          <a:prstGeom prst="rect">
            <a:avLst/>
          </a:prstGeom>
        </p:spPr>
      </p:pic>
      <p:pic>
        <p:nvPicPr>
          <p:cNvPr id="36" name="Image 21" descr="/tmp/claude-0/-home-user-compartamos-banco/f5aa2cae-8dfb-5efa-902a-389d1c1ca7cd/scratchpad/cbuild/a/s3_1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24980" y="4483374"/>
            <a:ext cx="676656" cy="104101"/>
          </a:xfrm>
          <a:prstGeom prst="rect">
            <a:avLst/>
          </a:prstGeom>
        </p:spPr>
      </p:pic>
      <p:pic>
        <p:nvPicPr>
          <p:cNvPr id="40" name="Image 22" descr="/tmp/claude-0/-home-user-compartamos-banco/f5aa2cae-8dfb-5efa-902a-389d1c1ca7cd/scratchpad/cbuild/a/s3_20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07916" y="5592292"/>
            <a:ext cx="676656" cy="227129"/>
          </a:xfrm>
          <a:prstGeom prst="rect">
            <a:avLst/>
          </a:prstGeom>
        </p:spPr>
      </p:pic>
      <p:pic>
        <p:nvPicPr>
          <p:cNvPr id="41" name="Image 23" descr="/tmp/claude-0/-home-user-compartamos-banco/f5aa2cae-8dfb-5efa-902a-389d1c1ca7cd/scratchpad/cbuild/a/s3_2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22026" y="5559552"/>
            <a:ext cx="459812" cy="292608"/>
          </a:xfrm>
          <a:prstGeom prst="rect">
            <a:avLst/>
          </a:prstGeom>
        </p:spPr>
      </p:pic>
      <p:pic>
        <p:nvPicPr>
          <p:cNvPr id="42" name="Image 24" descr="/tmp/claude-0/-home-user-compartamos-banco/f5aa2cae-8dfb-5efa-902a-389d1c1ca7cd/scratchpad/cbuild/a/s3_22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9292" y="5578886"/>
            <a:ext cx="676656" cy="253939"/>
          </a:xfrm>
          <a:prstGeom prst="rect">
            <a:avLst/>
          </a:prstGeom>
        </p:spPr>
      </p:pic>
      <p:pic>
        <p:nvPicPr>
          <p:cNvPr id="43" name="Image 25" descr="/tmp/claude-0/-home-user-compartamos-banco/f5aa2cae-8dfb-5efa-902a-389d1c1ca7cd/scratchpad/cbuild/a/s3_23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39520" y="5559552"/>
            <a:ext cx="647575" cy="292608"/>
          </a:xfrm>
          <a:prstGeom prst="rect">
            <a:avLst/>
          </a:prstGeom>
        </p:spPr>
      </p:pic>
      <p:pic>
        <p:nvPicPr>
          <p:cNvPr id="44" name="Image 26" descr="/tmp/claude-0/-home-user-compartamos-banco/f5aa2cae-8dfb-5efa-902a-389d1c1ca7cd/scratchpad/cbuild/a/s3_24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30668" y="5596550"/>
            <a:ext cx="676656" cy="218612"/>
          </a:xfrm>
          <a:prstGeom prst="rect">
            <a:avLst/>
          </a:prstGeom>
        </p:spPr>
      </p:pic>
      <p:pic>
        <p:nvPicPr>
          <p:cNvPr id="45" name="Image 27" descr="/tmp/claude-0/-home-user-compartamos-banco/f5aa2cae-8dfb-5efa-902a-389d1c1ca7cd/scratchpad/cbuild/a/s3_25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6356" y="5612935"/>
            <a:ext cx="676656" cy="185842"/>
          </a:xfrm>
          <a:prstGeom prst="rect">
            <a:avLst/>
          </a:prstGeom>
        </p:spPr>
      </p:pic>
      <p:pic>
        <p:nvPicPr>
          <p:cNvPr id="46" name="Image 28" descr="/tmp/claude-0/-home-user-compartamos-banco/f5aa2cae-8dfb-5efa-902a-389d1c1ca7cd/scratchpad/cbuild/a/s3_26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42044" y="5593080"/>
            <a:ext cx="676656" cy="225552"/>
          </a:xfrm>
          <a:prstGeom prst="rect">
            <a:avLst/>
          </a:prstGeom>
        </p:spPr>
      </p:pic>
      <p:pic>
        <p:nvPicPr>
          <p:cNvPr id="47" name="Image 29" descr="/tmp/claude-0/-home-user-compartamos-banco/f5aa2cae-8dfb-5efa-902a-389d1c1ca7cd/scratchpad/cbuild/a/s3_27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47732" y="5604951"/>
            <a:ext cx="676656" cy="201810"/>
          </a:xfrm>
          <a:prstGeom prst="rect">
            <a:avLst/>
          </a:prstGeom>
        </p:spPr>
      </p:pic>
      <p:pic>
        <p:nvPicPr>
          <p:cNvPr id="48" name="Image 30" descr="/tmp/claude-0/-home-user-compartamos-banco/f5aa2cae-8dfb-5efa-902a-389d1c1ca7cd/scratchpad/cbuild/a/s3_28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53420" y="5634090"/>
            <a:ext cx="676656" cy="14353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94360" y="9144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CON QUIÉNES TRABAJAMOS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1188720"/>
            <a:ext cx="34747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Confían en nosotros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29260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Empresas líderes de sectores regulados y competitivos.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1051560"/>
            <a:ext cx="725119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3400" y="1179576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Energía, Minería e Hidrocarburos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43400" y="2679192"/>
            <a:ext cx="725119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43400" y="2807208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Banca y Servicios Financieros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3849624"/>
            <a:ext cx="725119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43400" y="3977640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Consumo, Retail e Industria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43400" y="5020056"/>
            <a:ext cx="725119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5148072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Educación, Servicios e Infraestructura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9456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QUÉ HACEMOS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Nuestros servicios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1</a:t>
            </a:r>
          </a:p>
          <a:p>
            <a:pPr algn="l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Reputación y liderazgo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2</a:t>
            </a:r>
          </a:p>
          <a:p>
            <a:pPr algn="l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Visibilidad y presencia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3</a:t>
            </a:r>
          </a:p>
          <a:p>
            <a:pPr algn="l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Adopción y capacidades de 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498848"/>
            <a:ext cx="12191695" cy="1600200"/>
          </a:xfrm>
          <a:prstGeom prst="rect">
            <a:avLst/>
          </a:prstGeom>
          <a:solidFill>
            <a:srgbClr val="6D4AB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852928"/>
            <a:ext cx="11000232" cy="10973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498848"/>
            <a:ext cx="11000232" cy="10973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3580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CONSULTORÍA</a:t>
            </a:r>
          </a:p>
          <a:p>
            <a:pPr algn="l"/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(lo hacemos por ti)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817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FORMACIÓN</a:t>
            </a:r>
          </a:p>
          <a:p>
            <a:pPr algn="l"/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(habilitamos a tu equipo)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03580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Marca Directiva y Corporativa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Embajadores digitales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68172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Talleres de Marca Directiva y Embajadores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03580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Posicionamiento GEO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Marketing de Contenidos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Asuntos Públicos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68172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Formación para periodistas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Political Intelligence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03580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Diagnóstico de madurez digital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Agentic AI Studio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Agentic AI Reputation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GEO Rank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Data 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68172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Talleres de IA, data y automatización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Taller de IA para comunicación y MKT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Claude AI para empresas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Taller IA Agéntica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/tmp/claude-0/-home-user-compartamos-banco/f5aa2cae-8dfb-5efa-902a-389d1c1ca7cd/scratchpad/cbuild/a/s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984" y="5541264"/>
            <a:ext cx="708279" cy="237744"/>
          </a:xfrm>
          <a:prstGeom prst="rect">
            <a:avLst/>
          </a:prstGeom>
        </p:spPr>
      </p:pic>
      <p:pic>
        <p:nvPicPr>
          <p:cNvPr id="24" name="Image 2" descr="/tmp/claude-0/-home-user-compartamos-banco/f5aa2cae-8dfb-5efa-902a-389d1c1ca7cd/scratchpad/cbuild/a/s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1872" y="5541264"/>
            <a:ext cx="680440" cy="237744"/>
          </a:xfrm>
          <a:prstGeom prst="rect">
            <a:avLst/>
          </a:prstGeom>
        </p:spPr>
      </p:pic>
      <p:pic>
        <p:nvPicPr>
          <p:cNvPr id="25" name="Image 3" descr="/tmp/claude-0/-home-user-compartamos-banco/f5aa2cae-8dfb-5efa-902a-389d1c1ca7cd/scratchpad/cbuild/a/s5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0597" y="5541264"/>
            <a:ext cx="176926" cy="237744"/>
          </a:xfrm>
          <a:prstGeom prst="rect">
            <a:avLst/>
          </a:prstGeom>
        </p:spPr>
      </p:pic>
      <p:pic>
        <p:nvPicPr>
          <p:cNvPr id="26" name="Image 4" descr="/tmp/claude-0/-home-user-compartamos-banco/f5aa2cae-8dfb-5efa-902a-389d1c1ca7cd/scratchpad/cbuild/a/s5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9412" y="5584490"/>
            <a:ext cx="713232" cy="151292"/>
          </a:xfrm>
          <a:prstGeom prst="rect">
            <a:avLst/>
          </a:prstGeom>
        </p:spPr>
      </p:pic>
      <p:pic>
        <p:nvPicPr>
          <p:cNvPr id="27" name="Image 5" descr="/tmp/claude-0/-home-user-compartamos-banco/f5aa2cae-8dfb-5efa-902a-389d1c1ca7cd/scratchpad/cbuild/a/s5_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6380" y="5553777"/>
            <a:ext cx="713232" cy="212718"/>
          </a:xfrm>
          <a:prstGeom prst="rect">
            <a:avLst/>
          </a:prstGeom>
        </p:spPr>
      </p:pic>
      <p:pic>
        <p:nvPicPr>
          <p:cNvPr id="28" name="Image 6" descr="/tmp/claude-0/-home-user-compartamos-banco/f5aa2cae-8dfb-5efa-902a-389d1c1ca7cd/scratchpad/cbuild/a/s5_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3348" y="5586635"/>
            <a:ext cx="713232" cy="147002"/>
          </a:xfrm>
          <a:prstGeom prst="rect">
            <a:avLst/>
          </a:prstGeom>
        </p:spPr>
      </p:pic>
      <p:pic>
        <p:nvPicPr>
          <p:cNvPr id="29" name="Image 7" descr="/tmp/claude-0/-home-user-compartamos-banco/f5aa2cae-8dfb-5efa-902a-389d1c1ca7cd/scratchpad/cbuild/a/s5_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8508" y="5938897"/>
            <a:ext cx="713232" cy="210573"/>
          </a:xfrm>
          <a:prstGeom prst="rect">
            <a:avLst/>
          </a:prstGeom>
        </p:spPr>
      </p:pic>
      <p:pic>
        <p:nvPicPr>
          <p:cNvPr id="30" name="Image 8" descr="/tmp/claude-0/-home-user-compartamos-banco/f5aa2cae-8dfb-5efa-902a-389d1c1ca7cd/scratchpad/cbuild/a/s5_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7050" y="5925312"/>
            <a:ext cx="470084" cy="237744"/>
          </a:xfrm>
          <a:prstGeom prst="rect">
            <a:avLst/>
          </a:prstGeom>
        </p:spPr>
      </p:pic>
      <p:pic>
        <p:nvPicPr>
          <p:cNvPr id="31" name="Image 9" descr="/tmp/claude-0/-home-user-compartamos-banco/f5aa2cae-8dfb-5efa-902a-389d1c1ca7cd/scratchpad/cbuild/a/s5_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5388" y="5925312"/>
            <a:ext cx="567343" cy="237744"/>
          </a:xfrm>
          <a:prstGeom prst="rect">
            <a:avLst/>
          </a:prstGeom>
        </p:spPr>
      </p:pic>
      <p:pic>
        <p:nvPicPr>
          <p:cNvPr id="32" name="Image 10" descr="/tmp/claude-0/-home-user-compartamos-banco/f5aa2cae-8dfb-5efa-902a-389d1c1ca7cd/scratchpad/cbuild/a/s5_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9412" y="5979345"/>
            <a:ext cx="713232" cy="129679"/>
          </a:xfrm>
          <a:prstGeom prst="rect">
            <a:avLst/>
          </a:prstGeom>
        </p:spPr>
      </p:pic>
      <p:pic>
        <p:nvPicPr>
          <p:cNvPr id="33" name="Image 11" descr="/tmp/claude-0/-home-user-compartamos-banco/f5aa2cae-8dfb-5efa-902a-389d1c1ca7cd/scratchpad/cbuild/a/s5_1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6380" y="5968538"/>
            <a:ext cx="713232" cy="151292"/>
          </a:xfrm>
          <a:prstGeom prst="rect">
            <a:avLst/>
          </a:prstGeom>
        </p:spPr>
      </p:pic>
      <p:pic>
        <p:nvPicPr>
          <p:cNvPr id="34" name="Picture 33" descr="p5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36815" y="0"/>
            <a:ext cx="4754880" cy="6858000"/>
          </a:xfrm>
          <a:prstGeom prst="rect">
            <a:avLst/>
          </a:prstGeom>
        </p:spPr>
      </p:pic>
      <p:pic>
        <p:nvPicPr>
          <p:cNvPr id="35" name="Picture 34" descr="fade_bottom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36815" y="0"/>
            <a:ext cx="4754880" cy="6858000"/>
          </a:xfrm>
          <a:prstGeom prst="rect">
            <a:avLst/>
          </a:prstGeom>
        </p:spPr>
      </p:pic>
      <p:pic>
        <p:nvPicPr>
          <p:cNvPr id="36" name="Picture 35" descr="logo_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63840" y="507492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Los líderes cambian, la marca permanece.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91440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REPUTACIÓN Y LIDERAZGO · CONSULTORÍA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1170432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Marca Corporativa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y Marca Directiva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2450592"/>
            <a:ext cx="6309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Construimos la marca de tu empresa a través de la voz de sus líderes.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32918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ES LO QUE PERMANECE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356616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Marca Corporativa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3986784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La reputación y credibilidad de la empresa en el ecosistema digital.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2918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ES LO QUE LA AMPLIFICA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356616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Marca Directiva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6200" y="3986784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Tus C-level, directivos y voceros dan rostro y voz a esa narrativa.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3310128"/>
            <a:ext cx="10973" cy="128016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" y="4846320"/>
            <a:ext cx="6400800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9834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01  </a:t>
            </a:r>
            <a:r>
              <a:rPr sz="1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Diagnóstico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4983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9A9CAB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9834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02  </a:t>
            </a:r>
            <a:r>
              <a:rPr sz="1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Estrategia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4983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9A9CAB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2040" y="49834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03  </a:t>
            </a:r>
            <a:r>
              <a:rPr sz="1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Gestión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6418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CLIENTES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" descr="/tmp/claude-0/-home-user-compartamos-banco/f5aa2cae-8dfb-5efa-902a-389d1c1ca7cd/scratchpad/cbuild/a/s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084" y="5788152"/>
            <a:ext cx="680441" cy="237744"/>
          </a:xfrm>
          <a:prstGeom prst="rect">
            <a:avLst/>
          </a:prstGeom>
        </p:spPr>
      </p:pic>
      <p:pic>
        <p:nvPicPr>
          <p:cNvPr id="21" name="Image 2" descr="/tmp/claude-0/-home-user-compartamos-banco/f5aa2cae-8dfb-5efa-902a-389d1c1ca7cd/scratchpad/cbuild/a/s6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5792907"/>
            <a:ext cx="713232" cy="228234"/>
          </a:xfrm>
          <a:prstGeom prst="rect">
            <a:avLst/>
          </a:prstGeom>
        </p:spPr>
      </p:pic>
      <p:pic>
        <p:nvPicPr>
          <p:cNvPr id="22" name="Image 3" descr="/tmp/claude-0/-home-user-compartamos-banco/f5aa2cae-8dfb-5efa-902a-389d1c1ca7cd/scratchpad/cbuild/a/s6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4094" y="5788152"/>
            <a:ext cx="545413" cy="237744"/>
          </a:xfrm>
          <a:prstGeom prst="rect">
            <a:avLst/>
          </a:prstGeom>
        </p:spPr>
      </p:pic>
      <p:pic>
        <p:nvPicPr>
          <p:cNvPr id="23" name="Image 4" descr="/tmp/claude-0/-home-user-compartamos-banco/f5aa2cae-8dfb-5efa-902a-389d1c1ca7cd/scratchpad/cbuild/a/s6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432" y="5826915"/>
            <a:ext cx="713232" cy="160218"/>
          </a:xfrm>
          <a:prstGeom prst="rect">
            <a:avLst/>
          </a:prstGeom>
        </p:spPr>
      </p:pic>
      <p:pic>
        <p:nvPicPr>
          <p:cNvPr id="24" name="Image 5" descr="/tmp/claude-0/-home-user-compartamos-banco/f5aa2cae-8dfb-5efa-902a-389d1c1ca7cd/scratchpad/cbuild/a/s6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5831378"/>
            <a:ext cx="713232" cy="151292"/>
          </a:xfrm>
          <a:prstGeom prst="rect">
            <a:avLst/>
          </a:prstGeom>
        </p:spPr>
      </p:pic>
      <p:pic>
        <p:nvPicPr>
          <p:cNvPr id="25" name="Image 6" descr="/tmp/claude-0/-home-user-compartamos-banco/f5aa2cae-8dfb-5efa-902a-389d1c1ca7cd/scratchpad/cbuild/a/s6_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3928" y="5831378"/>
            <a:ext cx="713232" cy="151292"/>
          </a:xfrm>
          <a:prstGeom prst="rect">
            <a:avLst/>
          </a:prstGeom>
        </p:spPr>
      </p:pic>
      <p:pic>
        <p:nvPicPr>
          <p:cNvPr id="26" name="Picture 25" descr="p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37760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91440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REPUTACIÓN Y LIDERAZGO · CONSULTORÍA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11704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Embajadores Digitales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201168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Amplificamos la comunicación corporativa a través de tus colaboradores, quienes hablan como la voz más genuina de la marca.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3063240"/>
            <a:ext cx="624535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9240" y="3191256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191256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Estrategia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021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Seleccionamos y activamos embajadores alineados a los objetivos de la marca.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3886200"/>
            <a:ext cx="624535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4014216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14216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Acompañamiento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3251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Buenas prácticas, benchmark y co-creación de contenidos, con soporte continuo.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4709160"/>
            <a:ext cx="624535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9240" y="4837176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37176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Medición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480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Data pública, matriz de evaluación e informe mensual de desempeño, con Data Pulse.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49240" y="5532120"/>
            <a:ext cx="624535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49240" y="58338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CLIENTES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9456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VISIBILIDAD Y PRESENCIA DIGITAL · CONSULTORÍA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Posicionamiento GEO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Logramos que la IA cite y recomiende a tu marca.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Trabajamos para que ChatGPT, Google AI Overview, Perplexity y Claude te mencionen en tu categoría.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30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CLIENTES   </a:t>
            </a: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Gloria · ISA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143000"/>
            <a:ext cx="4507992" cy="269748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0920" y="141732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6D4AB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417320"/>
            <a:ext cx="7863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ChatGPT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41732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6D4AB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41732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Google AI 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9488" y="14173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6D4AB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9488" y="141732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Perplexity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61320" y="1417320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6D4AB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1417320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Claude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2011680"/>
            <a:ext cx="3749040" cy="822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60920" y="224028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60920" y="2542032"/>
            <a:ext cx="1005840" cy="822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58200" y="2404872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404872"/>
            <a:ext cx="1051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Tu marca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542032"/>
            <a:ext cx="1508760" cy="822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20" y="2926080"/>
            <a:ext cx="3474720" cy="822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60920" y="3154680"/>
            <a:ext cx="2377440" cy="822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3383280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Visibilidad · posición · citaciones · share of voice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315968"/>
            <a:ext cx="11000232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443984"/>
            <a:ext cx="110002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Resultados medibles en visibilidad, posición, citaciones y share of voice en IA.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956048"/>
            <a:ext cx="1815084" cy="274320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349240"/>
            <a:ext cx="18150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01  </a:t>
            </a: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Diagnóstico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650992"/>
            <a:ext cx="18150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15</a:t>
            </a:r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 días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4308" y="4956048"/>
            <a:ext cx="1815084" cy="274320"/>
          </a:xfrm>
          <a:prstGeom prst="rect">
            <a:avLst/>
          </a:prstGeom>
          <a:solidFill>
            <a:srgbClr val="8F7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4308" y="5349240"/>
            <a:ext cx="18150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02  </a:t>
            </a: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Estrategia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4308" y="5650992"/>
            <a:ext cx="18150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15</a:t>
            </a:r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 días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4956048"/>
            <a:ext cx="7260336" cy="274320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4256" y="5349240"/>
            <a:ext cx="7260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03  </a:t>
            </a: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Implementación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6" y="5650992"/>
            <a:ext cx="7260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60</a:t>
            </a:r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 días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ADOPCIÓN Y CAPACIDADES DE IA · CONSULTORÍA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6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Diagnóstico de Madurez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87168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Te decimos qué tan bien usan tus equipos la IA y dónde invertir primero.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564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CLIENTES   </a:t>
            </a:r>
            <a:r>
              <a:rPr sz="12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BCP / Credicorp · Primax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400" y="3383280"/>
            <a:ext cx="841248" cy="45720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3456432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658100" y="3035808"/>
            <a:ext cx="841248" cy="804672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8100" y="3456432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688336"/>
            <a:ext cx="841248" cy="1152144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3456432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15500" y="2340864"/>
            <a:ext cx="841248" cy="1499616"/>
          </a:xfrm>
          <a:prstGeom prst="rect">
            <a:avLst/>
          </a:prstGeom>
          <a:solidFill>
            <a:srgbClr val="8F7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5500" y="3456432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44200" y="1993392"/>
            <a:ext cx="841248" cy="1847088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3456432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0058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0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5 </a:t>
            </a:r>
            <a:r>
              <a:rPr sz="1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niveles</a:t>
            </a:r>
          </a:p>
          <a:p>
            <a:pPr algn="l">
              <a:lnSpc>
                <a:spcPct val="90000"/>
              </a:lnSpc>
            </a:pPr>
            <a:r>
              <a:rPr sz="30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7 </a:t>
            </a:r>
            <a:r>
              <a:rPr sz="1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indicadores por área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931920"/>
            <a:ext cx="4965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Los niveles se inspiran en el modelo CMMI.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224528"/>
            <a:ext cx="1100023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074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01  </a:t>
            </a:r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Medimos la adopción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28032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A través de una encuesta digital representativa y entrevistas a profundidad con quienes deciden, habilitan y construyen soluciones.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44074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02  </a:t>
            </a:r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Comparamos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4828032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Ubicamos a cada área en una escala de 5 niveles según su uso de IA generativa, automatización y datos.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44074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03  </a:t>
            </a:r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Priorizamos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828032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Dashboard interactivo, informe ejecutivo y segmentación de gerencias.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5394960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5864" y="5394960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0-3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0536" y="5394960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8F7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0536" y="5394960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3-9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5208" y="5394960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5208" y="5394960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9-18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6456" y="539496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meses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dark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Nuestras cuatro soluciones de Inteligencia Artificial</a:t>
            </a:r>
            <a:endParaRPr lang="es-PE" sz="2900" dirty="0"/>
          </a:p>
        </p:txBody>
      </p:sp>
      <p:sp>
        <p:nvSpPr>
          <p:cNvPr id="7" name="Shape 4"/>
          <p:cNvSpPr/>
          <p:nvPr/>
        </p:nvSpPr>
        <p:spPr>
          <a:xfrm>
            <a:off x="594360" y="2697480"/>
            <a:ext cx="777240" cy="7772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916936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3703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Studio</a:t>
            </a:r>
            <a:endParaRPr lang="es-PE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5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Estudio de contenidos con agentes de IA</a:t>
            </a:r>
            <a:endParaRPr lang="es-PE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el ADN de tu marca, los agentes crean piezas multiformato listas para aprobar en minutos.</a:t>
            </a:r>
            <a:endParaRPr lang="es-PE" sz="1150" dirty="0"/>
          </a:p>
        </p:txBody>
      </p:sp>
      <p:sp>
        <p:nvSpPr>
          <p:cNvPr id="14" name="Shape 10"/>
          <p:cNvSpPr/>
          <p:nvPr/>
        </p:nvSpPr>
        <p:spPr>
          <a:xfrm>
            <a:off x="3429000" y="2697480"/>
            <a:ext cx="777240" cy="7772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291693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29000" y="3703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Reputation</a:t>
            </a:r>
            <a:endParaRPr lang="es-PE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5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 de reputación</a:t>
            </a:r>
            <a:endParaRPr lang="es-PE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Asesora ante cualquier situación que afecte tu reputación con base histórica del negocio y la reputación.</a:t>
            </a:r>
            <a:endParaRPr lang="es-PE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2697480"/>
            <a:ext cx="777240" cy="7772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291693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63640" y="3703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 Rank</a:t>
            </a:r>
            <a:endParaRPr lang="es-PE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26364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5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 de monitoreo GEO</a:t>
            </a:r>
            <a:endParaRPr lang="es-PE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26364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Mide la visibilidad, las citas y la veracidad de tu marca en las IAs, y traza la ruta para posicionarte.</a:t>
            </a:r>
            <a:endParaRPr lang="es-PE" sz="1150" dirty="0"/>
          </a:p>
        </p:txBody>
      </p:sp>
      <p:sp>
        <p:nvSpPr>
          <p:cNvPr id="28" name="Shape 22"/>
          <p:cNvSpPr/>
          <p:nvPr/>
        </p:nvSpPr>
        <p:spPr>
          <a:xfrm>
            <a:off x="9098280" y="2697480"/>
            <a:ext cx="777240" cy="7772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736" y="2916936"/>
            <a:ext cx="338328" cy="33832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098280" y="3703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Pulse</a:t>
            </a:r>
            <a:endParaRPr lang="es-PE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09828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5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Tracking de performance de embajadores digitales</a:t>
            </a:r>
            <a:endParaRPr lang="es-PE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909828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Mide el desempeño de tus embajadores y convierte la data en acciones de comunicación.</a:t>
            </a:r>
            <a:endParaRPr lang="es-PE" sz="1150" dirty="0"/>
          </a:p>
        </p:txBody>
      </p:sp>
      <p:pic>
        <p:nvPicPr>
          <p:cNvPr id="34" name="Picture 33" descr="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9456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2240280"/>
            <a:ext cx="10973" cy="365760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240280"/>
            <a:ext cx="10973" cy="365760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2240280"/>
            <a:ext cx="10973" cy="365760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d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834640"/>
          </a:xfrm>
          <a:prstGeom prst="rect">
            <a:avLst/>
          </a:prstGeom>
        </p:spPr>
      </p:pic>
      <p:pic>
        <p:nvPicPr>
          <p:cNvPr id="3" name="Picture 2" descr="fade_le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2834640"/>
          </a:xfrm>
          <a:prstGeom prst="rect">
            <a:avLst/>
          </a:prstGeom>
        </p:spPr>
      </p:pic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144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TEMARIO Y CASOS A MEDIDA PARA CADA EMPRESA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Habilitamos a tu equipo para que trabaje con IA y lo haga por sí mismo.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1  </a:t>
            </a:r>
            <a:r>
              <a:rPr sz="105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Reputación y liderazgo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Voceros creíbles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251960"/>
            <a:ext cx="3383280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3251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Marca Directiva y Embajadores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3200400"/>
            <a:ext cx="10973" cy="251460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31546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2  </a:t>
            </a:r>
            <a:r>
              <a:rPr sz="105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Visibilidad y presencia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347472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Prensa y entorno digital como aliados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4251960"/>
            <a:ext cx="3383280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43251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Formación para periodistas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4617720"/>
            <a:ext cx="3383280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46908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Political Intelligence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3200400"/>
            <a:ext cx="10973" cy="251460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31546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3  </a:t>
            </a:r>
            <a:r>
              <a:rPr sz="105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Adopción y capacidades de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347472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De la teoría al uso real de la 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8744" y="4251960"/>
            <a:ext cx="3383280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43251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IA, data y automatización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4617720"/>
            <a:ext cx="3383280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46908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IA para comunicación y marketing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38744" y="4983480"/>
            <a:ext cx="3383280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50566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Claude AI para empresas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8744" y="5349240"/>
            <a:ext cx="3383280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54223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Taller IA Agéntica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CLIENTES   </a:t>
            </a:r>
            <a:r>
              <a:rPr sz="12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BCP · Pacífico Seguros · Interbank · Antapaccay · Petrotal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Herramientas de Formación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Trabajamos con los principales ecosistemas de IA y automatización.</a:t>
            </a:r>
            <a:endParaRPr lang="es-PE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Microsoft</a:t>
            </a:r>
            <a:endParaRPr lang="es-PE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 0" descr="/tmp/claude-0/-home-user-compartamos-banco/f5aa2cae-8dfb-5efa-902a-389d1c1ca7cd/scratchpad/cbuild/a/s1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33995"/>
            <a:ext cx="384048" cy="35693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520440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 Studio</a:t>
            </a:r>
            <a:endParaRPr lang="es-PE" sz="1250" dirty="0"/>
          </a:p>
        </p:txBody>
      </p:sp>
      <p:pic>
        <p:nvPicPr>
          <p:cNvPr id="11" name="Image 1" descr="/tmp/claude-0/-home-user-compartamos-banco/f5aa2cae-8dfb-5efa-902a-389d1c1ca7cd/scratchpad/cbuild/a/s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47093"/>
            <a:ext cx="384048" cy="3743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4142232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Apps</a:t>
            </a:r>
            <a:endParaRPr lang="es-PE" sz="1250" dirty="0"/>
          </a:p>
        </p:txBody>
      </p:sp>
      <p:pic>
        <p:nvPicPr>
          <p:cNvPr id="13" name="Image 2" descr="/tmp/claude-0/-home-user-compartamos-banco/f5aa2cae-8dfb-5efa-902a-389d1c1ca7cd/scratchpad/cbuild/a/s11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12" y="4764024"/>
            <a:ext cx="296543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4764024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BI</a:t>
            </a:r>
            <a:endParaRPr lang="es-PE" sz="1250" dirty="0"/>
          </a:p>
        </p:txBody>
      </p:sp>
      <p:pic>
        <p:nvPicPr>
          <p:cNvPr id="15" name="Image 3" descr="/tmp/claude-0/-home-user-compartamos-banco/f5aa2cae-8dfb-5efa-902a-389d1c1ca7cd/scratchpad/cbuild/a/s11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423747"/>
            <a:ext cx="384048" cy="30818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5385816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Automate</a:t>
            </a:r>
            <a:endParaRPr lang="es-PE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3431972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Anthropic</a:t>
            </a:r>
            <a:endParaRPr lang="es-PE" sz="1400" dirty="0"/>
          </a:p>
        </p:txBody>
      </p:sp>
      <p:sp>
        <p:nvSpPr>
          <p:cNvPr id="19" name="Shape 13"/>
          <p:cNvSpPr/>
          <p:nvPr/>
        </p:nvSpPr>
        <p:spPr>
          <a:xfrm>
            <a:off x="3431972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0" name="Image 4" descr="/tmp/claude-0/-home-user-compartamos-banco/f5aa2cae-8dfb-5efa-902a-389d1c1ca7cd/scratchpad/cbuild/a/s1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1972" y="3578064"/>
            <a:ext cx="1600200" cy="34195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431972" y="400507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</a:t>
            </a:r>
            <a:endParaRPr lang="es-PE" sz="1200" dirty="0"/>
          </a:p>
        </p:txBody>
      </p:sp>
      <p:pic>
        <p:nvPicPr>
          <p:cNvPr id="22" name="Image 5" descr="/tmp/claude-0/-home-user-compartamos-banco/f5aa2cae-8dfb-5efa-902a-389d1c1ca7cd/scratchpad/cbuild/a/s11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1972" y="4812504"/>
            <a:ext cx="1600200" cy="34195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431972" y="523951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s-PE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6260440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OpenAI</a:t>
            </a:r>
            <a:endParaRPr lang="es-PE" sz="1400" dirty="0"/>
          </a:p>
        </p:txBody>
      </p:sp>
      <p:sp>
        <p:nvSpPr>
          <p:cNvPr id="26" name="Shape 18"/>
          <p:cNvSpPr/>
          <p:nvPr/>
        </p:nvSpPr>
        <p:spPr>
          <a:xfrm>
            <a:off x="6260440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7" name="Image 6" descr="/tmp/claude-0/-home-user-compartamos-banco/f5aa2cae-8dfb-5efa-902a-389d1c1ca7cd/scratchpad/cbuild/a/s11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0440" y="3566160"/>
            <a:ext cx="1364512" cy="4572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260440" y="409651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</a:t>
            </a:r>
            <a:endParaRPr lang="es-PE" sz="1200" dirty="0"/>
          </a:p>
        </p:txBody>
      </p:sp>
      <p:pic>
        <p:nvPicPr>
          <p:cNvPr id="29" name="Image 7" descr="/tmp/claude-0/-home-user-compartamos-banco/f5aa2cae-8dfb-5efa-902a-389d1c1ca7cd/scratchpad/cbuild/a/s11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0440" y="4803443"/>
            <a:ext cx="548640" cy="54295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260440" y="542239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Codex</a:t>
            </a:r>
            <a:endParaRPr lang="es-PE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9098051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Google</a:t>
            </a:r>
            <a:endParaRPr lang="es-PE" sz="1400" dirty="0"/>
          </a:p>
        </p:txBody>
      </p:sp>
      <p:sp>
        <p:nvSpPr>
          <p:cNvPr id="33" name="Shape 23"/>
          <p:cNvSpPr/>
          <p:nvPr/>
        </p:nvSpPr>
        <p:spPr>
          <a:xfrm>
            <a:off x="9098051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34" name="Image 8" descr="/tmp/claude-0/-home-user-compartamos-banco/f5aa2cae-8dfb-5efa-902a-389d1c1ca7cd/scratchpad/cbuild/a/s11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051" y="3580236"/>
            <a:ext cx="1554480" cy="33760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098051" y="400507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Gems</a:t>
            </a:r>
            <a:endParaRPr lang="es-PE" sz="1200" dirty="0"/>
          </a:p>
        </p:txBody>
      </p:sp>
      <p:pic>
        <p:nvPicPr>
          <p:cNvPr id="36" name="Image 9" descr="/tmp/claude-0/-home-user-compartamos-banco/f5aa2cae-8dfb-5efa-902a-389d1c1ca7cd/scratchpad/cbuild/a/s11_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051" y="4803326"/>
            <a:ext cx="1600200" cy="707781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3246120" y="2606040"/>
            <a:ext cx="10973" cy="352044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0760" y="2606040"/>
            <a:ext cx="10973" cy="352044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15400" y="2606040"/>
            <a:ext cx="10973" cy="352044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dark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CASOS REALES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medidos con nuestros clientes</a:t>
            </a:r>
            <a:endParaRPr lang="es-PE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9019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logramos en cada frente</a:t>
            </a:r>
            <a:endParaRPr lang="es-PE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14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</a:t>
            </a:r>
            <a:endParaRPr lang="es-PE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81304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</a:t>
            </a:r>
            <a:endParaRPr lang="es-PE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94360" y="5111496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300" dirty="0"/>
          </a:p>
        </p:txBody>
      </p:sp>
      <p:pic>
        <p:nvPicPr>
          <p:cNvPr id="34" name="Picture 33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9456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2459736"/>
            <a:ext cx="11000232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3758184"/>
            <a:ext cx="11000232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5056632"/>
            <a:ext cx="11000232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2606040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PetroTal · Embajadores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2898648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3447288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interacciones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6" y="2898648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+256%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6" y="3447288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publicaciones propias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2432" y="2898648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42432" y="3447288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seguidores (+6,365)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9208" y="2606040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Enel Perú · Marca Directiva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9208" y="2898648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+2 pts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79208" y="344728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posicionamiento digital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7928" y="2898648"/>
            <a:ext cx="100584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+68%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7928" y="3447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seguidores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73768" y="2898648"/>
            <a:ext cx="100584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+35%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73768" y="3447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contenido propio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79608" y="2898648"/>
            <a:ext cx="1024128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+27%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79608" y="3447288"/>
            <a:ext cx="9326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interacciones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0" y="3904488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Promigas · Periodistas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6080" y="4197096"/>
            <a:ext cx="86868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146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474573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periodistas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4197096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+7,000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4745736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reproducciones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80" y="4197096"/>
            <a:ext cx="1069848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1,500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3480" y="4745736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interacciones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53328" y="4224528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América TV, Infomercado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53328" y="4745736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cobertura en medios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79208" y="3904488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InRetail Pharma · Diagnóstico GEO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79208" y="4197096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79208" y="4745736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motores de IA auditados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87384" y="4197096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87384" y="4745736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etapas de metodología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95560" y="4197096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95560" y="4745736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frentes de escucha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80" y="5202936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BCP · Champions de 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26080" y="5495544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4.75/5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26080" y="6044184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de satisfacción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34256" y="5495544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34256" y="6044184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colaboradores capacitados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42432" y="5495544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100%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42432" y="6044184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aplicará lo aprendido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78040" y="2560320"/>
            <a:ext cx="10973" cy="2514600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Nosotros te acompañamos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11000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Potenciamos la comunicación digital en empresas, mejorando el posicionamiento y reputación de directivos y equipos.</a:t>
            </a:r>
            <a:endParaRPr lang="es-PE" sz="1400" dirty="0"/>
          </a:p>
        </p:txBody>
      </p:sp>
      <p:pic>
        <p:nvPicPr>
          <p:cNvPr id="6" name="Image 0" descr="/tmp/claude-0/-home-user-compartamos-banco/f5aa2cae-8dfb-5efa-902a-389d1c1ca7cd/scratchpad/cbuild/a/s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6888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2633472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Víctor Lozano</a:t>
            </a:r>
            <a:endParaRPr lang="es-PE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3127248"/>
            <a:ext cx="390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2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 DE INNOVACIÓN</a:t>
            </a:r>
            <a:endParaRPr lang="es-P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3429000"/>
            <a:ext cx="390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linkedin.com/in/victorlozanou</a:t>
            </a:r>
            <a:endParaRPr lang="es-PE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5760720"/>
            <a:ext cx="527288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2" name="Image 1" descr="/tmp/claude-0/-home-user-compartamos-banco/f5aa2cae-8dfb-5efa-902a-389d1c1ca7cd/scratchpad/cbuild/a/s13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39" y="5893308"/>
            <a:ext cx="1392166" cy="329184"/>
          </a:xfrm>
          <a:prstGeom prst="rect">
            <a:avLst/>
          </a:prstGeom>
        </p:spPr>
      </p:pic>
      <p:pic>
        <p:nvPicPr>
          <p:cNvPr id="13" name="Image 2" descr="/tmp/claude-0/-home-user-compartamos-banco/f5aa2cae-8dfb-5efa-902a-389d1c1ca7cd/scratchpad/cbuild/a/s13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908" y="5893308"/>
            <a:ext cx="1355792" cy="329184"/>
          </a:xfrm>
          <a:prstGeom prst="rect">
            <a:avLst/>
          </a:prstGeom>
        </p:spPr>
      </p:pic>
      <p:pic>
        <p:nvPicPr>
          <p:cNvPr id="14" name="Image 3" descr="/tmp/claude-0/-home-user-compartamos-banco/f5aa2cae-8dfb-5efa-902a-389d1c1ca7cd/scratchpad/cbuild/a/s13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839" y="5893308"/>
            <a:ext cx="1551493" cy="32918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095848" y="2560320"/>
            <a:ext cx="0" cy="361188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6" name="Image 4" descr="/tmp/claude-0/-home-user-compartamos-banco/f5aa2cae-8dfb-5efa-902a-389d1c1ca7cd/scratchpad/cbuild/a/s13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448" y="2468880"/>
            <a:ext cx="1463040" cy="1463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16088" y="2633472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Julio Talledo</a:t>
            </a:r>
            <a:endParaRPr lang="es-PE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8016088" y="3127248"/>
            <a:ext cx="390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2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 COMERCIAL &amp; MARKETING</a:t>
            </a:r>
            <a:endParaRPr lang="es-PE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8016088" y="3429000"/>
            <a:ext cx="390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linkedin.com/in/juliotalledo</a:t>
            </a:r>
            <a:endParaRPr lang="es-PE" sz="1000" dirty="0"/>
          </a:p>
        </p:txBody>
      </p:sp>
      <p:sp>
        <p:nvSpPr>
          <p:cNvPr id="21" name="Shape 14"/>
          <p:cNvSpPr/>
          <p:nvPr/>
        </p:nvSpPr>
        <p:spPr>
          <a:xfrm>
            <a:off x="6324448" y="5760720"/>
            <a:ext cx="527288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2" name="Image 5" descr="/tmp/claude-0/-home-user-compartamos-banco/f5aa2cae-8dfb-5efa-902a-389d1c1ca7cd/scratchpad/cbuild/a/s13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214" y="5893308"/>
            <a:ext cx="1355792" cy="329184"/>
          </a:xfrm>
          <a:prstGeom prst="rect">
            <a:avLst/>
          </a:prstGeom>
        </p:spPr>
      </p:pic>
      <p:pic>
        <p:nvPicPr>
          <p:cNvPr id="23" name="Image 6" descr="/tmp/claude-0/-home-user-compartamos-banco/f5aa2cae-8dfb-5efa-902a-389d1c1ca7cd/scratchpad/cbuild/a/s13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5970" y="5893308"/>
            <a:ext cx="429844" cy="329184"/>
          </a:xfrm>
          <a:prstGeom prst="rect">
            <a:avLst/>
          </a:prstGeom>
        </p:spPr>
      </p:pic>
      <p:pic>
        <p:nvPicPr>
          <p:cNvPr id="24" name="Image 7" descr="/tmp/claude-0/-home-user-compartamos-banco/f5aa2cae-8dfb-5efa-902a-389d1c1ca7cd/scratchpad/cbuild/a/s13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2761" y="5893308"/>
            <a:ext cx="87782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4160520"/>
            <a:ext cx="527608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6D4ABE"/>
              </a:buClr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+20 años de experiencia en Investigación de Mercados, Marketing Digital, Gestión de Marcas Directivas y Reputación.</a:t>
            </a:r>
          </a:p>
          <a:p>
            <a:pPr algn="l" marL="182880" indent="-182880">
              <a:spcAft>
                <a:spcPts val="500"/>
              </a:spcAft>
              <a:buClr>
                <a:srgbClr val="6D4ABE"/>
              </a:buClr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Maestría en Marketing y Transformación Digital por INCAE Business School.</a:t>
            </a:r>
          </a:p>
          <a:p>
            <a:pPr algn="l" marL="182880" indent="-182880">
              <a:spcAft>
                <a:spcPts val="500"/>
              </a:spcAft>
              <a:buClr>
                <a:srgbClr val="6D4ABE"/>
              </a:buClr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Docente de Postgrado en Universidad de Piura y programas corporativos de UTEC. Columnista en Diario Gestión.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8" y="4160520"/>
            <a:ext cx="527608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6D4ABE"/>
              </a:buClr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Especialista en Marketing e Inteligencia Artificial Generativa.</a:t>
            </a:r>
          </a:p>
          <a:p>
            <a:pPr algn="l" marL="182880" indent="-182880">
              <a:spcAft>
                <a:spcPts val="500"/>
              </a:spcAft>
              <a:buClr>
                <a:srgbClr val="6D4ABE"/>
              </a:buClr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Maestría en Marketing y Ventas por INCAE Business School.</a:t>
            </a:r>
          </a:p>
          <a:p>
            <a:pPr algn="l" marL="182880" indent="-182880">
              <a:spcAft>
                <a:spcPts val="500"/>
              </a:spcAft>
              <a:buClr>
                <a:srgbClr val="6D4ABE"/>
              </a:buClr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Docente de IA Generativa en UDEP, CENTRUM PUCP, UPC y USIL.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1525</Words>
  <Application>Microsoft Macintosh PowerPoint</Application>
  <PresentationFormat>Panorámica</PresentationFormat>
  <Paragraphs>241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Poppins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Credenciales 2026</dc:title>
  <dc:subject>PptxGenJS Presentation</dc:subject>
  <dc:creator>Verne Comunicación e Innovación</dc:creator>
  <cp:lastModifiedBy>cielo corescob</cp:lastModifiedBy>
  <cp:revision>3</cp:revision>
  <dcterms:created xsi:type="dcterms:W3CDTF">2026-10-01T06:20:13Z</dcterms:created>
  <dcterms:modified xsi:type="dcterms:W3CDTF">2026-10-01T17:58:54Z</dcterms:modified>
</cp:coreProperties>
</file>