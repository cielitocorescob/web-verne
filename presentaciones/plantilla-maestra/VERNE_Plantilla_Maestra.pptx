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8A3F2C11-5E1B-4C7A-9D2E-7A1B3C4D5E6F}">
  <a:tblStyle styleId="{8A3F2C11-5E1B-4C7A-9D2E-7A1B3C4D5E6F}" styleName="VERNE · Tabla editorial">
    <a:wholeTbl>
      <a:tcTxStyle>
        <a:fontRef idx="minor">
          <a:prstClr val="black"/>
        </a:fontRef>
        <a:srgbClr val="333333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>
              <a:solidFill>
                <a:srgbClr val="D8D4EA"/>
              </a:solidFill>
            </a:ln>
          </a:top>
          <a:bottom>
            <a:ln w="9525">
              <a:solidFill>
                <a:srgbClr val="D8D4EA"/>
              </a:solidFill>
            </a:ln>
          </a:bottom>
          <a:insideH>
            <a:ln w="9525">
              <a:solidFill>
                <a:srgbClr val="D8D4EA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rgbClr val="F5F5F7"/>
          </a:solidFill>
        </a:fill>
      </a:tcStyle>
    </a:band1H>
    <a:firstCol>
      <a:tcTxStyle b="on">
        <a:fontRef idx="minor">
          <a:prstClr val="black"/>
        </a:fontRef>
        <a:srgbClr val="25283D"/>
      </a:tcTxStyle>
      <a:tcStyle>
        <a:tcBdr/>
      </a:tcStyle>
    </a:firstCol>
    <a:firstRow>
      <a:tcTxStyle b="on">
        <a:fontRef idx="minor">
          <a:prstClr val="black"/>
        </a:fontRef>
        <a:srgbClr val="FFFFFF"/>
      </a:tcTxStyle>
      <a:tcStyle>
        <a:tcBdr>
          <a:bottom>
            <a:ln w="19050">
              <a:solidFill>
                <a:srgbClr val="6D4ABE"/>
              </a:solidFill>
            </a:ln>
          </a:bottom>
        </a:tcBdr>
        <a:fill>
          <a:solidFill>
            <a:srgbClr val="25283D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vert" pos="374"/>
        <p:guide orient="vert" pos="7305"/>
        <p:guide orient="vert" pos="3840"/>
        <p:guide pos="576"/>
        <p:guide pos="3946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PetroTal</c:v>
                </c:pt>
              </c:strCache>
            </c:strRef>
          </c:tx>
          <c:spPr>
            <a:solidFill>
              <a:srgbClr val="6D4ABE"/>
            </a:solidFill>
          </c:spPr>
          <c:cat>
            <c:strRef>
              <c:f>Sheet1!$A$2:$A$4</c:f>
              <c:strCache>
                <c:ptCount val="3"/>
                <c:pt idx="0">
                  <c:v>Interacciones</c:v>
                </c:pt>
                <c:pt idx="1">
                  <c:v>Publicaciones propias</c:v>
                </c:pt>
                <c:pt idx="2">
                  <c:v>Seguidores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256</c:v>
                </c:pt>
                <c:pt idx="2">
                  <c:v>13</c:v>
                </c:pt>
              </c:numCache>
            </c:numRef>
          </c:val>
        </c:ser>
        <c:dLbls>
          <c:numFmt formatCode="+0&quot;%&quot;" sourceLinked="0"/>
          <c:txPr>
            <a:bodyPr/>
            <a:lstStyle/>
            <a:p>
              <a:pPr>
                <a:defRPr sz="1300" b="1">
                  <a:solidFill>
                    <a:srgbClr val="2528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4EA"/>
            </a:solidFill>
          </a:ln>
        </c:spPr>
        <c:txPr>
          <a:bodyPr/>
          <a:lstStyle/>
          <a:p>
            <a:pPr>
              <a:defRPr sz="1000">
                <a:solidFill>
                  <a:srgbClr val="6B6E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6E80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PetroTal</c:v>
                </c:pt>
              </c:strCache>
            </c:strRef>
          </c:tx>
          <c:spPr>
            <a:solidFill>
              <a:srgbClr val="6D4ABE"/>
            </a:solidFill>
          </c:spPr>
          <c:cat>
            <c:strRef>
              <c:f>Sheet1!$A$2:$A$4</c:f>
              <c:strCache>
                <c:ptCount val="3"/>
                <c:pt idx="0">
                  <c:v>Interacciones</c:v>
                </c:pt>
                <c:pt idx="1">
                  <c:v>Publicaciones propias</c:v>
                </c:pt>
                <c:pt idx="2">
                  <c:v>Seguidores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256</c:v>
                </c:pt>
                <c:pt idx="2">
                  <c:v>13</c:v>
                </c:pt>
              </c:numCache>
            </c:numRef>
          </c:val>
        </c:ser>
        <c:dLbls>
          <c:numFmt formatCode="+0&quot;%&quot;" sourceLinked="0"/>
          <c:txPr>
            <a:bodyPr/>
            <a:lstStyle/>
            <a:p>
              <a:pPr>
                <a:defRPr sz="1300" b="1">
                  <a:solidFill>
                    <a:srgbClr val="2528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4EA"/>
            </a:solidFill>
          </a:ln>
        </c:spPr>
        <c:txPr>
          <a:bodyPr/>
          <a:lstStyle/>
          <a:p>
            <a:pPr>
              <a:defRPr>
                <a:solidFill>
                  <a:srgbClr val="6B6E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Poppi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de la guía. Diseño 01 Portada principal.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03 Apertura de sección.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13 Proceso / pasos.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Colores aprobados. Usa siempre los valores HEX exactos; están cargados como colores del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Sistema tipográfico. Los marcadores de cada diseño ya aplican estos estilos.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Retícula. Las guías de edición (Vista › Guías) marcan los márgenes de 0,65", el inicio del eyebrow (1,0"), el fin del contenido (6,85") y el centro.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Uso del logo. El logo ya está en el Patrón de diapositivas: no lo dupliques ni lo muevas en cada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formas de usar fotografía en el sistema VERNE. Cada miniatura es editable: copia la que necesites.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12 Comparación.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03 Apertura de sección.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 de elementos. Copia y pega; mantén colores y grosores.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Fondos, overlays y marcos de imagen. Los fondos también se pueden aplicar con Diseño › Formato del fondo.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Iconografía de línea (Lucide, licencia ISC). Más íconos: lucide.dev, exportados en #6D4ABE o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Gráficos y tablas nativos. Los gráficos toman los colores del tema; la tabla usa el estilo “VERNE · Tabla editorial”, predeterminado en esta plantilla.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03 Apertura de sección.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01 Portada principal. Para portadas sin fotografía; el fondo con brillo ya está en el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02 Portada con imagen. Usa fotos con el sujeto hacia la izquierda o centro.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03 Apertura de sección.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04 Título + bajada. El diseño más flexible para contenido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05 Texto + imagen. Imagen enmarcada a la derecha; el logo queda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06 Imagen + texto. Foto vertical a sangre a la izquierda.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07 Imagen a pantalla completa. El overlay es una imagen editable sobre la foto: mantenlo detrás del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08 Gran titular / statement. Una frase, sin más elementos.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09 Cifra protagonista. Siempre con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10 Dos columnas.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11 Tres columnas.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12 Comparación.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13 Proceso / pasos. Si usas tres pasos, elimina los marcadores del cuarto.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14 Timeline. Ejemplo con el plan GEO (15 + 15 + 60 días).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15 Diagrama / ecosistema. Anillos concéntricos para mostrar niveles o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16 Servicios o soluciones. Inserta en cada círculo un ícono de la guía (círculo morado con ícono blanco).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17 Casos / proyectos.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18 Clientes / logos. Inserta logos en PNG transparente, en gris o en su color original, de forma consistente.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19 Equipo / perfiles. Para dos perfiles, elimina los marcadores del tercero.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20 Testimonio o cita. Usa solo citas reales y autorizadas, con nombre y cargo.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21 Datos / métricas. Hasta cuatro cifras con su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22 Tabla simple. Inserta la tabla desde el ícono del marcador; toma el estilo VERNE automáticamente.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23 Gráfico. Inserta el gráfico desde el ícono del marcador: toma los colores del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24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25 Contacto.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26 Solo título: para composiciones libres respetando la retícula.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jpg"/><Relationship Id="rId3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jpg"/><Relationship Id="rId3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jpg"/><Relationship Id="rId3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1 Portada principal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94360" y="548640"/>
            <a:ext cx="1463040" cy="514807"/>
          </a:xfrm>
          <a:prstGeom prst="rect">
            <a:avLst/>
          </a:prstGeom>
        </p:spPr>
      </p:pic>
      <p:sp>
        <p:nvSpPr>
          <p:cNvPr id="4" name="CATEGORÍA · AÑO 4"/>
          <p:cNvSpPr>
            <a:spLocks noGrp="1"/>
          </p:cNvSpPr>
          <p:nvPr>
            <p:ph idx="10" hasCustomPrompt="1"/>
          </p:nvPr>
        </p:nvSpPr>
        <p:spPr>
          <a:xfrm>
            <a:off x="594360" y="2011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AÑO</a:t>
            </a:r>
          </a:p>
        </p:txBody>
      </p:sp>
      <p:sp>
        <p:nvSpPr>
          <p:cNvPr id="5" name="Título principal de la presentación 5"/>
          <p:cNvSpPr>
            <a:spLocks noGrp="1"/>
          </p:cNvSpPr>
          <p:nvPr>
            <p:ph type="ctrTitle" hasCustomPrompt="1"/>
          </p:nvPr>
        </p:nvSpPr>
        <p:spPr>
          <a:xfrm>
            <a:off x="594360" y="2377440"/>
            <a:ext cx="9692640" cy="251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6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principal de la presentación</a:t>
            </a:r>
          </a:p>
        </p:txBody>
      </p:sp>
      <p:sp>
        <p:nvSpPr>
          <p:cNvPr id="6" name="Bajada o descripción breve de la present 6"/>
          <p:cNvSpPr>
            <a:spLocks noGrp="1"/>
          </p:cNvSpPr>
          <p:nvPr>
            <p:ph type="subTitle" idx="1" hasCustomPrompt="1"/>
          </p:nvPr>
        </p:nvSpPr>
        <p:spPr>
          <a:xfrm>
            <a:off x="594360" y="502920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 o descripción breve de la presentación</a:t>
            </a:r>
          </a:p>
        </p:txBody>
      </p:sp>
      <p:sp>
        <p:nvSpPr>
          <p:cNvPr id="7" name="Forma 7"/>
          <p:cNvSpPr/>
          <p:nvPr userDrawn="1"/>
        </p:nvSpPr>
        <p:spPr>
          <a:xfrm>
            <a:off x="594360" y="5943600"/>
            <a:ext cx="548640" cy="10973"/>
          </a:xfrm>
          <a:prstGeom prst="rect">
            <a:avLst/>
          </a:prstGeom>
          <a:solidFill>
            <a:srgbClr val="C0B0F4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8" name="Cliente · Fecha · Lugar 8"/>
          <p:cNvSpPr>
            <a:spLocks noGrp="1"/>
          </p:cNvSpPr>
          <p:nvPr>
            <p:ph idx="11" hasCustomPrompt="1"/>
          </p:nvPr>
        </p:nvSpPr>
        <p:spPr>
          <a:xfrm>
            <a:off x="594360" y="60807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Cliente · Fecha · Lugar</a:t>
            </a:r>
          </a:p>
        </p:txBody>
      </p:sp>
      <p:sp>
        <p:nvSpPr>
          <p:cNvPr id="9" name="Texto 9"/>
          <p:cNvSpPr txBox="1"/>
          <p:nvPr userDrawn="1"/>
        </p:nvSpPr>
        <p:spPr>
          <a:xfrm>
            <a:off x="10076688" y="6419088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PE" sz="900" b="0" i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2 Portada con imagen">
    <p:bg>
      <p:bgPr>
        <a:solidFill>
          <a:srgbClr val="252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serta una fotografía protagonista 3"/>
          <p:cNvSpPr>
            <a:spLocks noGrp="1"/>
          </p:cNvSpPr>
          <p:nvPr>
            <p:ph type="pic" idx="13" hasCustomPrompt="1"/>
          </p:nvPr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3E3A62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Inserta una fotografía protagonista</a:t>
            </a:r>
          </a:p>
        </p:txBody>
      </p:sp>
      <p:pic>
        <p:nvPicPr>
          <p:cNvPr id="4" name="Imagen 4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94360" y="548640"/>
            <a:ext cx="1325880" cy="466344"/>
          </a:xfrm>
          <a:prstGeom prst="rect">
            <a:avLst/>
          </a:prstGeom>
        </p:spPr>
      </p:pic>
      <p:sp>
        <p:nvSpPr>
          <p:cNvPr id="5" name="CATEGORÍA · AÑO 5"/>
          <p:cNvSpPr>
            <a:spLocks noGrp="1"/>
          </p:cNvSpPr>
          <p:nvPr>
            <p:ph idx="10" hasCustomPrompt="1"/>
          </p:nvPr>
        </p:nvSpPr>
        <p:spPr>
          <a:xfrm>
            <a:off x="594360" y="2057400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AÑO</a:t>
            </a:r>
          </a:p>
        </p:txBody>
      </p:sp>
      <p:sp>
        <p:nvSpPr>
          <p:cNvPr id="6" name="Título principal de la presentación 6"/>
          <p:cNvSpPr>
            <a:spLocks noGrp="1"/>
          </p:cNvSpPr>
          <p:nvPr>
            <p:ph type="ctrTitle" hasCustomPrompt="1"/>
          </p:nvPr>
        </p:nvSpPr>
        <p:spPr>
          <a:xfrm>
            <a:off x="594360" y="242316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principal de la presentación</a:t>
            </a:r>
          </a:p>
        </p:txBody>
      </p:sp>
      <p:sp>
        <p:nvSpPr>
          <p:cNvPr id="7" name="Bajada o descripción breve 7"/>
          <p:cNvSpPr>
            <a:spLocks noGrp="1"/>
          </p:cNvSpPr>
          <p:nvPr>
            <p:ph type="subTitle" idx="1" hasCustomPrompt="1"/>
          </p:nvPr>
        </p:nvSpPr>
        <p:spPr>
          <a:xfrm>
            <a:off x="594360" y="4800600"/>
            <a:ext cx="448056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 o descripción breve</a:t>
            </a:r>
          </a:p>
        </p:txBody>
      </p:sp>
      <p:sp>
        <p:nvSpPr>
          <p:cNvPr id="8" name="Cliente · Fecha · Lugar 8"/>
          <p:cNvSpPr>
            <a:spLocks noGrp="1"/>
          </p:cNvSpPr>
          <p:nvPr>
            <p:ph idx="11" hasCustomPrompt="1"/>
          </p:nvPr>
        </p:nvSpPr>
        <p:spPr>
          <a:xfrm>
            <a:off x="594360" y="60807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Cliente · Fecha · Lugar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3 Apertura de sección">
    <p:bg>
      <p:bgPr>
        <a:solidFill>
          <a:srgbClr val="6D4A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4" name="Texto 4"/>
          <p:cNvSpPr txBox="1"/>
          <p:nvPr userDrawn="1"/>
        </p:nvSpPr>
        <p:spPr>
          <a:xfrm>
            <a:off x="0" y="6455664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s-PE" sz="9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‹#›</a:t>
            </a:fld>
          </a:p>
        </p:txBody>
      </p:sp>
      <p:sp>
        <p:nvSpPr>
          <p:cNvPr id="5" name="Texto 5"/>
          <p:cNvSpPr txBox="1"/>
          <p:nvPr userDrawn="1"/>
        </p:nvSpPr>
        <p:spPr>
          <a:xfrm>
            <a:off x="10076688" y="6419088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PE" sz="900" b="0" i="0">
                <a:solidFill>
                  <a:srgbClr val="F3F0FB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6" name="01 6"/>
          <p:cNvSpPr>
            <a:spLocks noGrp="1"/>
          </p:cNvSpPr>
          <p:nvPr>
            <p:ph idx="12" hasCustomPrompt="1"/>
          </p:nvPr>
        </p:nvSpPr>
        <p:spPr>
          <a:xfrm>
            <a:off x="594360" y="868680"/>
            <a:ext cx="5486400" cy="2103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None/>
              <a:defRPr sz="1500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01</a:t>
            </a:r>
          </a:p>
        </p:txBody>
      </p:sp>
      <p:sp>
        <p:nvSpPr>
          <p:cNvPr id="7" name="Nombre de la sección 7"/>
          <p:cNvSpPr>
            <a:spLocks noGrp="1"/>
          </p:cNvSpPr>
          <p:nvPr>
            <p:ph type="title" hasCustomPrompt="1"/>
          </p:nvPr>
        </p:nvSpPr>
        <p:spPr>
          <a:xfrm>
            <a:off x="594360" y="3246120"/>
            <a:ext cx="8686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6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 de la sección</a:t>
            </a:r>
          </a:p>
        </p:txBody>
      </p:sp>
      <p:sp>
        <p:nvSpPr>
          <p:cNvPr id="8" name="Una línea que anticipe lo que viene en e 8"/>
          <p:cNvSpPr>
            <a:spLocks noGrp="1"/>
          </p:cNvSpPr>
          <p:nvPr>
            <p:ph idx="11" hasCustomPrompt="1"/>
          </p:nvPr>
        </p:nvSpPr>
        <p:spPr>
          <a:xfrm>
            <a:off x="594360" y="484632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F3F0FB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Una línea que anticipe lo que viene en esta sección.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Título + baj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Bajada: una o dos líneas que den el cont 5"/>
          <p:cNvSpPr>
            <a:spLocks noGrp="1"/>
          </p:cNvSpPr>
          <p:nvPr>
            <p:ph idx="11" hasCustomPrompt="1"/>
          </p:nvPr>
        </p:nvSpPr>
        <p:spPr>
          <a:xfrm>
            <a:off x="594360" y="203911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6" name="Texto de desarrollo. Usa párrafos breves 6"/>
          <p:cNvSpPr>
            <a:spLocks noGrp="1"/>
          </p:cNvSpPr>
          <p:nvPr>
            <p:ph idx="14" hasCustomPrompt="1"/>
          </p:nvPr>
        </p:nvSpPr>
        <p:spPr>
          <a:xfrm>
            <a:off x="594360" y="2880360"/>
            <a:ext cx="6949440" cy="3108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  <a:lvl2pPr marL="228600" indent="-228600" algn="l">
              <a:lnSpc>
                <a:spcPct val="125000"/>
              </a:lnSpc>
              <a:spcAft>
                <a:spcPts val="400"/>
              </a:spcAft>
              <a:buClr>
                <a:srgbClr val="6D4ABE"/>
              </a:buClr>
              <a:buFont typeface="Arial"/>
              <a:buChar char="•"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2pPr>
          </a:lstStyle>
          <a:p>
            <a:r>
              <a:rPr lang="es-PE"/>
              <a:t>Texto de desarrollo. Usa párrafos breves; el segundo nivel crea viñetas.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 Text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serta una imagen 3"/>
          <p:cNvSpPr>
            <a:spLocks noGrp="1"/>
          </p:cNvSpPr>
          <p:nvPr>
            <p:ph type="pic" idx="13" hasCustomPrompt="1"/>
          </p:nvPr>
        </p:nvSpPr>
        <p:spPr>
          <a:xfrm>
            <a:off x="6446520" y="914400"/>
            <a:ext cx="5150815" cy="5349240"/>
          </a:xfrm>
          <a:prstGeom prst="rect">
            <a:avLst/>
          </a:prstGeom>
          <a:solidFill>
            <a:srgbClr val="F3F0FB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Inserta una imagen</a:t>
            </a:r>
          </a:p>
        </p:txBody>
      </p:sp>
      <p:sp>
        <p:nvSpPr>
          <p:cNvPr id="4" name="CATEGORÍA · TEMA 4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5" name="Título de la diapositiva 5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539496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6" name="Bajada: una o dos líneas que den el cont 6"/>
          <p:cNvSpPr>
            <a:spLocks noGrp="1"/>
          </p:cNvSpPr>
          <p:nvPr>
            <p:ph idx="11" hasCustomPrompt="1"/>
          </p:nvPr>
        </p:nvSpPr>
        <p:spPr>
          <a:xfrm>
            <a:off x="594360" y="2542032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7" name="Destacado: la idea que debe recordarse. 7"/>
          <p:cNvSpPr>
            <a:spLocks noGrp="1"/>
          </p:cNvSpPr>
          <p:nvPr>
            <p:ph idx="15" hasCustomPrompt="1"/>
          </p:nvPr>
        </p:nvSpPr>
        <p:spPr>
          <a:xfrm>
            <a:off x="594360" y="361188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Destacado: la idea que debe recordarse.</a:t>
            </a:r>
          </a:p>
        </p:txBody>
      </p:sp>
      <p:sp>
        <p:nvSpPr>
          <p:cNvPr id="8" name="Texto de apoyo breve. 8"/>
          <p:cNvSpPr>
            <a:spLocks noGrp="1"/>
          </p:cNvSpPr>
          <p:nvPr>
            <p:ph idx="14" hasCustomPrompt="1"/>
          </p:nvPr>
        </p:nvSpPr>
        <p:spPr>
          <a:xfrm>
            <a:off x="594360" y="4572000"/>
            <a:ext cx="521208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  <a:lvl2pPr marL="228600" indent="-228600" algn="l">
              <a:lnSpc>
                <a:spcPct val="125000"/>
              </a:lnSpc>
              <a:spcAft>
                <a:spcPts val="400"/>
              </a:spcAft>
              <a:buClr>
                <a:srgbClr val="6D4ABE"/>
              </a:buClr>
              <a:buFont typeface="Arial"/>
              <a:buChar char="•"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2pPr>
          </a:lstStyle>
          <a:p>
            <a:r>
              <a:rPr lang="es-PE"/>
              <a:t>Texto de apoyo breve.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 Imagen +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serta una imagen vertical 3"/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F3F0FB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Inserta una imagen vertical</a:t>
            </a:r>
          </a:p>
        </p:txBody>
      </p:sp>
      <p:sp>
        <p:nvSpPr>
          <p:cNvPr id="4" name="CATEGORÍA · TEMA 4"/>
          <p:cNvSpPr>
            <a:spLocks noGrp="1"/>
          </p:cNvSpPr>
          <p:nvPr>
            <p:ph idx="10" hasCustomPrompt="1"/>
          </p:nvPr>
        </p:nvSpPr>
        <p:spPr>
          <a:xfrm>
            <a:off x="5669280" y="914400"/>
            <a:ext cx="592805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5" name="Título de la diapositiva 5"/>
          <p:cNvSpPr>
            <a:spLocks noGrp="1"/>
          </p:cNvSpPr>
          <p:nvPr>
            <p:ph type="title" hasCustomPrompt="1"/>
          </p:nvPr>
        </p:nvSpPr>
        <p:spPr>
          <a:xfrm>
            <a:off x="5669280" y="1170432"/>
            <a:ext cx="592805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6" name="Bajada: una o dos líneas que den el cont 6"/>
          <p:cNvSpPr>
            <a:spLocks noGrp="1"/>
          </p:cNvSpPr>
          <p:nvPr>
            <p:ph idx="11" hasCustomPrompt="1"/>
          </p:nvPr>
        </p:nvSpPr>
        <p:spPr>
          <a:xfrm>
            <a:off x="5669280" y="2039112"/>
            <a:ext cx="5928055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7" name="Forma 7"/>
          <p:cNvSpPr/>
          <p:nvPr userDrawn="1"/>
        </p:nvSpPr>
        <p:spPr>
          <a:xfrm>
            <a:off x="5669280" y="2971800"/>
            <a:ext cx="5928055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8" name="Desarrollo, lista o pasos. El segundo ni 8"/>
          <p:cNvSpPr>
            <a:spLocks noGrp="1"/>
          </p:cNvSpPr>
          <p:nvPr>
            <p:ph idx="14" hasCustomPrompt="1"/>
          </p:nvPr>
        </p:nvSpPr>
        <p:spPr>
          <a:xfrm>
            <a:off x="5669280" y="3154680"/>
            <a:ext cx="5928055" cy="2926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  <a:lvl2pPr marL="228600" indent="-228600" algn="l">
              <a:lnSpc>
                <a:spcPct val="125000"/>
              </a:lnSpc>
              <a:spcAft>
                <a:spcPts val="400"/>
              </a:spcAft>
              <a:buClr>
                <a:srgbClr val="6D4ABE"/>
              </a:buClr>
              <a:buFont typeface="Arial"/>
              <a:buChar char="•"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2pPr>
          </a:lstStyle>
          <a:p>
            <a:r>
              <a:rPr lang="es-PE"/>
              <a:t>Desarrollo, lista o pasos. El segundo nivel crea viñetas.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07 Imagen a pantalla completa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serta una fotografía a pantalla comple 3"/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F47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Inserta una fotografía a pantalla completa. Añade el overlay de la guía para asegurar legibilidad.</a:t>
            </a:r>
          </a:p>
        </p:txBody>
      </p:sp>
      <p:sp>
        <p:nvSpPr>
          <p:cNvPr id="4" name="CATEGORÍA · TEMA 4"/>
          <p:cNvSpPr>
            <a:spLocks noGrp="1"/>
          </p:cNvSpPr>
          <p:nvPr>
            <p:ph idx="10" hasCustomPrompt="1"/>
          </p:nvPr>
        </p:nvSpPr>
        <p:spPr>
          <a:xfrm>
            <a:off x="594360" y="365760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5" name="Mensaje principal sobre la imagen 5"/>
          <p:cNvSpPr>
            <a:spLocks noGrp="1"/>
          </p:cNvSpPr>
          <p:nvPr>
            <p:ph type="title" hasCustomPrompt="1"/>
          </p:nvPr>
        </p:nvSpPr>
        <p:spPr>
          <a:xfrm>
            <a:off x="594360" y="3931920"/>
            <a:ext cx="7863840" cy="146304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Mensaje principal sobre la imagen</a:t>
            </a:r>
          </a:p>
        </p:txBody>
      </p:sp>
      <p:sp>
        <p:nvSpPr>
          <p:cNvPr id="6" name="Bajada breve, máximo dos líneas. 6"/>
          <p:cNvSpPr>
            <a:spLocks noGrp="1"/>
          </p:cNvSpPr>
          <p:nvPr>
            <p:ph idx="11" hasCustomPrompt="1"/>
          </p:nvPr>
        </p:nvSpPr>
        <p:spPr>
          <a:xfrm>
            <a:off x="594360" y="553212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 breve, máximo dos líneas.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 Gran titular / statement">
    <p:bg>
      <p:bgPr>
        <a:solidFill>
          <a:srgbClr val="F3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Una idea poderosa, dicha en una sola fra 4"/>
          <p:cNvSpPr>
            <a:spLocks noGrp="1"/>
          </p:cNvSpPr>
          <p:nvPr>
            <p:ph type="title" hasCustomPrompt="1"/>
          </p:nvPr>
        </p:nvSpPr>
        <p:spPr>
          <a:xfrm>
            <a:off x="594360" y="1463040"/>
            <a:ext cx="1060704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52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Una idea poderosa, dicha en una sola frase.</a:t>
            </a:r>
          </a:p>
        </p:txBody>
      </p:sp>
      <p:sp>
        <p:nvSpPr>
          <p:cNvPr id="5" name="Contexto opcional en una línea. 5"/>
          <p:cNvSpPr>
            <a:spLocks noGrp="1"/>
          </p:cNvSpPr>
          <p:nvPr>
            <p:ph idx="11" hasCustomPrompt="1"/>
          </p:nvPr>
        </p:nvSpPr>
        <p:spPr>
          <a:xfrm>
            <a:off x="594360" y="512064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Contexto opcional en una línea.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 Cifra protagoni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8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90% 5"/>
          <p:cNvSpPr>
            <a:spLocks noGrp="1"/>
          </p:cNvSpPr>
          <p:nvPr>
            <p:ph idx="16" hasCustomPrompt="1"/>
          </p:nvPr>
        </p:nvSpPr>
        <p:spPr>
          <a:xfrm>
            <a:off x="548640" y="2148840"/>
            <a:ext cx="6035040" cy="2651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None/>
              <a:defRPr sz="150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90%</a:t>
            </a:r>
          </a:p>
        </p:txBody>
      </p:sp>
      <p:sp>
        <p:nvSpPr>
          <p:cNvPr id="6" name="Forma 6"/>
          <p:cNvSpPr/>
          <p:nvPr userDrawn="1"/>
        </p:nvSpPr>
        <p:spPr>
          <a:xfrm>
            <a:off x="6629400" y="2514600"/>
            <a:ext cx="10973" cy="2377440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Qué mide la cifra 7"/>
          <p:cNvSpPr>
            <a:spLocks noGrp="1"/>
          </p:cNvSpPr>
          <p:nvPr>
            <p:ph idx="17" hasCustomPrompt="1"/>
          </p:nvPr>
        </p:nvSpPr>
        <p:spPr>
          <a:xfrm>
            <a:off x="6949440" y="251460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mide la cifra</a:t>
            </a:r>
          </a:p>
        </p:txBody>
      </p:sp>
      <p:sp>
        <p:nvSpPr>
          <p:cNvPr id="8" name="Explicación breve: qué significa y por q 8"/>
          <p:cNvSpPr>
            <a:spLocks noGrp="1"/>
          </p:cNvSpPr>
          <p:nvPr>
            <p:ph idx="14" hasCustomPrompt="1"/>
          </p:nvPr>
        </p:nvSpPr>
        <p:spPr>
          <a:xfrm>
            <a:off x="6949440" y="342900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3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Explicación breve: qué significa y por qué importa.</a:t>
            </a:r>
          </a:p>
        </p:txBody>
      </p:sp>
      <p:sp>
        <p:nvSpPr>
          <p:cNvPr id="9" name="Fuente: nombre de la fuente, año 9"/>
          <p:cNvSpPr>
            <a:spLocks noGrp="1"/>
          </p:cNvSpPr>
          <p:nvPr>
            <p:ph idx="18" hasCustomPrompt="1"/>
          </p:nvPr>
        </p:nvSpPr>
        <p:spPr>
          <a:xfrm>
            <a:off x="6949440" y="4846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50" b="0" i="1">
                <a:solidFill>
                  <a:srgbClr val="9A9CAB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Fuente: nombre de la fuente, año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Bajada: una o dos líneas que den el cont 5"/>
          <p:cNvSpPr>
            <a:spLocks noGrp="1"/>
          </p:cNvSpPr>
          <p:nvPr>
            <p:ph idx="11" hasCustomPrompt="1"/>
          </p:nvPr>
        </p:nvSpPr>
        <p:spPr>
          <a:xfrm>
            <a:off x="594360" y="2039112"/>
            <a:ext cx="11002975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6" name="Forma 6"/>
          <p:cNvSpPr/>
          <p:nvPr userDrawn="1"/>
        </p:nvSpPr>
        <p:spPr>
          <a:xfrm>
            <a:off x="594360" y="2880360"/>
            <a:ext cx="5340096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Subtítulo de columna 7"/>
          <p:cNvSpPr>
            <a:spLocks noGrp="1"/>
          </p:cNvSpPr>
          <p:nvPr>
            <p:ph idx="20" hasCustomPrompt="1"/>
          </p:nvPr>
        </p:nvSpPr>
        <p:spPr>
          <a:xfrm>
            <a:off x="594360" y="3063240"/>
            <a:ext cx="5340096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Subtítulo de columna</a:t>
            </a:r>
          </a:p>
        </p:txBody>
      </p:sp>
      <p:sp>
        <p:nvSpPr>
          <p:cNvPr id="8" name="Texto de la columna. 8"/>
          <p:cNvSpPr>
            <a:spLocks noGrp="1"/>
          </p:cNvSpPr>
          <p:nvPr>
            <p:ph idx="22" hasCustomPrompt="1"/>
          </p:nvPr>
        </p:nvSpPr>
        <p:spPr>
          <a:xfrm>
            <a:off x="594360" y="3566160"/>
            <a:ext cx="512064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  <a:lvl2pPr marL="228600" indent="-228600" algn="l">
              <a:lnSpc>
                <a:spcPct val="125000"/>
              </a:lnSpc>
              <a:spcAft>
                <a:spcPts val="400"/>
              </a:spcAft>
              <a:buClr>
                <a:srgbClr val="6D4ABE"/>
              </a:buClr>
              <a:buFont typeface="Arial"/>
              <a:buChar char="•"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2pPr>
          </a:lstStyle>
          <a:p>
            <a:r>
              <a:rPr lang="es-PE"/>
              <a:t>Texto de la columna.</a:t>
            </a:r>
          </a:p>
        </p:txBody>
      </p:sp>
      <p:sp>
        <p:nvSpPr>
          <p:cNvPr id="9" name="Forma 9"/>
          <p:cNvSpPr/>
          <p:nvPr userDrawn="1"/>
        </p:nvSpPr>
        <p:spPr>
          <a:xfrm>
            <a:off x="6254496" y="2880360"/>
            <a:ext cx="5340096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Subtítulo de columna 10"/>
          <p:cNvSpPr>
            <a:spLocks noGrp="1"/>
          </p:cNvSpPr>
          <p:nvPr>
            <p:ph idx="21" hasCustomPrompt="1"/>
          </p:nvPr>
        </p:nvSpPr>
        <p:spPr>
          <a:xfrm>
            <a:off x="6254496" y="3063240"/>
            <a:ext cx="5340096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Subtítulo de columna</a:t>
            </a:r>
          </a:p>
        </p:txBody>
      </p:sp>
      <p:sp>
        <p:nvSpPr>
          <p:cNvPr id="11" name="Texto de la columna. 11"/>
          <p:cNvSpPr>
            <a:spLocks noGrp="1"/>
          </p:cNvSpPr>
          <p:nvPr>
            <p:ph idx="23" hasCustomPrompt="1"/>
          </p:nvPr>
        </p:nvSpPr>
        <p:spPr>
          <a:xfrm>
            <a:off x="6254496" y="3566160"/>
            <a:ext cx="5120640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  <a:lvl2pPr marL="228600" indent="-228600" algn="l">
              <a:lnSpc>
                <a:spcPct val="125000"/>
              </a:lnSpc>
              <a:spcAft>
                <a:spcPts val="400"/>
              </a:spcAft>
              <a:buClr>
                <a:srgbClr val="6D4ABE"/>
              </a:buClr>
              <a:buFont typeface="Arial"/>
              <a:buChar char="•"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2pPr>
          </a:lstStyle>
          <a:p>
            <a:r>
              <a:rPr lang="es-PE"/>
              <a:t>Texto de la columna.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Tre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Bajada: una o dos líneas que den el cont 5"/>
          <p:cNvSpPr>
            <a:spLocks noGrp="1"/>
          </p:cNvSpPr>
          <p:nvPr>
            <p:ph idx="11" hasCustomPrompt="1"/>
          </p:nvPr>
        </p:nvSpPr>
        <p:spPr>
          <a:xfrm>
            <a:off x="594360" y="2039112"/>
            <a:ext cx="11002975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6" name="Forma 6"/>
          <p:cNvSpPr/>
          <p:nvPr userDrawn="1"/>
        </p:nvSpPr>
        <p:spPr>
          <a:xfrm>
            <a:off x="594360" y="2880360"/>
            <a:ext cx="3538728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01 7"/>
          <p:cNvSpPr>
            <a:spLocks noGrp="1"/>
          </p:cNvSpPr>
          <p:nvPr>
            <p:ph idx="30" hasCustomPrompt="1"/>
          </p:nvPr>
        </p:nvSpPr>
        <p:spPr>
          <a:xfrm>
            <a:off x="594360" y="301752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01</a:t>
            </a:r>
          </a:p>
        </p:txBody>
      </p:sp>
      <p:sp>
        <p:nvSpPr>
          <p:cNvPr id="8" name="Subtítulo 8"/>
          <p:cNvSpPr>
            <a:spLocks noGrp="1"/>
          </p:cNvSpPr>
          <p:nvPr>
            <p:ph idx="33" hasCustomPrompt="1"/>
          </p:nvPr>
        </p:nvSpPr>
        <p:spPr>
          <a:xfrm>
            <a:off x="594360" y="361188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Subtítulo</a:t>
            </a:r>
          </a:p>
        </p:txBody>
      </p:sp>
      <p:sp>
        <p:nvSpPr>
          <p:cNvPr id="9" name="Texto breve de apoyo. 9"/>
          <p:cNvSpPr>
            <a:spLocks noGrp="1"/>
          </p:cNvSpPr>
          <p:nvPr>
            <p:ph idx="36" hasCustomPrompt="1"/>
          </p:nvPr>
        </p:nvSpPr>
        <p:spPr>
          <a:xfrm>
            <a:off x="594360" y="41148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Texto breve de apoyo.</a:t>
            </a:r>
          </a:p>
        </p:txBody>
      </p:sp>
      <p:sp>
        <p:nvSpPr>
          <p:cNvPr id="10" name="Forma 10"/>
          <p:cNvSpPr/>
          <p:nvPr userDrawn="1"/>
        </p:nvSpPr>
        <p:spPr>
          <a:xfrm>
            <a:off x="4325112" y="2880360"/>
            <a:ext cx="3538728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02 11"/>
          <p:cNvSpPr>
            <a:spLocks noGrp="1"/>
          </p:cNvSpPr>
          <p:nvPr>
            <p:ph idx="31" hasCustomPrompt="1"/>
          </p:nvPr>
        </p:nvSpPr>
        <p:spPr>
          <a:xfrm>
            <a:off x="4325112" y="301752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02</a:t>
            </a:r>
          </a:p>
        </p:txBody>
      </p:sp>
      <p:sp>
        <p:nvSpPr>
          <p:cNvPr id="12" name="Subtítulo 12"/>
          <p:cNvSpPr>
            <a:spLocks noGrp="1"/>
          </p:cNvSpPr>
          <p:nvPr>
            <p:ph idx="34" hasCustomPrompt="1"/>
          </p:nvPr>
        </p:nvSpPr>
        <p:spPr>
          <a:xfrm>
            <a:off x="4325112" y="361188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Subtítulo</a:t>
            </a:r>
          </a:p>
        </p:txBody>
      </p:sp>
      <p:sp>
        <p:nvSpPr>
          <p:cNvPr id="13" name="Texto breve de apoyo. 13"/>
          <p:cNvSpPr>
            <a:spLocks noGrp="1"/>
          </p:cNvSpPr>
          <p:nvPr>
            <p:ph idx="37" hasCustomPrompt="1"/>
          </p:nvPr>
        </p:nvSpPr>
        <p:spPr>
          <a:xfrm>
            <a:off x="4325112" y="41148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Texto breve de apoyo.</a:t>
            </a:r>
          </a:p>
        </p:txBody>
      </p:sp>
      <p:sp>
        <p:nvSpPr>
          <p:cNvPr id="14" name="Forma 14"/>
          <p:cNvSpPr/>
          <p:nvPr userDrawn="1"/>
        </p:nvSpPr>
        <p:spPr>
          <a:xfrm>
            <a:off x="8055864" y="2880360"/>
            <a:ext cx="3538728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5" name="03 15"/>
          <p:cNvSpPr>
            <a:spLocks noGrp="1"/>
          </p:cNvSpPr>
          <p:nvPr>
            <p:ph idx="32" hasCustomPrompt="1"/>
          </p:nvPr>
        </p:nvSpPr>
        <p:spPr>
          <a:xfrm>
            <a:off x="8055864" y="3017520"/>
            <a:ext cx="35387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03</a:t>
            </a:r>
          </a:p>
        </p:txBody>
      </p:sp>
      <p:sp>
        <p:nvSpPr>
          <p:cNvPr id="16" name="Subtítulo 16"/>
          <p:cNvSpPr>
            <a:spLocks noGrp="1"/>
          </p:cNvSpPr>
          <p:nvPr>
            <p:ph idx="35" hasCustomPrompt="1"/>
          </p:nvPr>
        </p:nvSpPr>
        <p:spPr>
          <a:xfrm>
            <a:off x="8055864" y="361188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Subtítulo</a:t>
            </a:r>
          </a:p>
        </p:txBody>
      </p:sp>
      <p:sp>
        <p:nvSpPr>
          <p:cNvPr id="17" name="Texto breve de apoyo. 17"/>
          <p:cNvSpPr>
            <a:spLocks noGrp="1"/>
          </p:cNvSpPr>
          <p:nvPr>
            <p:ph idx="38" hasCustomPrompt="1"/>
          </p:nvPr>
        </p:nvSpPr>
        <p:spPr>
          <a:xfrm>
            <a:off x="8055864" y="41148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Texto breve de apoyo.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Forma 5"/>
          <p:cNvSpPr/>
          <p:nvPr userDrawn="1"/>
        </p:nvSpPr>
        <p:spPr>
          <a:xfrm>
            <a:off x="594360" y="2240280"/>
            <a:ext cx="5340096" cy="38404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6" name="Forma 6"/>
          <p:cNvSpPr/>
          <p:nvPr userDrawn="1"/>
        </p:nvSpPr>
        <p:spPr>
          <a:xfrm>
            <a:off x="6254496" y="2240280"/>
            <a:ext cx="5340096" cy="3840480"/>
          </a:xfrm>
          <a:prstGeom prst="rect">
            <a:avLst/>
          </a:prstGeom>
          <a:solidFill>
            <a:srgbClr val="25283D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OPCIÓN A 7"/>
          <p:cNvSpPr>
            <a:spLocks noGrp="1"/>
          </p:cNvSpPr>
          <p:nvPr>
            <p:ph idx="40" hasCustomPrompt="1"/>
          </p:nvPr>
        </p:nvSpPr>
        <p:spPr>
          <a:xfrm>
            <a:off x="960120" y="25603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OPCIÓN A</a:t>
            </a:r>
          </a:p>
        </p:txBody>
      </p:sp>
      <p:sp>
        <p:nvSpPr>
          <p:cNvPr id="8" name="Encabezado de la comparación 8"/>
          <p:cNvSpPr>
            <a:spLocks noGrp="1"/>
          </p:cNvSpPr>
          <p:nvPr>
            <p:ph idx="41" hasCustomPrompt="1"/>
          </p:nvPr>
        </p:nvSpPr>
        <p:spPr>
          <a:xfrm>
            <a:off x="960120" y="28803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Encabezado de la comparación</a:t>
            </a:r>
          </a:p>
        </p:txBody>
      </p:sp>
      <p:sp>
        <p:nvSpPr>
          <p:cNvPr id="9" name="Puntos a comparar. 9"/>
          <p:cNvSpPr>
            <a:spLocks noGrp="1"/>
          </p:cNvSpPr>
          <p:nvPr>
            <p:ph idx="42" hasCustomPrompt="1"/>
          </p:nvPr>
        </p:nvSpPr>
        <p:spPr>
          <a:xfrm>
            <a:off x="960120" y="379476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  <a:lvl2pPr marL="228600" indent="-228600" algn="l">
              <a:lnSpc>
                <a:spcPct val="125000"/>
              </a:lnSpc>
              <a:spcAft>
                <a:spcPts val="400"/>
              </a:spcAft>
              <a:buClr>
                <a:srgbClr val="6D4ABE"/>
              </a:buClr>
              <a:buFont typeface="Arial"/>
              <a:buChar char="•"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2pPr>
          </a:lstStyle>
          <a:p>
            <a:r>
              <a:rPr lang="es-PE"/>
              <a:t>Puntos a comparar.</a:t>
            </a:r>
          </a:p>
        </p:txBody>
      </p:sp>
      <p:sp>
        <p:nvSpPr>
          <p:cNvPr id="10" name="OPCIÓN B 10"/>
          <p:cNvSpPr>
            <a:spLocks noGrp="1"/>
          </p:cNvSpPr>
          <p:nvPr>
            <p:ph idx="43" hasCustomPrompt="1"/>
          </p:nvPr>
        </p:nvSpPr>
        <p:spPr>
          <a:xfrm>
            <a:off x="6620256" y="25603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OPCIÓN B</a:t>
            </a:r>
          </a:p>
        </p:txBody>
      </p:sp>
      <p:sp>
        <p:nvSpPr>
          <p:cNvPr id="11" name="Encabezado de la comparación 11"/>
          <p:cNvSpPr>
            <a:spLocks noGrp="1"/>
          </p:cNvSpPr>
          <p:nvPr>
            <p:ph idx="44" hasCustomPrompt="1"/>
          </p:nvPr>
        </p:nvSpPr>
        <p:spPr>
          <a:xfrm>
            <a:off x="6620256" y="28803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Encabezado de la comparación</a:t>
            </a:r>
          </a:p>
        </p:txBody>
      </p:sp>
      <p:sp>
        <p:nvSpPr>
          <p:cNvPr id="12" name="Puntos a comparar. 12"/>
          <p:cNvSpPr>
            <a:spLocks noGrp="1"/>
          </p:cNvSpPr>
          <p:nvPr>
            <p:ph idx="45" hasCustomPrompt="1"/>
          </p:nvPr>
        </p:nvSpPr>
        <p:spPr>
          <a:xfrm>
            <a:off x="6620256" y="379476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  <a:lvl2pPr marL="228600" indent="-228600" algn="l">
              <a:lnSpc>
                <a:spcPct val="125000"/>
              </a:lnSpc>
              <a:spcAft>
                <a:spcPts val="400"/>
              </a:spcAft>
              <a:buClr>
                <a:srgbClr val="6D4ABE"/>
              </a:buClr>
              <a:buFont typeface="Arial"/>
              <a:buChar char="•"/>
              <a:defRPr sz="12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2pPr>
          </a:lstStyle>
          <a:p>
            <a:r>
              <a:rPr lang="es-PE"/>
              <a:t>Puntos a comparar.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Proceso / pa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Bajada: una o dos líneas que den el cont 5"/>
          <p:cNvSpPr>
            <a:spLocks noGrp="1"/>
          </p:cNvSpPr>
          <p:nvPr>
            <p:ph idx="11" hasCustomPrompt="1"/>
          </p:nvPr>
        </p:nvSpPr>
        <p:spPr>
          <a:xfrm>
            <a:off x="594360" y="2039112"/>
            <a:ext cx="11002975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6" name="Forma 6"/>
          <p:cNvSpPr/>
          <p:nvPr userDrawn="1"/>
        </p:nvSpPr>
        <p:spPr>
          <a:xfrm>
            <a:off x="594360" y="3017520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01 7"/>
          <p:cNvSpPr>
            <a:spLocks noGrp="1"/>
          </p:cNvSpPr>
          <p:nvPr>
            <p:ph idx="50" hasCustomPrompt="1"/>
          </p:nvPr>
        </p:nvSpPr>
        <p:spPr>
          <a:xfrm>
            <a:off x="594360" y="32004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01</a:t>
            </a:r>
          </a:p>
        </p:txBody>
      </p:sp>
      <p:sp>
        <p:nvSpPr>
          <p:cNvPr id="8" name="Nombre del paso 8"/>
          <p:cNvSpPr>
            <a:spLocks noGrp="1"/>
          </p:cNvSpPr>
          <p:nvPr>
            <p:ph idx="54" hasCustomPrompt="1"/>
          </p:nvPr>
        </p:nvSpPr>
        <p:spPr>
          <a:xfrm>
            <a:off x="594360" y="374904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 del paso</a:t>
            </a:r>
          </a:p>
        </p:txBody>
      </p:sp>
      <p:sp>
        <p:nvSpPr>
          <p:cNvPr id="9" name="Qué ocurre en este paso. 9"/>
          <p:cNvSpPr>
            <a:spLocks noGrp="1"/>
          </p:cNvSpPr>
          <p:nvPr>
            <p:ph idx="58" hasCustomPrompt="1"/>
          </p:nvPr>
        </p:nvSpPr>
        <p:spPr>
          <a:xfrm>
            <a:off x="594360" y="4480560"/>
            <a:ext cx="2514600" cy="1554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5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ocurre en este paso.</a:t>
            </a:r>
          </a:p>
        </p:txBody>
      </p:sp>
      <p:sp>
        <p:nvSpPr>
          <p:cNvPr id="10" name="02 10"/>
          <p:cNvSpPr>
            <a:spLocks noGrp="1"/>
          </p:cNvSpPr>
          <p:nvPr>
            <p:ph idx="51" hasCustomPrompt="1"/>
          </p:nvPr>
        </p:nvSpPr>
        <p:spPr>
          <a:xfrm>
            <a:off x="3401568" y="32004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02</a:t>
            </a:r>
          </a:p>
        </p:txBody>
      </p:sp>
      <p:sp>
        <p:nvSpPr>
          <p:cNvPr id="11" name="Nombre del paso 11"/>
          <p:cNvSpPr>
            <a:spLocks noGrp="1"/>
          </p:cNvSpPr>
          <p:nvPr>
            <p:ph idx="55" hasCustomPrompt="1"/>
          </p:nvPr>
        </p:nvSpPr>
        <p:spPr>
          <a:xfrm>
            <a:off x="3401568" y="374904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 del paso</a:t>
            </a:r>
          </a:p>
        </p:txBody>
      </p:sp>
      <p:sp>
        <p:nvSpPr>
          <p:cNvPr id="12" name="Qué ocurre en este paso. 12"/>
          <p:cNvSpPr>
            <a:spLocks noGrp="1"/>
          </p:cNvSpPr>
          <p:nvPr>
            <p:ph idx="59" hasCustomPrompt="1"/>
          </p:nvPr>
        </p:nvSpPr>
        <p:spPr>
          <a:xfrm>
            <a:off x="3401568" y="4480560"/>
            <a:ext cx="2514600" cy="1554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5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ocurre en este paso.</a:t>
            </a:r>
          </a:p>
        </p:txBody>
      </p:sp>
      <p:sp>
        <p:nvSpPr>
          <p:cNvPr id="13" name="03 13"/>
          <p:cNvSpPr>
            <a:spLocks noGrp="1"/>
          </p:cNvSpPr>
          <p:nvPr>
            <p:ph idx="52" hasCustomPrompt="1"/>
          </p:nvPr>
        </p:nvSpPr>
        <p:spPr>
          <a:xfrm>
            <a:off x="6208776" y="32004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03</a:t>
            </a:r>
          </a:p>
        </p:txBody>
      </p:sp>
      <p:sp>
        <p:nvSpPr>
          <p:cNvPr id="14" name="Nombre del paso 14"/>
          <p:cNvSpPr>
            <a:spLocks noGrp="1"/>
          </p:cNvSpPr>
          <p:nvPr>
            <p:ph idx="56" hasCustomPrompt="1"/>
          </p:nvPr>
        </p:nvSpPr>
        <p:spPr>
          <a:xfrm>
            <a:off x="6208776" y="374904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 del paso</a:t>
            </a:r>
          </a:p>
        </p:txBody>
      </p:sp>
      <p:sp>
        <p:nvSpPr>
          <p:cNvPr id="15" name="Qué ocurre en este paso. 15"/>
          <p:cNvSpPr>
            <a:spLocks noGrp="1"/>
          </p:cNvSpPr>
          <p:nvPr>
            <p:ph idx="60" hasCustomPrompt="1"/>
          </p:nvPr>
        </p:nvSpPr>
        <p:spPr>
          <a:xfrm>
            <a:off x="6208776" y="4480560"/>
            <a:ext cx="2514600" cy="1554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5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ocurre en este paso.</a:t>
            </a:r>
          </a:p>
        </p:txBody>
      </p:sp>
      <p:sp>
        <p:nvSpPr>
          <p:cNvPr id="16" name="04 16"/>
          <p:cNvSpPr>
            <a:spLocks noGrp="1"/>
          </p:cNvSpPr>
          <p:nvPr>
            <p:ph idx="53" hasCustomPrompt="1"/>
          </p:nvPr>
        </p:nvSpPr>
        <p:spPr>
          <a:xfrm>
            <a:off x="9015984" y="32004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6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04</a:t>
            </a:r>
          </a:p>
        </p:txBody>
      </p:sp>
      <p:sp>
        <p:nvSpPr>
          <p:cNvPr id="17" name="Nombre del paso 17"/>
          <p:cNvSpPr>
            <a:spLocks noGrp="1"/>
          </p:cNvSpPr>
          <p:nvPr>
            <p:ph idx="57" hasCustomPrompt="1"/>
          </p:nvPr>
        </p:nvSpPr>
        <p:spPr>
          <a:xfrm>
            <a:off x="9015984" y="3749040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 del paso</a:t>
            </a:r>
          </a:p>
        </p:txBody>
      </p:sp>
      <p:sp>
        <p:nvSpPr>
          <p:cNvPr id="18" name="Qué ocurre en este paso. 18"/>
          <p:cNvSpPr>
            <a:spLocks noGrp="1"/>
          </p:cNvSpPr>
          <p:nvPr>
            <p:ph idx="61" hasCustomPrompt="1"/>
          </p:nvPr>
        </p:nvSpPr>
        <p:spPr>
          <a:xfrm>
            <a:off x="9015984" y="4480560"/>
            <a:ext cx="2514600" cy="1554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5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ocurre en este paso.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14 Timelin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4" name="Texto 4"/>
          <p:cNvSpPr txBox="1"/>
          <p:nvPr userDrawn="1"/>
        </p:nvSpPr>
        <p:spPr>
          <a:xfrm>
            <a:off x="0" y="6455664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s-PE" sz="9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‹#›</a:t>
            </a:fld>
          </a:p>
        </p:txBody>
      </p:sp>
      <p:sp>
        <p:nvSpPr>
          <p:cNvPr id="5" name="Texto 5"/>
          <p:cNvSpPr txBox="1"/>
          <p:nvPr userDrawn="1"/>
        </p:nvSpPr>
        <p:spPr>
          <a:xfrm>
            <a:off x="10076688" y="6419088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PE" sz="900" b="0" i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6" name="CATEGORÍA · TEMA 6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7" name="Título de la diapositiva 7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8" name="Bajada: una o dos líneas que den el cont 8"/>
          <p:cNvSpPr>
            <a:spLocks noGrp="1"/>
          </p:cNvSpPr>
          <p:nvPr>
            <p:ph idx="11" hasCustomPrompt="1"/>
          </p:nvPr>
        </p:nvSpPr>
        <p:spPr>
          <a:xfrm>
            <a:off x="594360" y="2039112"/>
            <a:ext cx="11002975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9" name="Forma 9"/>
          <p:cNvSpPr/>
          <p:nvPr userDrawn="1"/>
        </p:nvSpPr>
        <p:spPr>
          <a:xfrm>
            <a:off x="594360" y="3840480"/>
            <a:ext cx="11002975" cy="10973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Fecha 10"/>
          <p:cNvSpPr>
            <a:spLocks noGrp="1"/>
          </p:cNvSpPr>
          <p:nvPr>
            <p:ph idx="70" hasCustomPrompt="1"/>
          </p:nvPr>
        </p:nvSpPr>
        <p:spPr>
          <a:xfrm>
            <a:off x="594360" y="32004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0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Fecha</a:t>
            </a:r>
          </a:p>
        </p:txBody>
      </p:sp>
      <p:sp>
        <p:nvSpPr>
          <p:cNvPr id="11" name="Forma 11"/>
          <p:cNvSpPr/>
          <p:nvPr userDrawn="1"/>
        </p:nvSpPr>
        <p:spPr>
          <a:xfrm>
            <a:off x="594360" y="3767328"/>
            <a:ext cx="155448" cy="155448"/>
          </a:xfrm>
          <a:prstGeom prst="ellipse">
            <a:avLst/>
          </a:prstGeom>
          <a:solidFill>
            <a:srgbClr val="6D4ABE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2" name="Hito 12"/>
          <p:cNvSpPr>
            <a:spLocks noGrp="1"/>
          </p:cNvSpPr>
          <p:nvPr>
            <p:ph idx="75" hasCustomPrompt="1"/>
          </p:nvPr>
        </p:nvSpPr>
        <p:spPr>
          <a:xfrm>
            <a:off x="594360" y="41148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Hito</a:t>
            </a:r>
          </a:p>
        </p:txBody>
      </p:sp>
      <p:sp>
        <p:nvSpPr>
          <p:cNvPr id="13" name="Descripción breve del hito. 13"/>
          <p:cNvSpPr>
            <a:spLocks noGrp="1"/>
          </p:cNvSpPr>
          <p:nvPr>
            <p:ph idx="80" hasCustomPrompt="1"/>
          </p:nvPr>
        </p:nvSpPr>
        <p:spPr>
          <a:xfrm>
            <a:off x="594360" y="4572000"/>
            <a:ext cx="2514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Descripción breve del hito.</a:t>
            </a:r>
          </a:p>
        </p:txBody>
      </p:sp>
      <p:sp>
        <p:nvSpPr>
          <p:cNvPr id="14" name="Fecha 14"/>
          <p:cNvSpPr>
            <a:spLocks noGrp="1"/>
          </p:cNvSpPr>
          <p:nvPr>
            <p:ph idx="71" hasCustomPrompt="1"/>
          </p:nvPr>
        </p:nvSpPr>
        <p:spPr>
          <a:xfrm>
            <a:off x="3401568" y="32004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0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Fecha</a:t>
            </a:r>
          </a:p>
        </p:txBody>
      </p:sp>
      <p:sp>
        <p:nvSpPr>
          <p:cNvPr id="15" name="Forma 15"/>
          <p:cNvSpPr/>
          <p:nvPr userDrawn="1"/>
        </p:nvSpPr>
        <p:spPr>
          <a:xfrm>
            <a:off x="3401568" y="3767328"/>
            <a:ext cx="155448" cy="155448"/>
          </a:xfrm>
          <a:prstGeom prst="ellipse">
            <a:avLst/>
          </a:prstGeom>
          <a:solidFill>
            <a:srgbClr val="6D4ABE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6" name="Hito 16"/>
          <p:cNvSpPr>
            <a:spLocks noGrp="1"/>
          </p:cNvSpPr>
          <p:nvPr>
            <p:ph idx="76" hasCustomPrompt="1"/>
          </p:nvPr>
        </p:nvSpPr>
        <p:spPr>
          <a:xfrm>
            <a:off x="3401568" y="41148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Hito</a:t>
            </a:r>
          </a:p>
        </p:txBody>
      </p:sp>
      <p:sp>
        <p:nvSpPr>
          <p:cNvPr id="17" name="Descripción breve del hito. 17"/>
          <p:cNvSpPr>
            <a:spLocks noGrp="1"/>
          </p:cNvSpPr>
          <p:nvPr>
            <p:ph idx="81" hasCustomPrompt="1"/>
          </p:nvPr>
        </p:nvSpPr>
        <p:spPr>
          <a:xfrm>
            <a:off x="3401568" y="4572000"/>
            <a:ext cx="2514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Descripción breve del hito.</a:t>
            </a:r>
          </a:p>
        </p:txBody>
      </p:sp>
      <p:sp>
        <p:nvSpPr>
          <p:cNvPr id="18" name="Fecha 18"/>
          <p:cNvSpPr>
            <a:spLocks noGrp="1"/>
          </p:cNvSpPr>
          <p:nvPr>
            <p:ph idx="72" hasCustomPrompt="1"/>
          </p:nvPr>
        </p:nvSpPr>
        <p:spPr>
          <a:xfrm>
            <a:off x="6208776" y="32004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0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Fecha</a:t>
            </a:r>
          </a:p>
        </p:txBody>
      </p:sp>
      <p:sp>
        <p:nvSpPr>
          <p:cNvPr id="19" name="Forma 19"/>
          <p:cNvSpPr/>
          <p:nvPr userDrawn="1"/>
        </p:nvSpPr>
        <p:spPr>
          <a:xfrm>
            <a:off x="6208776" y="3767328"/>
            <a:ext cx="155448" cy="155448"/>
          </a:xfrm>
          <a:prstGeom prst="ellipse">
            <a:avLst/>
          </a:prstGeom>
          <a:solidFill>
            <a:srgbClr val="6D4ABE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0" name="Hito 20"/>
          <p:cNvSpPr>
            <a:spLocks noGrp="1"/>
          </p:cNvSpPr>
          <p:nvPr>
            <p:ph idx="77" hasCustomPrompt="1"/>
          </p:nvPr>
        </p:nvSpPr>
        <p:spPr>
          <a:xfrm>
            <a:off x="6208776" y="41148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Hito</a:t>
            </a:r>
          </a:p>
        </p:txBody>
      </p:sp>
      <p:sp>
        <p:nvSpPr>
          <p:cNvPr id="21" name="Descripción breve del hito. 21"/>
          <p:cNvSpPr>
            <a:spLocks noGrp="1"/>
          </p:cNvSpPr>
          <p:nvPr>
            <p:ph idx="82" hasCustomPrompt="1"/>
          </p:nvPr>
        </p:nvSpPr>
        <p:spPr>
          <a:xfrm>
            <a:off x="6208776" y="4572000"/>
            <a:ext cx="2514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Descripción breve del hito.</a:t>
            </a:r>
          </a:p>
        </p:txBody>
      </p:sp>
      <p:sp>
        <p:nvSpPr>
          <p:cNvPr id="22" name="Fecha 22"/>
          <p:cNvSpPr>
            <a:spLocks noGrp="1"/>
          </p:cNvSpPr>
          <p:nvPr>
            <p:ph idx="73" hasCustomPrompt="1"/>
          </p:nvPr>
        </p:nvSpPr>
        <p:spPr>
          <a:xfrm>
            <a:off x="9015984" y="320040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20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Fecha</a:t>
            </a:r>
          </a:p>
        </p:txBody>
      </p:sp>
      <p:sp>
        <p:nvSpPr>
          <p:cNvPr id="23" name="Forma 23"/>
          <p:cNvSpPr/>
          <p:nvPr userDrawn="1"/>
        </p:nvSpPr>
        <p:spPr>
          <a:xfrm>
            <a:off x="9015984" y="3767328"/>
            <a:ext cx="155448" cy="155448"/>
          </a:xfrm>
          <a:prstGeom prst="ellipse">
            <a:avLst/>
          </a:prstGeom>
          <a:solidFill>
            <a:srgbClr val="6D4ABE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4" name="Hito 24"/>
          <p:cNvSpPr>
            <a:spLocks noGrp="1"/>
          </p:cNvSpPr>
          <p:nvPr>
            <p:ph idx="78" hasCustomPrompt="1"/>
          </p:nvPr>
        </p:nvSpPr>
        <p:spPr>
          <a:xfrm>
            <a:off x="9015984" y="41148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5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Hito</a:t>
            </a:r>
          </a:p>
        </p:txBody>
      </p:sp>
      <p:sp>
        <p:nvSpPr>
          <p:cNvPr id="25" name="Descripción breve del hito. 25"/>
          <p:cNvSpPr>
            <a:spLocks noGrp="1"/>
          </p:cNvSpPr>
          <p:nvPr>
            <p:ph idx="83" hasCustomPrompt="1"/>
          </p:nvPr>
        </p:nvSpPr>
        <p:spPr>
          <a:xfrm>
            <a:off x="9015984" y="4572000"/>
            <a:ext cx="2514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Descripción breve del hito.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Diagrama / ecosis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512064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Bajada: una o dos líneas que den el cont 5"/>
          <p:cNvSpPr>
            <a:spLocks noGrp="1"/>
          </p:cNvSpPr>
          <p:nvPr>
            <p:ph idx="11" hasCustomPrompt="1"/>
          </p:nvPr>
        </p:nvSpPr>
        <p:spPr>
          <a:xfrm>
            <a:off x="594360" y="2542032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6" name="Explica cada nivel del diagrama. 6"/>
          <p:cNvSpPr>
            <a:spLocks noGrp="1"/>
          </p:cNvSpPr>
          <p:nvPr>
            <p:ph idx="14" hasCustomPrompt="1"/>
          </p:nvPr>
        </p:nvSpPr>
        <p:spPr>
          <a:xfrm>
            <a:off x="594360" y="3657600"/>
            <a:ext cx="493776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  <a:lvl2pPr marL="228600" indent="-228600" algn="l">
              <a:lnSpc>
                <a:spcPct val="125000"/>
              </a:lnSpc>
              <a:spcAft>
                <a:spcPts val="400"/>
              </a:spcAft>
              <a:buClr>
                <a:srgbClr val="6D4ABE"/>
              </a:buClr>
              <a:buFont typeface="Arial"/>
              <a:buChar char="•"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2pPr>
          </a:lstStyle>
          <a:p>
            <a:r>
              <a:rPr lang="es-PE"/>
              <a:t>Explica cada nivel del diagrama.</a:t>
            </a:r>
          </a:p>
        </p:txBody>
      </p:sp>
      <p:sp>
        <p:nvSpPr>
          <p:cNvPr id="7" name="Forma 7"/>
          <p:cNvSpPr/>
          <p:nvPr userDrawn="1"/>
        </p:nvSpPr>
        <p:spPr>
          <a:xfrm>
            <a:off x="6309360" y="1280160"/>
            <a:ext cx="4846320" cy="4846320"/>
          </a:xfrm>
          <a:prstGeom prst="ellipse">
            <a:avLst/>
          </a:prstGeom>
          <a:solidFill>
            <a:srgbClr val="F3F0FB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8" name="Forma 8"/>
          <p:cNvSpPr/>
          <p:nvPr userDrawn="1"/>
        </p:nvSpPr>
        <p:spPr>
          <a:xfrm>
            <a:off x="7040880" y="2011680"/>
            <a:ext cx="3383280" cy="3383280"/>
          </a:xfrm>
          <a:prstGeom prst="ellipse">
            <a:avLst/>
          </a:prstGeom>
          <a:solidFill>
            <a:srgbClr val="C0B0F4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9" name="Forma 9"/>
          <p:cNvSpPr/>
          <p:nvPr userDrawn="1"/>
        </p:nvSpPr>
        <p:spPr>
          <a:xfrm>
            <a:off x="7772400" y="2743200"/>
            <a:ext cx="1920240" cy="1920240"/>
          </a:xfrm>
          <a:prstGeom prst="ellipse">
            <a:avLst/>
          </a:prstGeom>
          <a:solidFill>
            <a:srgbClr val="6D4ABE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0" name="Núcleo 10"/>
          <p:cNvSpPr>
            <a:spLocks noGrp="1"/>
          </p:cNvSpPr>
          <p:nvPr>
            <p:ph idx="90" hasCustomPrompt="1"/>
          </p:nvPr>
        </p:nvSpPr>
        <p:spPr>
          <a:xfrm>
            <a:off x="7863840" y="3291840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Núcleo</a:t>
            </a:r>
          </a:p>
        </p:txBody>
      </p:sp>
      <p:sp>
        <p:nvSpPr>
          <p:cNvPr id="11" name="Nivel 2 11"/>
          <p:cNvSpPr>
            <a:spLocks noGrp="1"/>
          </p:cNvSpPr>
          <p:nvPr>
            <p:ph idx="91" hasCustomPrompt="1"/>
          </p:nvPr>
        </p:nvSpPr>
        <p:spPr>
          <a:xfrm>
            <a:off x="7360920" y="2130552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Nivel 2</a:t>
            </a:r>
          </a:p>
        </p:txBody>
      </p:sp>
      <p:sp>
        <p:nvSpPr>
          <p:cNvPr id="12" name="Nivel 3 12"/>
          <p:cNvSpPr>
            <a:spLocks noGrp="1"/>
          </p:cNvSpPr>
          <p:nvPr>
            <p:ph idx="92" hasCustomPrompt="1"/>
          </p:nvPr>
        </p:nvSpPr>
        <p:spPr>
          <a:xfrm>
            <a:off x="7086600" y="1399032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Nivel 3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16 Servicios o soluciones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4" name="Texto 4"/>
          <p:cNvSpPr txBox="1"/>
          <p:nvPr userDrawn="1"/>
        </p:nvSpPr>
        <p:spPr>
          <a:xfrm>
            <a:off x="0" y="6455664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s-PE" sz="9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‹#›</a:t>
            </a:fld>
          </a:p>
        </p:txBody>
      </p:sp>
      <p:sp>
        <p:nvSpPr>
          <p:cNvPr id="5" name="Texto 5"/>
          <p:cNvSpPr txBox="1"/>
          <p:nvPr userDrawn="1"/>
        </p:nvSpPr>
        <p:spPr>
          <a:xfrm>
            <a:off x="10076688" y="6419088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PE" sz="900" b="0" i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6" name="CATEGORÍA · TEMA 6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7" name="Título de la diapositiva 7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8" name="Ícono 8"/>
          <p:cNvSpPr>
            <a:spLocks noGrp="1"/>
          </p:cNvSpPr>
          <p:nvPr>
            <p:ph type="pic" idx="100" hasCustomPrompt="1"/>
          </p:nvPr>
        </p:nvSpPr>
        <p:spPr>
          <a:xfrm>
            <a:off x="594360" y="2331720"/>
            <a:ext cx="777240" cy="777240"/>
          </a:xfrm>
          <a:prstGeom prst="ellipse">
            <a:avLst/>
          </a:prstGeom>
          <a:solidFill>
            <a:srgbClr val="6D4ABE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Ícono</a:t>
            </a:r>
          </a:p>
        </p:txBody>
      </p:sp>
      <p:sp>
        <p:nvSpPr>
          <p:cNvPr id="9" name="Nombre 9"/>
          <p:cNvSpPr>
            <a:spLocks noGrp="1"/>
          </p:cNvSpPr>
          <p:nvPr>
            <p:ph idx="104" hasCustomPrompt="1"/>
          </p:nvPr>
        </p:nvSpPr>
        <p:spPr>
          <a:xfrm>
            <a:off x="594360" y="329184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9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</a:t>
            </a:r>
          </a:p>
        </p:txBody>
      </p:sp>
      <p:sp>
        <p:nvSpPr>
          <p:cNvPr id="10" name="Bajada corta 10"/>
          <p:cNvSpPr>
            <a:spLocks noGrp="1"/>
          </p:cNvSpPr>
          <p:nvPr>
            <p:ph idx="108" hasCustomPrompt="1"/>
          </p:nvPr>
        </p:nvSpPr>
        <p:spPr>
          <a:xfrm>
            <a:off x="594360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5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 corta</a:t>
            </a:r>
          </a:p>
        </p:txBody>
      </p:sp>
      <p:sp>
        <p:nvSpPr>
          <p:cNvPr id="11" name="Qué hace y para quién. 11"/>
          <p:cNvSpPr>
            <a:spLocks noGrp="1"/>
          </p:cNvSpPr>
          <p:nvPr>
            <p:ph idx="112" hasCustomPrompt="1"/>
          </p:nvPr>
        </p:nvSpPr>
        <p:spPr>
          <a:xfrm>
            <a:off x="594360" y="466344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hace y para quién.</a:t>
            </a:r>
          </a:p>
        </p:txBody>
      </p:sp>
      <p:sp>
        <p:nvSpPr>
          <p:cNvPr id="12" name="Forma 12"/>
          <p:cNvSpPr/>
          <p:nvPr userDrawn="1"/>
        </p:nvSpPr>
        <p:spPr>
          <a:xfrm>
            <a:off x="3246120" y="2286000"/>
            <a:ext cx="10973" cy="361188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3" name="Ícono 13"/>
          <p:cNvSpPr>
            <a:spLocks noGrp="1"/>
          </p:cNvSpPr>
          <p:nvPr>
            <p:ph type="pic" idx="101" hasCustomPrompt="1"/>
          </p:nvPr>
        </p:nvSpPr>
        <p:spPr>
          <a:xfrm>
            <a:off x="3429000" y="2331720"/>
            <a:ext cx="777240" cy="777240"/>
          </a:xfrm>
          <a:prstGeom prst="ellipse">
            <a:avLst/>
          </a:prstGeom>
          <a:solidFill>
            <a:srgbClr val="6D4ABE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Ícono</a:t>
            </a:r>
          </a:p>
        </p:txBody>
      </p:sp>
      <p:sp>
        <p:nvSpPr>
          <p:cNvPr id="14" name="Nombre 14"/>
          <p:cNvSpPr>
            <a:spLocks noGrp="1"/>
          </p:cNvSpPr>
          <p:nvPr>
            <p:ph idx="105" hasCustomPrompt="1"/>
          </p:nvPr>
        </p:nvSpPr>
        <p:spPr>
          <a:xfrm>
            <a:off x="3429000" y="329184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9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</a:t>
            </a:r>
          </a:p>
        </p:txBody>
      </p:sp>
      <p:sp>
        <p:nvSpPr>
          <p:cNvPr id="15" name="Bajada corta 15"/>
          <p:cNvSpPr>
            <a:spLocks noGrp="1"/>
          </p:cNvSpPr>
          <p:nvPr>
            <p:ph idx="109" hasCustomPrompt="1"/>
          </p:nvPr>
        </p:nvSpPr>
        <p:spPr>
          <a:xfrm>
            <a:off x="3429000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5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 corta</a:t>
            </a:r>
          </a:p>
        </p:txBody>
      </p:sp>
      <p:sp>
        <p:nvSpPr>
          <p:cNvPr id="16" name="Qué hace y para quién. 16"/>
          <p:cNvSpPr>
            <a:spLocks noGrp="1"/>
          </p:cNvSpPr>
          <p:nvPr>
            <p:ph idx="113" hasCustomPrompt="1"/>
          </p:nvPr>
        </p:nvSpPr>
        <p:spPr>
          <a:xfrm>
            <a:off x="3429000" y="466344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hace y para quién.</a:t>
            </a:r>
          </a:p>
        </p:txBody>
      </p:sp>
      <p:sp>
        <p:nvSpPr>
          <p:cNvPr id="17" name="Forma 17"/>
          <p:cNvSpPr/>
          <p:nvPr userDrawn="1"/>
        </p:nvSpPr>
        <p:spPr>
          <a:xfrm>
            <a:off x="6080760" y="2286000"/>
            <a:ext cx="10973" cy="361188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8" name="Ícono 18"/>
          <p:cNvSpPr>
            <a:spLocks noGrp="1"/>
          </p:cNvSpPr>
          <p:nvPr>
            <p:ph type="pic" idx="102" hasCustomPrompt="1"/>
          </p:nvPr>
        </p:nvSpPr>
        <p:spPr>
          <a:xfrm>
            <a:off x="6263640" y="2331720"/>
            <a:ext cx="777240" cy="777240"/>
          </a:xfrm>
          <a:prstGeom prst="ellipse">
            <a:avLst/>
          </a:prstGeom>
          <a:solidFill>
            <a:srgbClr val="6D4ABE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Ícono</a:t>
            </a:r>
          </a:p>
        </p:txBody>
      </p:sp>
      <p:sp>
        <p:nvSpPr>
          <p:cNvPr id="19" name="Nombre 19"/>
          <p:cNvSpPr>
            <a:spLocks noGrp="1"/>
          </p:cNvSpPr>
          <p:nvPr>
            <p:ph idx="106" hasCustomPrompt="1"/>
          </p:nvPr>
        </p:nvSpPr>
        <p:spPr>
          <a:xfrm>
            <a:off x="6263640" y="329184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9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</a:t>
            </a:r>
          </a:p>
        </p:txBody>
      </p:sp>
      <p:sp>
        <p:nvSpPr>
          <p:cNvPr id="20" name="Bajada corta 20"/>
          <p:cNvSpPr>
            <a:spLocks noGrp="1"/>
          </p:cNvSpPr>
          <p:nvPr>
            <p:ph idx="110" hasCustomPrompt="1"/>
          </p:nvPr>
        </p:nvSpPr>
        <p:spPr>
          <a:xfrm>
            <a:off x="6263640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5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 corta</a:t>
            </a:r>
          </a:p>
        </p:txBody>
      </p:sp>
      <p:sp>
        <p:nvSpPr>
          <p:cNvPr id="21" name="Qué hace y para quién. 21"/>
          <p:cNvSpPr>
            <a:spLocks noGrp="1"/>
          </p:cNvSpPr>
          <p:nvPr>
            <p:ph idx="114" hasCustomPrompt="1"/>
          </p:nvPr>
        </p:nvSpPr>
        <p:spPr>
          <a:xfrm>
            <a:off x="6263640" y="466344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hace y para quién.</a:t>
            </a:r>
          </a:p>
        </p:txBody>
      </p:sp>
      <p:sp>
        <p:nvSpPr>
          <p:cNvPr id="22" name="Forma 22"/>
          <p:cNvSpPr/>
          <p:nvPr userDrawn="1"/>
        </p:nvSpPr>
        <p:spPr>
          <a:xfrm>
            <a:off x="8915400" y="2286000"/>
            <a:ext cx="10973" cy="361188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3" name="Ícono 23"/>
          <p:cNvSpPr>
            <a:spLocks noGrp="1"/>
          </p:cNvSpPr>
          <p:nvPr>
            <p:ph type="pic" idx="103" hasCustomPrompt="1"/>
          </p:nvPr>
        </p:nvSpPr>
        <p:spPr>
          <a:xfrm>
            <a:off x="9098280" y="2331720"/>
            <a:ext cx="777240" cy="777240"/>
          </a:xfrm>
          <a:prstGeom prst="ellipse">
            <a:avLst/>
          </a:prstGeom>
          <a:solidFill>
            <a:srgbClr val="6D4ABE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Ícono</a:t>
            </a:r>
          </a:p>
        </p:txBody>
      </p:sp>
      <p:sp>
        <p:nvSpPr>
          <p:cNvPr id="24" name="Nombre 24"/>
          <p:cNvSpPr>
            <a:spLocks noGrp="1"/>
          </p:cNvSpPr>
          <p:nvPr>
            <p:ph idx="107" hasCustomPrompt="1"/>
          </p:nvPr>
        </p:nvSpPr>
        <p:spPr>
          <a:xfrm>
            <a:off x="9098280" y="3291840"/>
            <a:ext cx="2468880" cy="713232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9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</a:t>
            </a:r>
          </a:p>
        </p:txBody>
      </p:sp>
      <p:sp>
        <p:nvSpPr>
          <p:cNvPr id="25" name="Bajada corta 25"/>
          <p:cNvSpPr>
            <a:spLocks noGrp="1"/>
          </p:cNvSpPr>
          <p:nvPr>
            <p:ph idx="111" hasCustomPrompt="1"/>
          </p:nvPr>
        </p:nvSpPr>
        <p:spPr>
          <a:xfrm>
            <a:off x="9098280" y="4114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50" b="1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 corta</a:t>
            </a:r>
          </a:p>
        </p:txBody>
      </p:sp>
      <p:sp>
        <p:nvSpPr>
          <p:cNvPr id="26" name="Qué hace y para quién. 26"/>
          <p:cNvSpPr>
            <a:spLocks noGrp="1"/>
          </p:cNvSpPr>
          <p:nvPr>
            <p:ph idx="115" hasCustomPrompt="1"/>
          </p:nvPr>
        </p:nvSpPr>
        <p:spPr>
          <a:xfrm>
            <a:off x="9098280" y="466344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hace y para quién.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Casos / proye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agen del caso 3"/>
          <p:cNvSpPr>
            <a:spLocks noGrp="1"/>
          </p:cNvSpPr>
          <p:nvPr>
            <p:ph type="pic" idx="13" hasCustomPrompt="1"/>
          </p:nvPr>
        </p:nvSpPr>
        <p:spPr>
          <a:xfrm>
            <a:off x="6812280" y="914400"/>
            <a:ext cx="4785055" cy="3063240"/>
          </a:xfrm>
          <a:prstGeom prst="rect">
            <a:avLst/>
          </a:prstGeom>
          <a:solidFill>
            <a:srgbClr val="F3F0FB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Imagen del caso</a:t>
            </a:r>
          </a:p>
        </p:txBody>
      </p:sp>
      <p:sp>
        <p:nvSpPr>
          <p:cNvPr id="4" name="CATEGORÍA · TEMA 4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57607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5" name="Título de la diapositiva 5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576072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6" name="Bajada: una o dos líneas que den el cont 6"/>
          <p:cNvSpPr>
            <a:spLocks noGrp="1"/>
          </p:cNvSpPr>
          <p:nvPr>
            <p:ph idx="11" hasCustomPrompt="1"/>
          </p:nvPr>
        </p:nvSpPr>
        <p:spPr>
          <a:xfrm>
            <a:off x="594360" y="2542032"/>
            <a:ext cx="576072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7" name="Qué hicimos y cómo. 7"/>
          <p:cNvSpPr>
            <a:spLocks noGrp="1"/>
          </p:cNvSpPr>
          <p:nvPr>
            <p:ph idx="14" hasCustomPrompt="1"/>
          </p:nvPr>
        </p:nvSpPr>
        <p:spPr>
          <a:xfrm>
            <a:off x="594360" y="3657600"/>
            <a:ext cx="557784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  <a:lvl2pPr marL="228600" indent="-228600" algn="l">
              <a:lnSpc>
                <a:spcPct val="125000"/>
              </a:lnSpc>
              <a:spcAft>
                <a:spcPts val="400"/>
              </a:spcAft>
              <a:buClr>
                <a:srgbClr val="6D4ABE"/>
              </a:buClr>
              <a:buFont typeface="Arial"/>
              <a:buChar char="•"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2pPr>
          </a:lstStyle>
          <a:p>
            <a:r>
              <a:rPr lang="es-PE"/>
              <a:t>Qué hicimos y cómo.</a:t>
            </a:r>
          </a:p>
        </p:txBody>
      </p:sp>
      <p:sp>
        <p:nvSpPr>
          <p:cNvPr id="8" name="Forma 8"/>
          <p:cNvSpPr/>
          <p:nvPr userDrawn="1"/>
        </p:nvSpPr>
        <p:spPr>
          <a:xfrm>
            <a:off x="6812280" y="4297680"/>
            <a:ext cx="146304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9" name="+00% 9"/>
          <p:cNvSpPr>
            <a:spLocks noGrp="1"/>
          </p:cNvSpPr>
          <p:nvPr>
            <p:ph idx="120" hasCustomPrompt="1"/>
          </p:nvPr>
        </p:nvSpPr>
        <p:spPr>
          <a:xfrm>
            <a:off x="6812280" y="443484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30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+00%</a:t>
            </a:r>
          </a:p>
        </p:txBody>
      </p:sp>
      <p:sp>
        <p:nvSpPr>
          <p:cNvPr id="10" name="Qué mide 10"/>
          <p:cNvSpPr>
            <a:spLocks noGrp="1"/>
          </p:cNvSpPr>
          <p:nvPr>
            <p:ph idx="123" hasCustomPrompt="1"/>
          </p:nvPr>
        </p:nvSpPr>
        <p:spPr>
          <a:xfrm>
            <a:off x="6812280" y="51663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mide</a:t>
            </a:r>
          </a:p>
        </p:txBody>
      </p:sp>
      <p:sp>
        <p:nvSpPr>
          <p:cNvPr id="11" name="Forma 11"/>
          <p:cNvSpPr/>
          <p:nvPr userDrawn="1"/>
        </p:nvSpPr>
        <p:spPr>
          <a:xfrm>
            <a:off x="8412480" y="4297680"/>
            <a:ext cx="146304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2" name="+00% 12"/>
          <p:cNvSpPr>
            <a:spLocks noGrp="1"/>
          </p:cNvSpPr>
          <p:nvPr>
            <p:ph idx="121" hasCustomPrompt="1"/>
          </p:nvPr>
        </p:nvSpPr>
        <p:spPr>
          <a:xfrm>
            <a:off x="8412480" y="443484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30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+00%</a:t>
            </a:r>
          </a:p>
        </p:txBody>
      </p:sp>
      <p:sp>
        <p:nvSpPr>
          <p:cNvPr id="13" name="Qué mide 13"/>
          <p:cNvSpPr>
            <a:spLocks noGrp="1"/>
          </p:cNvSpPr>
          <p:nvPr>
            <p:ph idx="124" hasCustomPrompt="1"/>
          </p:nvPr>
        </p:nvSpPr>
        <p:spPr>
          <a:xfrm>
            <a:off x="8412480" y="51663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mide</a:t>
            </a:r>
          </a:p>
        </p:txBody>
      </p:sp>
      <p:sp>
        <p:nvSpPr>
          <p:cNvPr id="14" name="Forma 14"/>
          <p:cNvSpPr/>
          <p:nvPr userDrawn="1"/>
        </p:nvSpPr>
        <p:spPr>
          <a:xfrm>
            <a:off x="10012680" y="4297680"/>
            <a:ext cx="146304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5" name="+00% 15"/>
          <p:cNvSpPr>
            <a:spLocks noGrp="1"/>
          </p:cNvSpPr>
          <p:nvPr>
            <p:ph idx="122" hasCustomPrompt="1"/>
          </p:nvPr>
        </p:nvSpPr>
        <p:spPr>
          <a:xfrm>
            <a:off x="10012680" y="4434840"/>
            <a:ext cx="1554480" cy="685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30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+00%</a:t>
            </a:r>
          </a:p>
        </p:txBody>
      </p:sp>
      <p:sp>
        <p:nvSpPr>
          <p:cNvPr id="16" name="Qué mide 16"/>
          <p:cNvSpPr>
            <a:spLocks noGrp="1"/>
          </p:cNvSpPr>
          <p:nvPr>
            <p:ph idx="125" hasCustomPrompt="1"/>
          </p:nvPr>
        </p:nvSpPr>
        <p:spPr>
          <a:xfrm>
            <a:off x="10012680" y="516636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Qué mide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Clientes /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ES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CLIENTES</a:t>
            </a:r>
          </a:p>
        </p:txBody>
      </p:sp>
      <p:sp>
        <p:nvSpPr>
          <p:cNvPr id="4" name="Confían en nosotros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3474720" cy="1645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Confían en nosotros</a:t>
            </a:r>
          </a:p>
        </p:txBody>
      </p:sp>
      <p:sp>
        <p:nvSpPr>
          <p:cNvPr id="5" name="Contexto breve sobre los clientes. 5"/>
          <p:cNvSpPr>
            <a:spLocks noGrp="1"/>
          </p:cNvSpPr>
          <p:nvPr>
            <p:ph idx="11" hasCustomPrompt="1"/>
          </p:nvPr>
        </p:nvSpPr>
        <p:spPr>
          <a:xfrm>
            <a:off x="594360" y="297180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Contexto breve sobre los clientes.</a:t>
            </a:r>
          </a:p>
        </p:txBody>
      </p:sp>
      <p:sp>
        <p:nvSpPr>
          <p:cNvPr id="6" name="Forma 6"/>
          <p:cNvSpPr/>
          <p:nvPr userDrawn="1"/>
        </p:nvSpPr>
        <p:spPr>
          <a:xfrm>
            <a:off x="4343400" y="1051560"/>
            <a:ext cx="7253935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Sector o grupo 7"/>
          <p:cNvSpPr>
            <a:spLocks noGrp="1"/>
          </p:cNvSpPr>
          <p:nvPr>
            <p:ph idx="130" hasCustomPrompt="1"/>
          </p:nvPr>
        </p:nvSpPr>
        <p:spPr>
          <a:xfrm>
            <a:off x="4343400" y="1188720"/>
            <a:ext cx="7253935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Sector o grupo</a:t>
            </a:r>
          </a:p>
        </p:txBody>
      </p:sp>
      <p:sp>
        <p:nvSpPr>
          <p:cNvPr id="8" name="Logo 8"/>
          <p:cNvSpPr>
            <a:spLocks noGrp="1"/>
          </p:cNvSpPr>
          <p:nvPr>
            <p:ph type="pic" idx="140" hasCustomPrompt="1"/>
          </p:nvPr>
        </p:nvSpPr>
        <p:spPr>
          <a:xfrm>
            <a:off x="4343400" y="160020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9" name="Logo 9"/>
          <p:cNvSpPr>
            <a:spLocks noGrp="1"/>
          </p:cNvSpPr>
          <p:nvPr>
            <p:ph type="pic" idx="141" hasCustomPrompt="1"/>
          </p:nvPr>
        </p:nvSpPr>
        <p:spPr>
          <a:xfrm>
            <a:off x="5794187" y="160020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10" name="Logo 10"/>
          <p:cNvSpPr>
            <a:spLocks noGrp="1"/>
          </p:cNvSpPr>
          <p:nvPr>
            <p:ph type="pic" idx="142" hasCustomPrompt="1"/>
          </p:nvPr>
        </p:nvSpPr>
        <p:spPr>
          <a:xfrm>
            <a:off x="7244974" y="160020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11" name="Logo 11"/>
          <p:cNvSpPr>
            <a:spLocks noGrp="1"/>
          </p:cNvSpPr>
          <p:nvPr>
            <p:ph type="pic" idx="143" hasCustomPrompt="1"/>
          </p:nvPr>
        </p:nvSpPr>
        <p:spPr>
          <a:xfrm>
            <a:off x="8695761" y="160020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12" name="Logo 12"/>
          <p:cNvSpPr>
            <a:spLocks noGrp="1"/>
          </p:cNvSpPr>
          <p:nvPr>
            <p:ph type="pic" idx="144" hasCustomPrompt="1"/>
          </p:nvPr>
        </p:nvSpPr>
        <p:spPr>
          <a:xfrm>
            <a:off x="10146548" y="160020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13" name="Forma 13"/>
          <p:cNvSpPr/>
          <p:nvPr userDrawn="1"/>
        </p:nvSpPr>
        <p:spPr>
          <a:xfrm>
            <a:off x="4343400" y="2743200"/>
            <a:ext cx="7253935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4" name="Sector o grupo 14"/>
          <p:cNvSpPr>
            <a:spLocks noGrp="1"/>
          </p:cNvSpPr>
          <p:nvPr>
            <p:ph idx="131" hasCustomPrompt="1"/>
          </p:nvPr>
        </p:nvSpPr>
        <p:spPr>
          <a:xfrm>
            <a:off x="4343400" y="2880360"/>
            <a:ext cx="7253935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Sector o grupo</a:t>
            </a:r>
          </a:p>
        </p:txBody>
      </p:sp>
      <p:sp>
        <p:nvSpPr>
          <p:cNvPr id="15" name="Logo 15"/>
          <p:cNvSpPr>
            <a:spLocks noGrp="1"/>
          </p:cNvSpPr>
          <p:nvPr>
            <p:ph type="pic" idx="145" hasCustomPrompt="1"/>
          </p:nvPr>
        </p:nvSpPr>
        <p:spPr>
          <a:xfrm>
            <a:off x="4343400" y="329184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16" name="Logo 16"/>
          <p:cNvSpPr>
            <a:spLocks noGrp="1"/>
          </p:cNvSpPr>
          <p:nvPr>
            <p:ph type="pic" idx="146" hasCustomPrompt="1"/>
          </p:nvPr>
        </p:nvSpPr>
        <p:spPr>
          <a:xfrm>
            <a:off x="5794187" y="329184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17" name="Logo 17"/>
          <p:cNvSpPr>
            <a:spLocks noGrp="1"/>
          </p:cNvSpPr>
          <p:nvPr>
            <p:ph type="pic" idx="147" hasCustomPrompt="1"/>
          </p:nvPr>
        </p:nvSpPr>
        <p:spPr>
          <a:xfrm>
            <a:off x="7244974" y="329184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18" name="Logo 18"/>
          <p:cNvSpPr>
            <a:spLocks noGrp="1"/>
          </p:cNvSpPr>
          <p:nvPr>
            <p:ph type="pic" idx="148" hasCustomPrompt="1"/>
          </p:nvPr>
        </p:nvSpPr>
        <p:spPr>
          <a:xfrm>
            <a:off x="8695761" y="329184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19" name="Logo 19"/>
          <p:cNvSpPr>
            <a:spLocks noGrp="1"/>
          </p:cNvSpPr>
          <p:nvPr>
            <p:ph type="pic" idx="149" hasCustomPrompt="1"/>
          </p:nvPr>
        </p:nvSpPr>
        <p:spPr>
          <a:xfrm>
            <a:off x="10146548" y="329184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20" name="Forma 20"/>
          <p:cNvSpPr/>
          <p:nvPr userDrawn="1"/>
        </p:nvSpPr>
        <p:spPr>
          <a:xfrm>
            <a:off x="4343400" y="4434840"/>
            <a:ext cx="7253935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21" name="Sector o grupo 21"/>
          <p:cNvSpPr>
            <a:spLocks noGrp="1"/>
          </p:cNvSpPr>
          <p:nvPr>
            <p:ph idx="132" hasCustomPrompt="1"/>
          </p:nvPr>
        </p:nvSpPr>
        <p:spPr>
          <a:xfrm>
            <a:off x="4343400" y="4572000"/>
            <a:ext cx="7253935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Sector o grupo</a:t>
            </a:r>
          </a:p>
        </p:txBody>
      </p:sp>
      <p:sp>
        <p:nvSpPr>
          <p:cNvPr id="22" name="Logo 22"/>
          <p:cNvSpPr>
            <a:spLocks noGrp="1"/>
          </p:cNvSpPr>
          <p:nvPr>
            <p:ph type="pic" idx="150" hasCustomPrompt="1"/>
          </p:nvPr>
        </p:nvSpPr>
        <p:spPr>
          <a:xfrm>
            <a:off x="4343400" y="498348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23" name="Logo 23"/>
          <p:cNvSpPr>
            <a:spLocks noGrp="1"/>
          </p:cNvSpPr>
          <p:nvPr>
            <p:ph type="pic" idx="151" hasCustomPrompt="1"/>
          </p:nvPr>
        </p:nvSpPr>
        <p:spPr>
          <a:xfrm>
            <a:off x="5794187" y="498348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24" name="Logo 24"/>
          <p:cNvSpPr>
            <a:spLocks noGrp="1"/>
          </p:cNvSpPr>
          <p:nvPr>
            <p:ph type="pic" idx="152" hasCustomPrompt="1"/>
          </p:nvPr>
        </p:nvSpPr>
        <p:spPr>
          <a:xfrm>
            <a:off x="7244974" y="498348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25" name="Logo 25"/>
          <p:cNvSpPr>
            <a:spLocks noGrp="1"/>
          </p:cNvSpPr>
          <p:nvPr>
            <p:ph type="pic" idx="153" hasCustomPrompt="1"/>
          </p:nvPr>
        </p:nvSpPr>
        <p:spPr>
          <a:xfrm>
            <a:off x="8695761" y="498348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  <p:sp>
        <p:nvSpPr>
          <p:cNvPr id="26" name="Logo 26"/>
          <p:cNvSpPr>
            <a:spLocks noGrp="1"/>
          </p:cNvSpPr>
          <p:nvPr>
            <p:ph type="pic" idx="154" hasCustomPrompt="1"/>
          </p:nvPr>
        </p:nvSpPr>
        <p:spPr>
          <a:xfrm>
            <a:off x="10146548" y="4983480"/>
            <a:ext cx="1176467" cy="640080"/>
          </a:xfrm>
          <a:prstGeom prst="rect">
            <a:avLst/>
          </a:prstGeom>
          <a:noFill/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Logo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 Equipo / perf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Bajada: una o dos líneas que den el cont 5"/>
          <p:cNvSpPr>
            <a:spLocks noGrp="1"/>
          </p:cNvSpPr>
          <p:nvPr>
            <p:ph idx="11" hasCustomPrompt="1"/>
          </p:nvPr>
        </p:nvSpPr>
        <p:spPr>
          <a:xfrm>
            <a:off x="594360" y="2039112"/>
            <a:ext cx="11002975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6" name="Foto 6"/>
          <p:cNvSpPr>
            <a:spLocks noGrp="1"/>
          </p:cNvSpPr>
          <p:nvPr>
            <p:ph type="pic" idx="160" hasCustomPrompt="1"/>
          </p:nvPr>
        </p:nvSpPr>
        <p:spPr>
          <a:xfrm>
            <a:off x="594360" y="2743200"/>
            <a:ext cx="1143000" cy="1143000"/>
          </a:xfrm>
          <a:prstGeom prst="ellipse">
            <a:avLst/>
          </a:prstGeom>
          <a:solidFill>
            <a:srgbClr val="F3F0FB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Foto</a:t>
            </a:r>
          </a:p>
        </p:txBody>
      </p:sp>
      <p:sp>
        <p:nvSpPr>
          <p:cNvPr id="7" name="Nombre Apellido 7"/>
          <p:cNvSpPr>
            <a:spLocks noGrp="1"/>
          </p:cNvSpPr>
          <p:nvPr>
            <p:ph idx="163" hasCustomPrompt="1"/>
          </p:nvPr>
        </p:nvSpPr>
        <p:spPr>
          <a:xfrm>
            <a:off x="594360" y="406908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 Apellido</a:t>
            </a:r>
          </a:p>
        </p:txBody>
      </p:sp>
      <p:sp>
        <p:nvSpPr>
          <p:cNvPr id="8" name="CARGO 8"/>
          <p:cNvSpPr>
            <a:spLocks noGrp="1"/>
          </p:cNvSpPr>
          <p:nvPr>
            <p:ph idx="166" hasCustomPrompt="1"/>
          </p:nvPr>
        </p:nvSpPr>
        <p:spPr>
          <a:xfrm>
            <a:off x="594360" y="452628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CARGO</a:t>
            </a:r>
          </a:p>
        </p:txBody>
      </p:sp>
      <p:sp>
        <p:nvSpPr>
          <p:cNvPr id="9" name="Experiencia y aporte en dos o tres línea 9"/>
          <p:cNvSpPr>
            <a:spLocks noGrp="1"/>
          </p:cNvSpPr>
          <p:nvPr>
            <p:ph idx="169" hasCustomPrompt="1"/>
          </p:nvPr>
        </p:nvSpPr>
        <p:spPr>
          <a:xfrm>
            <a:off x="594360" y="4892040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Experiencia y aporte en dos o tres líneas.</a:t>
            </a:r>
          </a:p>
        </p:txBody>
      </p:sp>
      <p:sp>
        <p:nvSpPr>
          <p:cNvPr id="10" name="Foto 10"/>
          <p:cNvSpPr>
            <a:spLocks noGrp="1"/>
          </p:cNvSpPr>
          <p:nvPr>
            <p:ph type="pic" idx="161" hasCustomPrompt="1"/>
          </p:nvPr>
        </p:nvSpPr>
        <p:spPr>
          <a:xfrm>
            <a:off x="4325112" y="2743200"/>
            <a:ext cx="1143000" cy="1143000"/>
          </a:xfrm>
          <a:prstGeom prst="ellipse">
            <a:avLst/>
          </a:prstGeom>
          <a:solidFill>
            <a:srgbClr val="F3F0FB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Foto</a:t>
            </a:r>
          </a:p>
        </p:txBody>
      </p:sp>
      <p:sp>
        <p:nvSpPr>
          <p:cNvPr id="11" name="Nombre Apellido 11"/>
          <p:cNvSpPr>
            <a:spLocks noGrp="1"/>
          </p:cNvSpPr>
          <p:nvPr>
            <p:ph idx="164" hasCustomPrompt="1"/>
          </p:nvPr>
        </p:nvSpPr>
        <p:spPr>
          <a:xfrm>
            <a:off x="4325112" y="406908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 Apellido</a:t>
            </a:r>
          </a:p>
        </p:txBody>
      </p:sp>
      <p:sp>
        <p:nvSpPr>
          <p:cNvPr id="12" name="CARGO 12"/>
          <p:cNvSpPr>
            <a:spLocks noGrp="1"/>
          </p:cNvSpPr>
          <p:nvPr>
            <p:ph idx="167" hasCustomPrompt="1"/>
          </p:nvPr>
        </p:nvSpPr>
        <p:spPr>
          <a:xfrm>
            <a:off x="4325112" y="452628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CARGO</a:t>
            </a:r>
          </a:p>
        </p:txBody>
      </p:sp>
      <p:sp>
        <p:nvSpPr>
          <p:cNvPr id="13" name="Experiencia y aporte en dos o tres línea 13"/>
          <p:cNvSpPr>
            <a:spLocks noGrp="1"/>
          </p:cNvSpPr>
          <p:nvPr>
            <p:ph idx="170" hasCustomPrompt="1"/>
          </p:nvPr>
        </p:nvSpPr>
        <p:spPr>
          <a:xfrm>
            <a:off x="4325112" y="4892040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Experiencia y aporte en dos o tres líneas.</a:t>
            </a:r>
          </a:p>
        </p:txBody>
      </p:sp>
      <p:sp>
        <p:nvSpPr>
          <p:cNvPr id="14" name="Foto 14"/>
          <p:cNvSpPr>
            <a:spLocks noGrp="1"/>
          </p:cNvSpPr>
          <p:nvPr>
            <p:ph type="pic" idx="162" hasCustomPrompt="1"/>
          </p:nvPr>
        </p:nvSpPr>
        <p:spPr>
          <a:xfrm>
            <a:off x="8055864" y="2743200"/>
            <a:ext cx="1143000" cy="1143000"/>
          </a:xfrm>
          <a:prstGeom prst="ellipse">
            <a:avLst/>
          </a:prstGeom>
          <a:solidFill>
            <a:srgbClr val="F3F0FB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Foto</a:t>
            </a:r>
          </a:p>
        </p:txBody>
      </p:sp>
      <p:sp>
        <p:nvSpPr>
          <p:cNvPr id="15" name="Nombre Apellido 15"/>
          <p:cNvSpPr>
            <a:spLocks noGrp="1"/>
          </p:cNvSpPr>
          <p:nvPr>
            <p:ph idx="165" hasCustomPrompt="1"/>
          </p:nvPr>
        </p:nvSpPr>
        <p:spPr>
          <a:xfrm>
            <a:off x="8055864" y="406908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 Apellido</a:t>
            </a:r>
          </a:p>
        </p:txBody>
      </p:sp>
      <p:sp>
        <p:nvSpPr>
          <p:cNvPr id="16" name="CARGO 16"/>
          <p:cNvSpPr>
            <a:spLocks noGrp="1"/>
          </p:cNvSpPr>
          <p:nvPr>
            <p:ph idx="168" hasCustomPrompt="1"/>
          </p:nvPr>
        </p:nvSpPr>
        <p:spPr>
          <a:xfrm>
            <a:off x="8055864" y="452628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CARGO</a:t>
            </a:r>
          </a:p>
        </p:txBody>
      </p:sp>
      <p:sp>
        <p:nvSpPr>
          <p:cNvPr id="17" name="Experiencia y aporte en dos o tres línea 17"/>
          <p:cNvSpPr>
            <a:spLocks noGrp="1"/>
          </p:cNvSpPr>
          <p:nvPr>
            <p:ph idx="171" hasCustomPrompt="1"/>
          </p:nvPr>
        </p:nvSpPr>
        <p:spPr>
          <a:xfrm>
            <a:off x="8055864" y="4892040"/>
            <a:ext cx="3291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Experiencia y aporte en dos o tres líneas.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20 Testimonio o cita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4" name="Texto 4"/>
          <p:cNvSpPr txBox="1"/>
          <p:nvPr userDrawn="1"/>
        </p:nvSpPr>
        <p:spPr>
          <a:xfrm>
            <a:off x="0" y="6455664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s-PE" sz="9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‹#›</a:t>
            </a:fld>
          </a:p>
        </p:txBody>
      </p:sp>
      <p:sp>
        <p:nvSpPr>
          <p:cNvPr id="5" name="Texto 5"/>
          <p:cNvSpPr txBox="1"/>
          <p:nvPr userDrawn="1"/>
        </p:nvSpPr>
        <p:spPr>
          <a:xfrm>
            <a:off x="10076688" y="6419088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PE" sz="900" b="0" i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6" name="Texto 6"/>
          <p:cNvSpPr txBox="1"/>
          <p:nvPr userDrawn="1"/>
        </p:nvSpPr>
        <p:spPr>
          <a:xfrm>
            <a:off x="548640" y="502920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PE" sz="16000" b="1" i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“</a:t>
            </a:r>
          </a:p>
        </p:txBody>
      </p:sp>
      <p:sp>
        <p:nvSpPr>
          <p:cNvPr id="7" name="Cita textual del cliente o vocero, con c 7"/>
          <p:cNvSpPr>
            <a:spLocks noGrp="1"/>
          </p:cNvSpPr>
          <p:nvPr>
            <p:ph idx="170" hasCustomPrompt="1"/>
          </p:nvPr>
        </p:nvSpPr>
        <p:spPr>
          <a:xfrm>
            <a:off x="594360" y="2148840"/>
            <a:ext cx="932688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Cita textual del cliente o vocero, con comillas implícitas.</a:t>
            </a:r>
          </a:p>
        </p:txBody>
      </p:sp>
      <p:sp>
        <p:nvSpPr>
          <p:cNvPr id="8" name="Foto 8"/>
          <p:cNvSpPr>
            <a:spLocks noGrp="1"/>
          </p:cNvSpPr>
          <p:nvPr>
            <p:ph type="pic" idx="171" hasCustomPrompt="1"/>
          </p:nvPr>
        </p:nvSpPr>
        <p:spPr>
          <a:xfrm>
            <a:off x="594360" y="4983480"/>
            <a:ext cx="822960" cy="822960"/>
          </a:xfrm>
          <a:prstGeom prst="ellipse">
            <a:avLst/>
          </a:prstGeom>
          <a:solidFill>
            <a:srgbClr val="3E3A62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C0B0F4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Foto</a:t>
            </a:r>
          </a:p>
        </p:txBody>
      </p:sp>
      <p:sp>
        <p:nvSpPr>
          <p:cNvPr id="9" name="Nombre Apellido 9"/>
          <p:cNvSpPr>
            <a:spLocks noGrp="1"/>
          </p:cNvSpPr>
          <p:nvPr>
            <p:ph idx="172" hasCustomPrompt="1"/>
          </p:nvPr>
        </p:nvSpPr>
        <p:spPr>
          <a:xfrm>
            <a:off x="1645920" y="50292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Nombre Apellido</a:t>
            </a:r>
          </a:p>
        </p:txBody>
      </p:sp>
      <p:sp>
        <p:nvSpPr>
          <p:cNvPr id="10" name="Cargo · Empresa 10"/>
          <p:cNvSpPr>
            <a:spLocks noGrp="1"/>
          </p:cNvSpPr>
          <p:nvPr>
            <p:ph idx="173" hasCustomPrompt="1"/>
          </p:nvPr>
        </p:nvSpPr>
        <p:spPr>
          <a:xfrm>
            <a:off x="1645920" y="541324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Cargo · Empresa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Datos / métri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Bajada: una o dos líneas que den el cont 5"/>
          <p:cNvSpPr>
            <a:spLocks noGrp="1"/>
          </p:cNvSpPr>
          <p:nvPr>
            <p:ph idx="11" hasCustomPrompt="1"/>
          </p:nvPr>
        </p:nvSpPr>
        <p:spPr>
          <a:xfrm>
            <a:off x="594360" y="2039112"/>
            <a:ext cx="11002975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6" name="Forma 6"/>
          <p:cNvSpPr/>
          <p:nvPr userDrawn="1"/>
        </p:nvSpPr>
        <p:spPr>
          <a:xfrm>
            <a:off x="594360" y="2971800"/>
            <a:ext cx="256032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7" name="+00% 7"/>
          <p:cNvSpPr>
            <a:spLocks noGrp="1"/>
          </p:cNvSpPr>
          <p:nvPr>
            <p:ph idx="180" hasCustomPrompt="1"/>
          </p:nvPr>
        </p:nvSpPr>
        <p:spPr>
          <a:xfrm>
            <a:off x="594360" y="3108960"/>
            <a:ext cx="2606040" cy="10515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54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+00%</a:t>
            </a:r>
          </a:p>
        </p:txBody>
      </p:sp>
      <p:sp>
        <p:nvSpPr>
          <p:cNvPr id="8" name="Indicador 8"/>
          <p:cNvSpPr>
            <a:spLocks noGrp="1"/>
          </p:cNvSpPr>
          <p:nvPr>
            <p:ph idx="184" hasCustomPrompt="1"/>
          </p:nvPr>
        </p:nvSpPr>
        <p:spPr>
          <a:xfrm>
            <a:off x="594360" y="42519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Indicador</a:t>
            </a:r>
          </a:p>
        </p:txBody>
      </p:sp>
      <p:sp>
        <p:nvSpPr>
          <p:cNvPr id="9" name="Contexto de la cifra. 9"/>
          <p:cNvSpPr>
            <a:spLocks noGrp="1"/>
          </p:cNvSpPr>
          <p:nvPr>
            <p:ph idx="188" hasCustomPrompt="1"/>
          </p:nvPr>
        </p:nvSpPr>
        <p:spPr>
          <a:xfrm>
            <a:off x="594360" y="470916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Contexto de la cifra.</a:t>
            </a:r>
          </a:p>
        </p:txBody>
      </p:sp>
      <p:sp>
        <p:nvSpPr>
          <p:cNvPr id="10" name="Forma 10"/>
          <p:cNvSpPr/>
          <p:nvPr userDrawn="1"/>
        </p:nvSpPr>
        <p:spPr>
          <a:xfrm>
            <a:off x="3401568" y="2971800"/>
            <a:ext cx="256032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+00% 11"/>
          <p:cNvSpPr>
            <a:spLocks noGrp="1"/>
          </p:cNvSpPr>
          <p:nvPr>
            <p:ph idx="181" hasCustomPrompt="1"/>
          </p:nvPr>
        </p:nvSpPr>
        <p:spPr>
          <a:xfrm>
            <a:off x="3401568" y="3108960"/>
            <a:ext cx="2606040" cy="10515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54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+00%</a:t>
            </a:r>
          </a:p>
        </p:txBody>
      </p:sp>
      <p:sp>
        <p:nvSpPr>
          <p:cNvPr id="12" name="Indicador 12"/>
          <p:cNvSpPr>
            <a:spLocks noGrp="1"/>
          </p:cNvSpPr>
          <p:nvPr>
            <p:ph idx="185" hasCustomPrompt="1"/>
          </p:nvPr>
        </p:nvSpPr>
        <p:spPr>
          <a:xfrm>
            <a:off x="3401568" y="42519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Indicador</a:t>
            </a:r>
          </a:p>
        </p:txBody>
      </p:sp>
      <p:sp>
        <p:nvSpPr>
          <p:cNvPr id="13" name="Contexto de la cifra. 13"/>
          <p:cNvSpPr>
            <a:spLocks noGrp="1"/>
          </p:cNvSpPr>
          <p:nvPr>
            <p:ph idx="189" hasCustomPrompt="1"/>
          </p:nvPr>
        </p:nvSpPr>
        <p:spPr>
          <a:xfrm>
            <a:off x="3401568" y="470916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Contexto de la cifra.</a:t>
            </a:r>
          </a:p>
        </p:txBody>
      </p:sp>
      <p:sp>
        <p:nvSpPr>
          <p:cNvPr id="14" name="Forma 14"/>
          <p:cNvSpPr/>
          <p:nvPr userDrawn="1"/>
        </p:nvSpPr>
        <p:spPr>
          <a:xfrm>
            <a:off x="6208776" y="2971800"/>
            <a:ext cx="256032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5" name="+00% 15"/>
          <p:cNvSpPr>
            <a:spLocks noGrp="1"/>
          </p:cNvSpPr>
          <p:nvPr>
            <p:ph idx="182" hasCustomPrompt="1"/>
          </p:nvPr>
        </p:nvSpPr>
        <p:spPr>
          <a:xfrm>
            <a:off x="6208776" y="3108960"/>
            <a:ext cx="2606040" cy="10515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54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+00%</a:t>
            </a:r>
          </a:p>
        </p:txBody>
      </p:sp>
      <p:sp>
        <p:nvSpPr>
          <p:cNvPr id="16" name="Indicador 16"/>
          <p:cNvSpPr>
            <a:spLocks noGrp="1"/>
          </p:cNvSpPr>
          <p:nvPr>
            <p:ph idx="186" hasCustomPrompt="1"/>
          </p:nvPr>
        </p:nvSpPr>
        <p:spPr>
          <a:xfrm>
            <a:off x="6208776" y="42519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Indicador</a:t>
            </a:r>
          </a:p>
        </p:txBody>
      </p:sp>
      <p:sp>
        <p:nvSpPr>
          <p:cNvPr id="17" name="Contexto de la cifra. 17"/>
          <p:cNvSpPr>
            <a:spLocks noGrp="1"/>
          </p:cNvSpPr>
          <p:nvPr>
            <p:ph idx="190" hasCustomPrompt="1"/>
          </p:nvPr>
        </p:nvSpPr>
        <p:spPr>
          <a:xfrm>
            <a:off x="6208776" y="470916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Contexto de la cifra.</a:t>
            </a:r>
          </a:p>
        </p:txBody>
      </p:sp>
      <p:sp>
        <p:nvSpPr>
          <p:cNvPr id="18" name="Forma 18"/>
          <p:cNvSpPr/>
          <p:nvPr userDrawn="1"/>
        </p:nvSpPr>
        <p:spPr>
          <a:xfrm>
            <a:off x="9015984" y="2971800"/>
            <a:ext cx="256032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9" name="+00% 19"/>
          <p:cNvSpPr>
            <a:spLocks noGrp="1"/>
          </p:cNvSpPr>
          <p:nvPr>
            <p:ph idx="183" hasCustomPrompt="1"/>
          </p:nvPr>
        </p:nvSpPr>
        <p:spPr>
          <a:xfrm>
            <a:off x="9015984" y="3108960"/>
            <a:ext cx="2606040" cy="10515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>
            <a:lvl1pPr marL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 sz="54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+00%</a:t>
            </a:r>
          </a:p>
        </p:txBody>
      </p:sp>
      <p:sp>
        <p:nvSpPr>
          <p:cNvPr id="20" name="Indicador 20"/>
          <p:cNvSpPr>
            <a:spLocks noGrp="1"/>
          </p:cNvSpPr>
          <p:nvPr>
            <p:ph idx="187" hasCustomPrompt="1"/>
          </p:nvPr>
        </p:nvSpPr>
        <p:spPr>
          <a:xfrm>
            <a:off x="9015984" y="42519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Indicador</a:t>
            </a:r>
          </a:p>
        </p:txBody>
      </p:sp>
      <p:sp>
        <p:nvSpPr>
          <p:cNvPr id="21" name="Contexto de la cifra. 21"/>
          <p:cNvSpPr>
            <a:spLocks noGrp="1"/>
          </p:cNvSpPr>
          <p:nvPr>
            <p:ph idx="191" hasCustomPrompt="1"/>
          </p:nvPr>
        </p:nvSpPr>
        <p:spPr>
          <a:xfrm>
            <a:off x="9015984" y="470916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Contexto de la cifra.</a:t>
            </a:r>
          </a:p>
        </p:txBody>
      </p:sp>
      <p:sp>
        <p:nvSpPr>
          <p:cNvPr id="22" name="Fuente: nombre de la fuente, año 22"/>
          <p:cNvSpPr>
            <a:spLocks noGrp="1"/>
          </p:cNvSpPr>
          <p:nvPr>
            <p:ph idx="192" hasCustomPrompt="1"/>
          </p:nvPr>
        </p:nvSpPr>
        <p:spPr>
          <a:xfrm>
            <a:off x="594360" y="58978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50" b="0" i="1">
                <a:solidFill>
                  <a:srgbClr val="9A9CAB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Fuente: nombre de la fuente, año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Tabla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Bajada: una o dos líneas que den el cont 5"/>
          <p:cNvSpPr>
            <a:spLocks noGrp="1"/>
          </p:cNvSpPr>
          <p:nvPr>
            <p:ph idx="11" hasCustomPrompt="1"/>
          </p:nvPr>
        </p:nvSpPr>
        <p:spPr>
          <a:xfrm>
            <a:off x="594360" y="2039112"/>
            <a:ext cx="11002975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6" name="tbl 6"/>
          <p:cNvSpPr>
            <a:spLocks noGrp="1"/>
          </p:cNvSpPr>
          <p:nvPr>
            <p:ph type="tbl" idx="200"/>
          </p:nvPr>
        </p:nvSpPr>
        <p:spPr>
          <a:xfrm>
            <a:off x="594360" y="2788920"/>
            <a:ext cx="11002975" cy="3017520"/>
          </a:xfrm>
        </p:spPr>
        <p:txBody>
          <a:bodyPr/>
          <a:lstStyle/>
          <a:p>
            <a:endParaRPr lang="es-PE"/>
          </a:p>
        </p:txBody>
      </p:sp>
      <p:sp>
        <p:nvSpPr>
          <p:cNvPr id="7" name="Nota o fuente de la tabla 7"/>
          <p:cNvSpPr>
            <a:spLocks noGrp="1"/>
          </p:cNvSpPr>
          <p:nvPr>
            <p:ph idx="201" hasCustomPrompt="1"/>
          </p:nvPr>
        </p:nvSpPr>
        <p:spPr>
          <a:xfrm>
            <a:off x="594360" y="59436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50" b="0" i="1">
                <a:solidFill>
                  <a:srgbClr val="9A9CAB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Nota o fuente de la tabla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5" name="Bajada: una o dos líneas que den el cont 5"/>
          <p:cNvSpPr>
            <a:spLocks noGrp="1"/>
          </p:cNvSpPr>
          <p:nvPr>
            <p:ph idx="11" hasCustomPrompt="1"/>
          </p:nvPr>
        </p:nvSpPr>
        <p:spPr>
          <a:xfrm>
            <a:off x="594360" y="2039112"/>
            <a:ext cx="11002975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Bajada: una o dos líneas que den el contexto necesario.</a:t>
            </a:r>
          </a:p>
        </p:txBody>
      </p:sp>
      <p:sp>
        <p:nvSpPr>
          <p:cNvPr id="6" name="chart 6"/>
          <p:cNvSpPr>
            <a:spLocks noGrp="1"/>
          </p:cNvSpPr>
          <p:nvPr>
            <p:ph type="chart" idx="210"/>
          </p:nvPr>
        </p:nvSpPr>
        <p:spPr>
          <a:xfrm>
            <a:off x="594360" y="2743200"/>
            <a:ext cx="7223760" cy="3291840"/>
          </a:xfrm>
        </p:spPr>
        <p:txBody>
          <a:bodyPr/>
          <a:lstStyle/>
          <a:p>
            <a:endParaRPr lang="es-PE"/>
          </a:p>
        </p:txBody>
      </p:sp>
      <p:sp>
        <p:nvSpPr>
          <p:cNvPr id="7" name="Forma 7"/>
          <p:cNvSpPr/>
          <p:nvPr userDrawn="1"/>
        </p:nvSpPr>
        <p:spPr>
          <a:xfrm>
            <a:off x="8183880" y="2834640"/>
            <a:ext cx="10973" cy="3017520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8" name="Lectura clave del gráfico 8"/>
          <p:cNvSpPr>
            <a:spLocks noGrp="1"/>
          </p:cNvSpPr>
          <p:nvPr>
            <p:ph idx="15" hasCustomPrompt="1"/>
          </p:nvPr>
        </p:nvSpPr>
        <p:spPr>
          <a:xfrm>
            <a:off x="8458200" y="2834640"/>
            <a:ext cx="3108960" cy="1280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Lectura clave del gráfico</a:t>
            </a:r>
          </a:p>
        </p:txBody>
      </p:sp>
      <p:sp>
        <p:nvSpPr>
          <p:cNvPr id="9" name="Explica qué muestra y qué implica. 9"/>
          <p:cNvSpPr>
            <a:spLocks noGrp="1"/>
          </p:cNvSpPr>
          <p:nvPr>
            <p:ph idx="14" hasCustomPrompt="1"/>
          </p:nvPr>
        </p:nvSpPr>
        <p:spPr>
          <a:xfrm>
            <a:off x="8458200" y="4206240"/>
            <a:ext cx="310896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1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Explica qué muestra y qué implica.</a:t>
            </a:r>
          </a:p>
        </p:txBody>
      </p:sp>
      <p:sp>
        <p:nvSpPr>
          <p:cNvPr id="10" name="Fuente: nombre, año 10"/>
          <p:cNvSpPr>
            <a:spLocks noGrp="1"/>
          </p:cNvSpPr>
          <p:nvPr>
            <p:ph idx="211" hasCustomPrompt="1"/>
          </p:nvPr>
        </p:nvSpPr>
        <p:spPr>
          <a:xfrm>
            <a:off x="8458200" y="57607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50" b="0" i="1">
                <a:solidFill>
                  <a:srgbClr val="9A9CAB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Fuente: nombre, año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24 Cierr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 3"/>
          <p:cNvSpPr txBox="1"/>
          <p:nvPr userDrawn="1"/>
        </p:nvSpPr>
        <p:spPr>
          <a:xfrm>
            <a:off x="0" y="6455664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s-PE" sz="9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‹#›</a:t>
            </a:fld>
          </a:p>
        </p:txBody>
      </p:sp>
      <p:pic>
        <p:nvPicPr>
          <p:cNvPr id="4" name="Imagen 4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594360" y="548640"/>
            <a:ext cx="1463040" cy="514807"/>
          </a:xfrm>
          <a:prstGeom prst="rect">
            <a:avLst/>
          </a:prstGeom>
        </p:spPr>
      </p:pic>
      <p:sp>
        <p:nvSpPr>
          <p:cNvPr id="5" name="Gracias 5"/>
          <p:cNvSpPr>
            <a:spLocks noGrp="1"/>
          </p:cNvSpPr>
          <p:nvPr>
            <p:ph type="title" hasCustomPrompt="1"/>
          </p:nvPr>
        </p:nvSpPr>
        <p:spPr>
          <a:xfrm>
            <a:off x="594360" y="219456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7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Gracias</a:t>
            </a:r>
          </a:p>
        </p:txBody>
      </p:sp>
      <p:sp>
        <p:nvSpPr>
          <p:cNvPr id="6" name="Mensaje de cierre o siguiente paso. 6"/>
          <p:cNvSpPr>
            <a:spLocks noGrp="1"/>
          </p:cNvSpPr>
          <p:nvPr>
            <p:ph idx="11" hasCustomPrompt="1"/>
          </p:nvPr>
        </p:nvSpPr>
        <p:spPr>
          <a:xfrm>
            <a:off x="594360" y="434340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rgbClr val="D8D4EA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Mensaje de cierre o siguiente paso.</a:t>
            </a:r>
          </a:p>
        </p:txBody>
      </p:sp>
      <p:sp>
        <p:nvSpPr>
          <p:cNvPr id="7" name="Forma 7"/>
          <p:cNvSpPr/>
          <p:nvPr userDrawn="1"/>
        </p:nvSpPr>
        <p:spPr>
          <a:xfrm>
            <a:off x="594360" y="5806440"/>
            <a:ext cx="548640" cy="10973"/>
          </a:xfrm>
          <a:prstGeom prst="rect">
            <a:avLst/>
          </a:prstGeom>
          <a:solidFill>
            <a:srgbClr val="C0B0F4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o 8"/>
          <p:cNvSpPr txBox="1"/>
          <p:nvPr userDrawn="1"/>
        </p:nvSpPr>
        <p:spPr>
          <a:xfrm>
            <a:off x="594360" y="59436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PE" sz="1400" b="1" i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serta una imagen 3"/>
          <p:cNvSpPr>
            <a:spLocks noGrp="1"/>
          </p:cNvSpPr>
          <p:nvPr>
            <p:ph type="pic" idx="13" hasCustomPrompt="1"/>
          </p:nvPr>
        </p:nvSpPr>
        <p:spPr>
          <a:xfrm>
            <a:off x="6812280" y="914400"/>
            <a:ext cx="4785055" cy="5349240"/>
          </a:xfrm>
          <a:prstGeom prst="rect">
            <a:avLst/>
          </a:prstGeom>
          <a:solidFill>
            <a:srgbClr val="F3F0FB"/>
          </a:solidFill>
        </p:spPr>
        <p:txBody>
          <a:bodyPr wrap="square" lIns="91440" tIns="91440" rIns="91440" bIns="91440" anchor="ctr">
            <a:normAutofit/>
          </a:bodyPr>
          <a:lstStyle>
            <a:lvl1pPr marL="0" indent="0" algn="ctr">
              <a:buNone/>
              <a:defRPr sz="10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Inserta una imagen</a:t>
            </a:r>
          </a:p>
        </p:txBody>
      </p:sp>
      <p:sp>
        <p:nvSpPr>
          <p:cNvPr id="4" name="CONTACTO 4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CONTACTO</a:t>
            </a:r>
          </a:p>
        </p:txBody>
      </p:sp>
      <p:sp>
        <p:nvSpPr>
          <p:cNvPr id="5" name="Conversemos 5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57607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lvl1pPr marL="0" indent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46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Conversemos</a:t>
            </a:r>
          </a:p>
        </p:txBody>
      </p:sp>
      <p:sp>
        <p:nvSpPr>
          <p:cNvPr id="6" name="Una línea de invitación a continuar la c 6"/>
          <p:cNvSpPr>
            <a:spLocks noGrp="1"/>
          </p:cNvSpPr>
          <p:nvPr>
            <p:ph idx="11" hasCustomPrompt="1"/>
          </p:nvPr>
        </p:nvSpPr>
        <p:spPr>
          <a:xfrm>
            <a:off x="594360" y="219456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rgbClr val="6B6E80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Una línea de invitación a continuar la conversación.</a:t>
            </a:r>
          </a:p>
        </p:txBody>
      </p:sp>
      <p:sp>
        <p:nvSpPr>
          <p:cNvPr id="7" name="Forma 7"/>
          <p:cNvSpPr/>
          <p:nvPr userDrawn="1"/>
        </p:nvSpPr>
        <p:spPr>
          <a:xfrm>
            <a:off x="594360" y="3200400"/>
            <a:ext cx="566928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8" name="ETIQUETA 8"/>
          <p:cNvSpPr>
            <a:spLocks noGrp="1"/>
          </p:cNvSpPr>
          <p:nvPr>
            <p:ph idx="220" hasCustomPrompt="1"/>
          </p:nvPr>
        </p:nvSpPr>
        <p:spPr>
          <a:xfrm>
            <a:off x="594360" y="3337560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ETIQUETA</a:t>
            </a:r>
          </a:p>
        </p:txBody>
      </p:sp>
      <p:sp>
        <p:nvSpPr>
          <p:cNvPr id="9" name="Dato de contacto 9"/>
          <p:cNvSpPr>
            <a:spLocks noGrp="1"/>
          </p:cNvSpPr>
          <p:nvPr>
            <p:ph idx="223" hasCustomPrompt="1"/>
          </p:nvPr>
        </p:nvSpPr>
        <p:spPr>
          <a:xfrm>
            <a:off x="594360" y="3611880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Dato de contacto</a:t>
            </a:r>
          </a:p>
        </p:txBody>
      </p:sp>
      <p:sp>
        <p:nvSpPr>
          <p:cNvPr id="10" name="Forma 10"/>
          <p:cNvSpPr/>
          <p:nvPr userDrawn="1"/>
        </p:nvSpPr>
        <p:spPr>
          <a:xfrm>
            <a:off x="594360" y="4114800"/>
            <a:ext cx="566928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1" name="ETIQUETA 11"/>
          <p:cNvSpPr>
            <a:spLocks noGrp="1"/>
          </p:cNvSpPr>
          <p:nvPr>
            <p:ph idx="221" hasCustomPrompt="1"/>
          </p:nvPr>
        </p:nvSpPr>
        <p:spPr>
          <a:xfrm>
            <a:off x="594360" y="4251960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ETIQUETA</a:t>
            </a:r>
          </a:p>
        </p:txBody>
      </p:sp>
      <p:sp>
        <p:nvSpPr>
          <p:cNvPr id="12" name="Dato de contacto 12"/>
          <p:cNvSpPr>
            <a:spLocks noGrp="1"/>
          </p:cNvSpPr>
          <p:nvPr>
            <p:ph idx="224" hasCustomPrompt="1"/>
          </p:nvPr>
        </p:nvSpPr>
        <p:spPr>
          <a:xfrm>
            <a:off x="594360" y="4526280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Dato de contacto</a:t>
            </a:r>
          </a:p>
        </p:txBody>
      </p:sp>
      <p:sp>
        <p:nvSpPr>
          <p:cNvPr id="13" name="Forma 13"/>
          <p:cNvSpPr/>
          <p:nvPr userDrawn="1"/>
        </p:nvSpPr>
        <p:spPr>
          <a:xfrm>
            <a:off x="594360" y="5029200"/>
            <a:ext cx="5669280" cy="10973"/>
          </a:xfrm>
          <a:prstGeom prst="rect">
            <a:avLst/>
          </a:prstGeom>
          <a:solidFill>
            <a:srgbClr val="D8D4EA"/>
          </a:solidFill>
          <a:ln>
            <a:noFill/>
          </a:ln>
        </p:spPr>
        <p:txBody>
          <a:bodyPr/>
          <a:lstStyle/>
          <a:p>
            <a:endParaRPr lang="es-PE"/>
          </a:p>
        </p:txBody>
      </p:sp>
      <p:sp>
        <p:nvSpPr>
          <p:cNvPr id="14" name="ETIQUETA 14"/>
          <p:cNvSpPr>
            <a:spLocks noGrp="1"/>
          </p:cNvSpPr>
          <p:nvPr>
            <p:ph idx="222" hasCustomPrompt="1"/>
          </p:nvPr>
        </p:nvSpPr>
        <p:spPr>
          <a:xfrm>
            <a:off x="594360" y="5166360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ETIQUETA</a:t>
            </a:r>
          </a:p>
        </p:txBody>
      </p:sp>
      <p:sp>
        <p:nvSpPr>
          <p:cNvPr id="15" name="Dato de contacto 15"/>
          <p:cNvSpPr>
            <a:spLocks noGrp="1"/>
          </p:cNvSpPr>
          <p:nvPr>
            <p:ph idx="225" hasCustomPrompt="1"/>
          </p:nvPr>
        </p:nvSpPr>
        <p:spPr>
          <a:xfrm>
            <a:off x="594360" y="5440680"/>
            <a:ext cx="566928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7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Dato de contacto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 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TEGORÍA · TEMA 3"/>
          <p:cNvSpPr>
            <a:spLocks noGrp="1"/>
          </p:cNvSpPr>
          <p:nvPr>
            <p:ph idx="10" hasCustomPrompt="1"/>
          </p:nvPr>
        </p:nvSpPr>
        <p:spPr>
          <a:xfrm>
            <a:off x="594360" y="914400"/>
            <a:ext cx="11002975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50" b="1" i="0" spc="300" cap="all">
                <a:solidFill>
                  <a:srgbClr val="6D4ABE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CATEGORÍA · TEMA</a:t>
            </a:r>
          </a:p>
        </p:txBody>
      </p:sp>
      <p:sp>
        <p:nvSpPr>
          <p:cNvPr id="4" name="Título de la diapositiva 4"/>
          <p:cNvSpPr>
            <a:spLocks noGrp="1"/>
          </p:cNvSpPr>
          <p:nvPr>
            <p:ph type="title" hasCustomPrompt="1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de la diapositiva 3"/>
          <p:cNvSpPr>
            <a:spLocks noGrp="1"/>
          </p:cNvSpPr>
          <p:nvPr>
            <p:ph type="title"/>
          </p:nvPr>
        </p:nvSpPr>
        <p:spPr>
          <a:xfrm>
            <a:off x="594360" y="1170432"/>
            <a:ext cx="11002975" cy="7772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400" b="1" i="0">
                <a:solidFill>
                  <a:srgbClr val="25283D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Título de la diapositiva</a:t>
            </a:r>
          </a:p>
        </p:txBody>
      </p:sp>
      <p:sp>
        <p:nvSpPr>
          <p:cNvPr id="4" name="Texto 4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11002975" cy="3840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b="0" i="0">
                <a:solidFill>
                  <a:srgbClr val="333333"/>
                </a:solidFill>
                <a:latin typeface="Poppins"/>
                <a:ea typeface="Poppins"/>
                <a:cs typeface="Poppins"/>
              </a:defRPr>
            </a:lvl1pPr>
          </a:lstStyle>
          <a:p>
            <a:r>
              <a:rPr lang="es-PE"/>
              <a:t>Texto</a:t>
            </a:r>
          </a:p>
        </p:txBody>
      </p:sp>
      <p:pic>
        <p:nvPicPr>
          <p:cNvPr id="5" name="Imagen 5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6" name="Texto 6"/>
          <p:cNvSpPr txBox="1"/>
          <p:nvPr userDrawn="1"/>
        </p:nvSpPr>
        <p:spPr>
          <a:xfrm>
            <a:off x="0" y="6455664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B6F15528-21DE-4FAA-801E-634DDDAF4B2B}" type="slidenum">
              <a:rPr lang="es-PE" sz="900" b="1" i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‹#›</a:t>
            </a:fld>
          </a:p>
        </p:txBody>
      </p:sp>
      <p:sp>
        <p:nvSpPr>
          <p:cNvPr id="7" name="Texto 7"/>
          <p:cNvSpPr txBox="1"/>
          <p:nvPr userDrawn="1"/>
        </p:nvSpPr>
        <p:spPr>
          <a:xfrm>
            <a:off x="10076688" y="6419088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PE" sz="900" b="0" i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400" b="1" i="0">
          <a:solidFill>
            <a:srgbClr val="25283D"/>
          </a:solidFill>
          <a:latin typeface="Poppins"/>
          <a:ea typeface="Poppins"/>
          <a:cs typeface="Poppin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None/>
        <a:defRPr sz="1400" b="0" i="0">
          <a:solidFill>
            <a:srgbClr val="333333"/>
          </a:solidFill>
          <a:latin typeface="Poppins"/>
          <a:ea typeface="Poppins"/>
          <a:cs typeface="Poppins"/>
        </a:defRPr>
      </a:lvl1pPr>
      <a:lvl2pPr marL="2286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6D4ABE"/>
        </a:buClr>
        <a:buFont typeface="Arial"/>
        <a:buChar char="•"/>
        <a:defRPr sz="1300" b="0" i="0">
          <a:solidFill>
            <a:srgbClr val="333333"/>
          </a:solidFill>
          <a:latin typeface="Poppins"/>
          <a:ea typeface="Poppins"/>
          <a:cs typeface="Poppin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6D4ABE"/>
        </a:buClr>
        <a:buFont typeface="Arial"/>
        <a:buChar char="•"/>
        <a:defRPr sz="1250" b="0" i="0">
          <a:solidFill>
            <a:srgbClr val="333333"/>
          </a:solidFill>
          <a:latin typeface="Poppins"/>
          <a:ea typeface="Poppins"/>
          <a:cs typeface="Poppins"/>
        </a:defRPr>
      </a:lvl3pPr>
      <a:lvl4pPr marL="6858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6D4ABE"/>
        </a:buClr>
        <a:buFont typeface="Arial"/>
        <a:buChar char="•"/>
        <a:defRPr sz="1200" b="0" i="0">
          <a:solidFill>
            <a:srgbClr val="333333"/>
          </a:solidFill>
          <a:latin typeface="Poppins"/>
          <a:ea typeface="Poppins"/>
          <a:cs typeface="Poppin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6D4ABE"/>
        </a:buClr>
        <a:buFont typeface="Arial"/>
        <a:buChar char="•"/>
        <a:defRPr sz="1150" b="0" i="0">
          <a:solidFill>
            <a:srgbClr val="333333"/>
          </a:solidFill>
          <a:latin typeface="Poppins"/>
          <a:ea typeface="Poppins"/>
          <a:cs typeface="Poppins"/>
        </a:defRPr>
      </a:lvl5pPr>
      <a:lvl6pPr marL="11430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6D4ABE"/>
        </a:buClr>
        <a:buFont typeface="Arial"/>
        <a:buChar char="•"/>
        <a:defRPr sz="1100" b="0" i="0">
          <a:solidFill>
            <a:srgbClr val="333333"/>
          </a:solidFill>
          <a:latin typeface="Poppins"/>
          <a:ea typeface="Poppins"/>
          <a:cs typeface="Poppins"/>
        </a:defRPr>
      </a:lvl6pPr>
      <a:lvl7pPr marL="13716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6D4ABE"/>
        </a:buClr>
        <a:buFont typeface="Arial"/>
        <a:buChar char="•"/>
        <a:defRPr sz="1050" b="0" i="0">
          <a:solidFill>
            <a:srgbClr val="333333"/>
          </a:solidFill>
          <a:latin typeface="Poppins"/>
          <a:ea typeface="Poppins"/>
          <a:cs typeface="Poppins"/>
        </a:defRPr>
      </a:lvl7pPr>
      <a:lvl8pPr marL="16002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6D4ABE"/>
        </a:buClr>
        <a:buFont typeface="Arial"/>
        <a:buChar char="•"/>
        <a:defRPr sz="1000" b="0" i="0">
          <a:solidFill>
            <a:srgbClr val="333333"/>
          </a:solidFill>
          <a:latin typeface="Poppins"/>
          <a:ea typeface="Poppins"/>
          <a:cs typeface="Poppins"/>
        </a:defRPr>
      </a:lvl8pPr>
      <a:lvl9pPr marL="18288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rgbClr val="6D4ABE"/>
        </a:buClr>
        <a:buFont typeface="Arial"/>
        <a:buChar char="•"/>
        <a:defRPr sz="950" b="0" i="0">
          <a:solidFill>
            <a:srgbClr val="333333"/>
          </a:solidFill>
          <a:latin typeface="Poppins"/>
          <a:ea typeface="Poppins"/>
          <a:cs typeface="Poppins"/>
        </a:defRPr>
      </a:lvl9pPr>
    </p:bodyStyle>
    <p:otherStyle>
      <a:defPPr>
        <a:defRPr lang="es-PE"/>
      </a:defPPr>
      <a:lvl1pPr marL="0" algn="l" defTabSz="914400">
        <a:defRPr sz="1200" b="0" i="0">
          <a:solidFill>
            <a:srgbClr val="333333"/>
          </a:solidFill>
          <a:latin typeface="Poppins"/>
          <a:ea typeface="Poppins"/>
          <a:cs typeface="Poppins"/>
        </a:defRPr>
      </a:lvl1pPr>
      <a:lvl2pPr marL="457200" algn="l" defTabSz="914400">
        <a:defRPr sz="1200" b="0" i="0">
          <a:solidFill>
            <a:srgbClr val="333333"/>
          </a:solidFill>
          <a:latin typeface="Poppins"/>
          <a:ea typeface="Poppins"/>
          <a:cs typeface="Poppins"/>
        </a:defRPr>
      </a:lvl2pPr>
      <a:lvl3pPr marL="914400" algn="l" defTabSz="914400">
        <a:defRPr sz="1200" b="0" i="0">
          <a:solidFill>
            <a:srgbClr val="333333"/>
          </a:solidFill>
          <a:latin typeface="Poppins"/>
          <a:ea typeface="Poppins"/>
          <a:cs typeface="Poppins"/>
        </a:defRPr>
      </a:lvl3pPr>
      <a:lvl4pPr marL="1371600" algn="l" defTabSz="914400">
        <a:defRPr sz="1200" b="0" i="0">
          <a:solidFill>
            <a:srgbClr val="333333"/>
          </a:solidFill>
          <a:latin typeface="Poppins"/>
          <a:ea typeface="Poppins"/>
          <a:cs typeface="Poppins"/>
        </a:defRPr>
      </a:lvl4pPr>
      <a:lvl5pPr marL="1828800" algn="l" defTabSz="914400">
        <a:defRPr sz="1200" b="0" i="0">
          <a:solidFill>
            <a:srgbClr val="333333"/>
          </a:solidFill>
          <a:latin typeface="Poppins"/>
          <a:ea typeface="Poppins"/>
          <a:cs typeface="Poppins"/>
        </a:defRPr>
      </a:lvl5pPr>
      <a:lvl6pPr marL="2286000" algn="l" defTabSz="914400">
        <a:defRPr sz="1200" b="0" i="0">
          <a:solidFill>
            <a:srgbClr val="333333"/>
          </a:solidFill>
          <a:latin typeface="Poppins"/>
          <a:ea typeface="Poppins"/>
          <a:cs typeface="Poppins"/>
        </a:defRPr>
      </a:lvl6pPr>
      <a:lvl7pPr marL="2743200" algn="l" defTabSz="914400">
        <a:defRPr sz="1200" b="0" i="0">
          <a:solidFill>
            <a:srgbClr val="333333"/>
          </a:solidFill>
          <a:latin typeface="Poppins"/>
          <a:ea typeface="Poppins"/>
          <a:cs typeface="Poppins"/>
        </a:defRPr>
      </a:lvl7pPr>
      <a:lvl8pPr marL="3200400" algn="l" defTabSz="914400">
        <a:defRPr sz="1200" b="0" i="0">
          <a:solidFill>
            <a:srgbClr val="333333"/>
          </a:solidFill>
          <a:latin typeface="Poppins"/>
          <a:ea typeface="Poppins"/>
          <a:cs typeface="Poppins"/>
        </a:defRPr>
      </a:lvl8pPr>
      <a:lvl9pPr marL="3657600" algn="l" defTabSz="914400">
        <a:defRPr sz="1200" b="0" i="0">
          <a:solidFill>
            <a:srgbClr val="333333"/>
          </a:solidFill>
          <a:latin typeface="Poppins"/>
          <a:ea typeface="Poppins"/>
          <a:cs typeface="Poppi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5.jpg"/><Relationship Id="rId6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5.jp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7.jpg"/><Relationship Id="rId9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Relationship Id="rId26" Type="http://schemas.openxmlformats.org/officeDocument/2006/relationships/image" Target="../media/image33.png"/><Relationship Id="rId27" Type="http://schemas.openxmlformats.org/officeDocument/2006/relationships/image" Target="../media/image34.png"/><Relationship Id="rId28" Type="http://schemas.openxmlformats.org/officeDocument/2006/relationships/image" Target="../media/image35.png"/><Relationship Id="rId29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Relationship Id="rId4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8.xml"/><Relationship Id="rId3" Type="http://schemas.openxmlformats.org/officeDocument/2006/relationships/chart" Target="../charts/char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SISTEMA DE PRESENTACIONES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Plantilla maestra VERNE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Guía de uso, recursos y catálogo de diseños para crear presentaciones con la identidad VERNE.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Versión 1.0 ·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/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Guía rápida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Lo esencial para usar la plantilla sin romper el sistema visual.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GUÍA RÁPIDA · CÓMO USAR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Crea una presentación en cuatro pasos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Todo el estilo vive en el Patrón de diapositivas: tú solo eliges el diseño y escribes.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50"/>
          </p:nvPr>
        </p:nvSpPr>
        <p:spPr/>
        <p:txBody>
          <a:bodyPr/>
          <a:lstStyle/>
          <a:p>
            <a:pPr/>
            <a:r>
              <a:t>01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54"/>
          </p:nvPr>
        </p:nvSpPr>
        <p:spPr/>
        <p:txBody>
          <a:bodyPr/>
          <a:lstStyle/>
          <a:p>
            <a:pPr/>
            <a:r>
              <a:t>Elige un diseño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58"/>
          </p:nvPr>
        </p:nvSpPr>
        <p:spPr/>
        <p:txBody>
          <a:bodyPr/>
          <a:lstStyle/>
          <a:p>
            <a:pPr/>
            <a:r>
              <a:t>Inicio › Nueva diapositiva › escoge el diseño que mejor cuente tu idea. Para cambiar uno existente: Inicio › Diseño.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51"/>
          </p:nvPr>
        </p:nvSpPr>
        <p:spPr/>
        <p:txBody>
          <a:bodyPr/>
          <a:lstStyle/>
          <a:p>
            <a:pPr/>
            <a:r>
              <a:t>02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55"/>
          </p:nvPr>
        </p:nvSpPr>
        <p:spPr/>
        <p:txBody>
          <a:bodyPr/>
          <a:lstStyle/>
          <a:p>
            <a:pPr/>
            <a:r>
              <a:t>Escribe en los marcadores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59"/>
          </p:nvPr>
        </p:nvSpPr>
        <p:spPr/>
        <p:txBody>
          <a:bodyPr/>
          <a:lstStyle/>
          <a:p>
            <a:pPr/>
            <a:r>
              <a:t>Reemplaza los textos de ejemplo. Tamaños, colores y espaciados ya están definidos: no los modifiques.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52"/>
          </p:nvPr>
        </p:nvSpPr>
        <p:spPr/>
        <p:txBody>
          <a:bodyPr/>
          <a:lstStyle/>
          <a:p>
            <a:pPr/>
            <a:r>
              <a:t>03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56"/>
          </p:nvPr>
        </p:nvSpPr>
        <p:spPr/>
        <p:txBody>
          <a:bodyPr/>
          <a:lstStyle/>
          <a:p>
            <a:pPr/>
            <a:r>
              <a:t>Inserta tus imágenes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60"/>
          </p:nvPr>
        </p:nvSpPr>
        <p:spPr/>
        <p:txBody>
          <a:bodyPr/>
          <a:lstStyle/>
          <a:p>
            <a:pPr/>
            <a:r>
              <a:t>Haz clic en el ícono del marcador de imagen. La foto se recorta sola; ajústala con Recortar › Rellenar.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53"/>
          </p:nvPr>
        </p:nvSpPr>
        <p:spPr/>
        <p:txBody>
          <a:bodyPr/>
          <a:lstStyle/>
          <a:p>
            <a:pPr/>
            <a:r>
              <a:t>04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57"/>
          </p:nvPr>
        </p:nvSpPr>
        <p:spPr/>
        <p:txBody>
          <a:bodyPr/>
          <a:lstStyle/>
          <a:p>
            <a:pPr/>
            <a:r>
              <a:t>Revisa y depura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61"/>
          </p:nvPr>
        </p:nvSpPr>
        <p:spPr/>
        <p:txBody>
          <a:bodyPr/>
          <a:lstStyle/>
          <a:p>
            <a:pPr/>
            <a:r>
              <a:t>Una idea por diapositiva. Si algo no cabe, divide la slide. Si te desordenas: Inicio › Restablecer.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GUÍA RÁPIDA · COLOR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Colores aprobados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240280"/>
            <a:ext cx="2057400" cy="1828800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#6D4ABE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06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5283D"/>
                </a:solidFill>
                <a:latin typeface="Poppins"/>
              </a:rPr>
              <a:t>Morado VERNE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E80"/>
                </a:solidFill>
                <a:latin typeface="Poppins"/>
              </a:rPr>
              <a:t>Acento principal: cifras, destacados, eyebrows.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2240280"/>
            <a:ext cx="2057400" cy="1828800"/>
          </a:xfrm>
          <a:prstGeom prst="rect">
            <a:avLst/>
          </a:prstGeom>
          <a:solidFill>
            <a:srgbClr val="25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#25283D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4206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5283D"/>
                </a:solidFill>
                <a:latin typeface="Poppins"/>
              </a:rPr>
              <a:t>Azul noche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E80"/>
                </a:solidFill>
                <a:latin typeface="Poppins"/>
              </a:rPr>
              <a:t>Títulos y fondos oscuros.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8344" y="2240280"/>
            <a:ext cx="2057400" cy="1828800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 i="0">
                <a:solidFill>
                  <a:srgbClr val="25283D"/>
                </a:solidFill>
                <a:latin typeface="Poppins"/>
              </a:rPr>
              <a:t>#C0B0F4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4206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5283D"/>
                </a:solidFill>
                <a:latin typeface="Poppins"/>
              </a:rPr>
              <a:t>Lavanda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8344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E80"/>
                </a:solidFill>
                <a:latin typeface="Poppins"/>
              </a:rPr>
              <a:t>Números de sección, acentos sobre oscuro.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0336" y="2240280"/>
            <a:ext cx="2057400" cy="18288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6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#333333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336" y="4206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5283D"/>
                </a:solidFill>
                <a:latin typeface="Poppins"/>
              </a:rPr>
              <a:t>Grafito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E80"/>
                </a:solidFill>
                <a:latin typeface="Poppins"/>
              </a:rPr>
              <a:t>Texto de cuerpo.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82328" y="2240280"/>
            <a:ext cx="20574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65208" y="342900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 i="0">
                <a:solidFill>
                  <a:srgbClr val="25283D"/>
                </a:solidFill>
                <a:latin typeface="Poppins"/>
              </a:rPr>
              <a:t>#FFFFFF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4206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5283D"/>
                </a:solidFill>
                <a:latin typeface="Poppins"/>
              </a:rPr>
              <a:t>Blanco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4526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E80"/>
                </a:solidFill>
                <a:latin typeface="Poppins"/>
              </a:rPr>
              <a:t>Fondo principal y espacio negativo.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49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COLORES DE APOYO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5669280"/>
            <a:ext cx="365760" cy="365760"/>
          </a:xfrm>
          <a:prstGeom prst="ellipse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65099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25283D"/>
                </a:solidFill>
                <a:latin typeface="Poppins"/>
              </a:rPr>
              <a:t>#F3F0FB</a:t>
            </a:r>
          </a:p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Lavanda fondo</a:t>
            </a:r>
          </a:p>
        </p:txBody>
      </p:sp>
      <p:sp>
        <p:nvSpPr>
          <p:cNvPr id="27" name="Oval 26"/>
          <p:cNvSpPr/>
          <p:nvPr/>
        </p:nvSpPr>
        <p:spPr>
          <a:xfrm>
            <a:off x="2816352" y="5669280"/>
            <a:ext cx="365760" cy="365760"/>
          </a:xfrm>
          <a:prstGeom prst="ellipse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565099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25283D"/>
                </a:solidFill>
                <a:latin typeface="Poppins"/>
              </a:rPr>
              <a:t>#D8D4EA</a:t>
            </a:r>
          </a:p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Líneas</a:t>
            </a:r>
          </a:p>
        </p:txBody>
      </p:sp>
      <p:sp>
        <p:nvSpPr>
          <p:cNvPr id="29" name="Oval 28"/>
          <p:cNvSpPr/>
          <p:nvPr/>
        </p:nvSpPr>
        <p:spPr>
          <a:xfrm>
            <a:off x="5038344" y="5669280"/>
            <a:ext cx="365760" cy="365760"/>
          </a:xfrm>
          <a:prstGeom prst="ellipse">
            <a:avLst/>
          </a:prstGeom>
          <a:solidFill>
            <a:srgbClr val="8F7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95544" y="565099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25283D"/>
                </a:solidFill>
                <a:latin typeface="Poppins"/>
              </a:rPr>
              <a:t>#8F72D6</a:t>
            </a:r>
          </a:p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Morado medio · gráficos</a:t>
            </a:r>
          </a:p>
        </p:txBody>
      </p:sp>
      <p:sp>
        <p:nvSpPr>
          <p:cNvPr id="31" name="Oval 30"/>
          <p:cNvSpPr/>
          <p:nvPr/>
        </p:nvSpPr>
        <p:spPr>
          <a:xfrm>
            <a:off x="7260336" y="5669280"/>
            <a:ext cx="365760" cy="365760"/>
          </a:xfrm>
          <a:prstGeom prst="ellipse">
            <a:avLst/>
          </a:prstGeom>
          <a:solidFill>
            <a:srgbClr val="6B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7536" y="565099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25283D"/>
                </a:solidFill>
                <a:latin typeface="Poppins"/>
              </a:rPr>
              <a:t>#6B6E80</a:t>
            </a:r>
          </a:p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Texto secundario</a:t>
            </a:r>
          </a:p>
        </p:txBody>
      </p:sp>
      <p:sp>
        <p:nvSpPr>
          <p:cNvPr id="33" name="Oval 32"/>
          <p:cNvSpPr/>
          <p:nvPr/>
        </p:nvSpPr>
        <p:spPr>
          <a:xfrm>
            <a:off x="9482328" y="5669280"/>
            <a:ext cx="365760" cy="365760"/>
          </a:xfrm>
          <a:prstGeom prst="ellipse">
            <a:avLst/>
          </a:prstGeom>
          <a:solidFill>
            <a:srgbClr val="17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9528" y="5650992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25283D"/>
                </a:solidFill>
                <a:latin typeface="Poppins"/>
              </a:rPr>
              <a:t>#171828</a:t>
            </a:r>
          </a:p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Fondo profundo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1234440"/>
            <a:ext cx="4279392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50" b="1" i="0">
                <a:solidFill>
                  <a:srgbClr val="25283D"/>
                </a:solidFill>
                <a:latin typeface="Poppins"/>
              </a:rPr>
              <a:t>Proporción sugerida: </a:t>
            </a:r>
            <a:r>
              <a:rPr sz="1050" b="0" i="0">
                <a:solidFill>
                  <a:srgbClr val="6B6E80"/>
                </a:solidFill>
                <a:latin typeface="Poppins"/>
              </a:rPr>
              <a:t>60% blanco · 25% azul noche · 10% morado · 5% acentos.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GUÍA RÁPIDA · TIPOGRAFÍA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Poppins, con una jerarquía fija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103120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57984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Eyebrow / categoría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12140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CATEGORÍA ·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157984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Bold 10,5 pt · mayúsculas · espaciado 3 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10028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6489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Título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52831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25283D"/>
                </a:solidFill>
                <a:latin typeface="Poppins"/>
              </a:rPr>
              <a:t>Título de portada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64892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Bold 46 pt · interlineado 0,92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16936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Título de slide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35224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5283D"/>
                </a:solidFill>
                <a:latin typeface="Poppins"/>
              </a:rPr>
              <a:t>Título de diapositiva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71800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Bold 34 pt · interlineado 0,95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323844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37870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Bajada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3421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6B6E80"/>
                </a:solidFill>
                <a:latin typeface="Poppins"/>
              </a:rPr>
              <a:t>Bajada que da contexto en una o dos líneas.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78708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Regular 16 pt · gris #6B6E80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730752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85616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Cuerpo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74904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Poppins"/>
              </a:rPr>
              <a:t>Texto de desarrollo, en párrafos breves.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85616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Regular 12 pt · interlineado 1,25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137660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92524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Destacado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15594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6D4ABE"/>
                </a:solidFill>
                <a:latin typeface="Poppins"/>
              </a:rPr>
              <a:t>La idea que debe recordarse.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92524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Bold 20 pt · morado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544568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599432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Cifras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562856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6D4ABE"/>
                </a:solidFill>
                <a:latin typeface="Poppins"/>
              </a:rPr>
              <a:t>+180%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599432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Bold 54–150 pt · morado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951476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00634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Numeración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969764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C0B0F4"/>
                </a:solidFill>
                <a:latin typeface="Poppins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006340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Bold 30 pt · lavanda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5358384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413248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Caption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3766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6E80"/>
                </a:solidFill>
                <a:latin typeface="Poppins"/>
              </a:rPr>
              <a:t>Texto de apoyo o etiqueta.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413248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Regular 10 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5765292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820156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6B6E80"/>
                </a:solidFill>
                <a:latin typeface="Poppins"/>
              </a:rPr>
              <a:t>Fuente / nota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7835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9A9CAB"/>
                </a:solidFill>
                <a:latin typeface="Poppins"/>
              </a:rPr>
              <a:t>Fuente: nombre de la fuente, año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820156"/>
            <a:ext cx="318211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5283D"/>
                </a:solidFill>
                <a:latin typeface="Poppins"/>
              </a:rPr>
              <a:t>Italic 8,5 pt · #9A9CAB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GUÍA RÁPIDA · RETÍCULA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Márgenes y zonas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148840"/>
            <a:ext cx="11002975" cy="4114800"/>
          </a:xfrm>
          <a:prstGeom prst="rect">
            <a:avLst/>
          </a:prstGeom>
          <a:solidFill>
            <a:srgbClr val="6D4ABE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11275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28189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45104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62018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78933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5848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12762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9677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46591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63506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80421" y="2148840"/>
            <a:ext cx="5486" cy="411480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0"/>
            <a:ext cx="10973" cy="6858000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97335" y="0"/>
            <a:ext cx="10973" cy="6858000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10973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91695" cy="10973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286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D4ABE"/>
                </a:solidFill>
                <a:latin typeface="Poppins"/>
              </a:rPr>
              <a:t>ÁREA DE CONTENIDO · 12 COLUMNAS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6,85" · fin del contenido. Debajo: numeración y web automáticas.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96012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 i="0">
                <a:solidFill>
                  <a:srgbClr val="6D4ABE"/>
                </a:solidFill>
                <a:latin typeface="Poppins"/>
              </a:rPr>
              <a:t>1,0" · eyebrow  ·  1,28" · título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45368" y="74980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6D4ABE"/>
                </a:solidFill>
                <a:latin typeface="Poppins"/>
              </a:rPr>
              <a:t>Logo fijo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38328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6D4ABE"/>
                </a:solidFill>
                <a:latin typeface="Poppins"/>
              </a:rPr>
              <a:t>0,65"</a:t>
            </a:r>
          </a:p>
          <a:p>
            <a:pPr algn="l"/>
            <a:r>
              <a:rPr sz="1200" b="0" i="0">
                <a:solidFill>
                  <a:srgbClr val="25283D"/>
                </a:solidFill>
                <a:latin typeface="Poppins"/>
              </a:rPr>
              <a:t>Margen lateral en todos los diseños. Las imágenes pueden ir a sangre; el texto, nunca fuera de los márgenes.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GUÍA RÁPIDA · LOGO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Uso del logo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148840"/>
            <a:ext cx="3520440" cy="2194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862072"/>
            <a:ext cx="1874520" cy="6583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34256" y="2148840"/>
            <a:ext cx="3520440" cy="2194560"/>
          </a:xfrm>
          <a:prstGeom prst="rect">
            <a:avLst/>
          </a:prstGeom>
          <a:solidFill>
            <a:srgbClr val="25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2862072"/>
            <a:ext cx="1874520" cy="658368"/>
          </a:xfrm>
          <a:prstGeom prst="rect">
            <a:avLst/>
          </a:prstGeom>
        </p:spPr>
      </p:pic>
      <p:pic>
        <p:nvPicPr>
          <p:cNvPr id="8" name="Picture 7" descr="image2.jpg"/>
          <p:cNvPicPr>
            <a:picLocks noChangeAspect="1"/>
          </p:cNvPicPr>
          <p:nvPr/>
        </p:nvPicPr>
        <p:blipFill>
          <a:blip r:embed="rId5"/>
          <a:srcRect l="1465" r="8301"/>
          <a:stretch>
            <a:fillRect/>
          </a:stretch>
        </p:blipFill>
        <p:spPr>
          <a:xfrm>
            <a:off x="8074152" y="2148840"/>
            <a:ext cx="3520440" cy="2194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074152" y="2148840"/>
            <a:ext cx="3520440" cy="2194560"/>
          </a:xfrm>
          <a:prstGeom prst="rect">
            <a:avLst/>
          </a:prstGeom>
          <a:solidFill>
            <a:srgbClr val="171828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112" y="2862072"/>
            <a:ext cx="1874520" cy="658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443484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283D"/>
                </a:solidFill>
                <a:latin typeface="Poppins"/>
              </a:rPr>
              <a:t>Morado sobre fondos claros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443484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283D"/>
                </a:solidFill>
                <a:latin typeface="Poppins"/>
              </a:rPr>
              <a:t>Blanco sobre fondos oscuros o morados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4434840"/>
            <a:ext cx="3520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283D"/>
                </a:solidFill>
                <a:latin typeface="Poppins"/>
              </a:rPr>
              <a:t>Blanco sobre foto, solo con zona oscura o overlay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983480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120640"/>
            <a:ext cx="5394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D4ABE"/>
                </a:solidFill>
                <a:latin typeface="Poppins"/>
              </a:rPr>
              <a:t>Sí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Poppins"/>
              </a:rPr>
              <a:t>Respeta un espacio libre alrededor igual a la altura de la “v”. Úsalo en la esquina superior derecha (fijo en el patrón) o grande en portada y cierre.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5120640"/>
            <a:ext cx="534009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D4ABE"/>
                </a:solidFill>
                <a:latin typeface="Poppins"/>
              </a:rPr>
              <a:t>No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Poppins"/>
              </a:rPr>
              <a:t>No lo deformes, recolores, gires, ni le agregues sombras o contornos. No lo pongas sobre zonas de la foto con poco contraste.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GUÍA RÁPIDA · FOTOGRAFÍA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Tratamiento de imágenes</a:t>
            </a:r>
          </a:p>
        </p:txBody>
      </p:sp>
      <p:pic>
        <p:nvPicPr>
          <p:cNvPr id="4" name="Picture 3" descr="image34.jpg"/>
          <p:cNvPicPr>
            <a:picLocks noChangeAspect="1"/>
          </p:cNvPicPr>
          <p:nvPr/>
        </p:nvPicPr>
        <p:blipFill>
          <a:blip r:embed="rId3"/>
          <a:srcRect t="18725" b="56174"/>
          <a:stretch>
            <a:fillRect/>
          </a:stretch>
        </p:blipFill>
        <p:spPr>
          <a:xfrm>
            <a:off x="594360" y="2011680"/>
            <a:ext cx="3520440" cy="1691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377647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283D"/>
                </a:solidFill>
                <a:latin typeface="Poppins"/>
              </a:rPr>
              <a:t>Imagen protagonista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2011680"/>
            <a:ext cx="35204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5.jpg"/>
          <p:cNvPicPr>
            <a:picLocks noChangeAspect="1"/>
          </p:cNvPicPr>
          <p:nvPr/>
        </p:nvPicPr>
        <p:blipFill>
          <a:blip r:embed="rId4"/>
          <a:srcRect t="13265" b="30953"/>
          <a:stretch>
            <a:fillRect/>
          </a:stretch>
        </p:blipFill>
        <p:spPr>
          <a:xfrm>
            <a:off x="4334256" y="2011680"/>
            <a:ext cx="1584198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4476" y="2423160"/>
            <a:ext cx="15841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5283D"/>
                </a:solidFill>
                <a:latin typeface="Poppins"/>
              </a:rPr>
              <a:t>Título</a:t>
            </a:r>
          </a:p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Texto al costado de la foto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377647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283D"/>
                </a:solidFill>
                <a:latin typeface="Poppins"/>
              </a:rPr>
              <a:t>Imagen lateral</a:t>
            </a:r>
          </a:p>
        </p:txBody>
      </p:sp>
      <p:pic>
        <p:nvPicPr>
          <p:cNvPr id="10" name="Picture 9" descr="image2.jpg"/>
          <p:cNvPicPr>
            <a:picLocks noChangeAspect="1"/>
          </p:cNvPicPr>
          <p:nvPr/>
        </p:nvPicPr>
        <p:blipFill>
          <a:blip r:embed="rId5"/>
          <a:srcRect t="8745" b="5830"/>
          <a:stretch>
            <a:fillRect/>
          </a:stretch>
        </p:blipFill>
        <p:spPr>
          <a:xfrm>
            <a:off x="8074152" y="2011680"/>
            <a:ext cx="3520440" cy="1691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57032" y="29718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Mensaje sobre la foto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377647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283D"/>
                </a:solidFill>
                <a:latin typeface="Poppins"/>
              </a:rPr>
              <a:t>Fotografía como fondo</a:t>
            </a:r>
          </a:p>
        </p:txBody>
      </p:sp>
      <p:pic>
        <p:nvPicPr>
          <p:cNvPr id="13" name="Picture 12" descr="image2.jpg"/>
          <p:cNvPicPr>
            <a:picLocks noChangeAspect="1"/>
          </p:cNvPicPr>
          <p:nvPr/>
        </p:nvPicPr>
        <p:blipFill>
          <a:blip r:embed="rId5"/>
          <a:srcRect t="8745" b="5830"/>
          <a:stretch>
            <a:fillRect/>
          </a:stretch>
        </p:blipFill>
        <p:spPr>
          <a:xfrm>
            <a:off x="594360" y="4270248"/>
            <a:ext cx="3520440" cy="1691640"/>
          </a:xfrm>
          <a:prstGeom prst="rect">
            <a:avLst/>
          </a:prstGeom>
        </p:spPr>
      </p:pic>
      <p:pic>
        <p:nvPicPr>
          <p:cNvPr id="14" name="Picture 13" descr="fade_le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70248"/>
            <a:ext cx="35204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73168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Overlay azul noche</a:t>
            </a:r>
          </a:p>
          <a:p>
            <a:pPr algn="l"/>
            <a:r>
              <a:rPr sz="850" b="0" i="0">
                <a:solidFill>
                  <a:srgbClr val="D8D4EA"/>
                </a:solidFill>
                <a:latin typeface="Poppins"/>
              </a:rPr>
              <a:t>Garantiza legibilidad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35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283D"/>
                </a:solidFill>
                <a:latin typeface="Poppins"/>
              </a:rPr>
              <a:t>Fotografía con overlay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6" y="4270248"/>
            <a:ext cx="3520440" cy="1691640"/>
          </a:xfrm>
          <a:prstGeom prst="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34.jpg"/>
          <p:cNvPicPr>
            <a:picLocks noChangeAspect="1"/>
          </p:cNvPicPr>
          <p:nvPr/>
        </p:nvPicPr>
        <p:blipFill>
          <a:blip r:embed="rId3"/>
          <a:srcRect t="4537" b="18149"/>
          <a:stretch>
            <a:fillRect/>
          </a:stretch>
        </p:blipFill>
        <p:spPr>
          <a:xfrm>
            <a:off x="6528816" y="4270248"/>
            <a:ext cx="1143000" cy="1691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17136" y="472744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5283D"/>
                </a:solidFill>
                <a:latin typeface="Poppins"/>
              </a:rPr>
              <a:t>Encuadre vertical</a:t>
            </a:r>
          </a:p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La persona como protagonista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6035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283D"/>
                </a:solidFill>
                <a:latin typeface="Poppins"/>
              </a:rPr>
              <a:t>Recorte de persona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4270248"/>
            <a:ext cx="3520440" cy="16916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35.jpg"/>
          <p:cNvPicPr>
            <a:picLocks noChangeAspect="1"/>
          </p:cNvPicPr>
          <p:nvPr/>
        </p:nvPicPr>
        <p:blipFill>
          <a:blip r:embed="rId4"/>
          <a:srcRect t="14851" b="34652"/>
          <a:stretch>
            <a:fillRect/>
          </a:stretch>
        </p:blipFill>
        <p:spPr>
          <a:xfrm>
            <a:off x="8257032" y="4453128"/>
            <a:ext cx="1371600" cy="1325880"/>
          </a:xfrm>
          <a:prstGeom prst="rect">
            <a:avLst/>
          </a:prstGeom>
        </p:spPr>
      </p:pic>
      <p:pic>
        <p:nvPicPr>
          <p:cNvPr id="23" name="Picture 22" descr="image2.jpg"/>
          <p:cNvPicPr>
            <a:picLocks noChangeAspect="1"/>
          </p:cNvPicPr>
          <p:nvPr/>
        </p:nvPicPr>
        <p:blipFill>
          <a:blip r:embed="rId5"/>
          <a:srcRect t="9630" b="6420"/>
          <a:stretch>
            <a:fillRect/>
          </a:stretch>
        </p:blipFill>
        <p:spPr>
          <a:xfrm>
            <a:off x="9765792" y="4453128"/>
            <a:ext cx="1645920" cy="7772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765792" y="532180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5283D"/>
                </a:solidFill>
                <a:latin typeface="Poppins"/>
              </a:rPr>
              <a:t>Retícula editorial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6035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5283D"/>
                </a:solidFill>
                <a:latin typeface="Poppins"/>
              </a:rPr>
              <a:t>Composición editorial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199632"/>
            <a:ext cx="11002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E80"/>
                </a:solidFill>
                <a:latin typeface="Poppins"/>
              </a:rPr>
              <a:t>Fotografía humana, real y contemporánea, con luz natural o tonos violeta sutiles. Evita stock evidente, gestos forzados y clichés de IA (robots, cerebros, redes de nodos).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GUÍA RÁPIDA · CRITERIOS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Qué hacer y qué evitar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0"/>
          </p:nvPr>
        </p:nvSpPr>
        <p:spPr/>
        <p:txBody>
          <a:bodyPr/>
          <a:lstStyle/>
          <a:p>
            <a:pPr/>
            <a:r>
              <a:t>HAZ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1"/>
          </p:nvPr>
        </p:nvSpPr>
        <p:spPr/>
        <p:txBody>
          <a:bodyPr/>
          <a:lstStyle/>
          <a:p>
            <a:pPr/>
            <a:r>
              <a:t>Una idea clara por diapositiva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2"/>
          </p:nvPr>
        </p:nvSpPr>
        <p:spPr/>
        <p:txBody>
          <a:bodyPr/>
          <a:lstStyle/>
          <a:p>
            <a:pPr/>
            <a:r>
              <a:t>Título + contexto mínimo + un elemento visual protagonista.</a:t>
            </a:r>
          </a:p>
          <a:p>
            <a:pPr lvl="1"/>
            <a:r>
              <a:t>Deja aire: el espacio negativo es parte de la marca.</a:t>
            </a:r>
          </a:p>
          <a:p>
            <a:pPr lvl="1"/>
            <a:r>
              <a:t>Usa los marcadores y estilos del patrón.</a:t>
            </a:r>
          </a:p>
          <a:p>
            <a:pPr lvl="1"/>
            <a:r>
              <a:t>Cifras grandes con su fuente.</a:t>
            </a:r>
          </a:p>
          <a:p>
            <a:pPr lvl="1"/>
            <a:r>
              <a:t>Fotos humanas con buen contraste para el texto.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43"/>
          </p:nvPr>
        </p:nvSpPr>
        <p:spPr/>
        <p:txBody>
          <a:bodyPr/>
          <a:lstStyle/>
          <a:p>
            <a:pPr/>
            <a:r>
              <a:t>EVITA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44"/>
          </p:nvPr>
        </p:nvSpPr>
        <p:spPr/>
        <p:txBody>
          <a:bodyPr/>
          <a:lstStyle/>
          <a:p>
            <a:pPr/>
            <a:r>
              <a:t>Slides que parecen documentos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pPr/>
            <a:r>
              <a:t>Párrafos largos: pásalos a las notas del presentador.</a:t>
            </a:r>
          </a:p>
          <a:p>
            <a:pPr lvl="1"/>
            <a:r>
              <a:t>Cajas y tarjetas para todo.</a:t>
            </a:r>
          </a:p>
          <a:p>
            <a:pPr lvl="1"/>
            <a:r>
              <a:t>Degradados, sombras, redes, nodos o íconos 3D.</a:t>
            </a:r>
          </a:p>
          <a:p>
            <a:pPr lvl="1"/>
            <a:r>
              <a:t>Cambiar fuentes, tamaños o colores fuera de la paleta.</a:t>
            </a:r>
          </a:p>
          <a:p>
            <a:pPr lvl="1"/>
            <a:r>
              <a:t>Texto sobre fotos sin overlay.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/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Sistema visual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Recursos listos para copiar y pegar: todos son formas editables de PowerPoint.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SISTEMA VISUAL · ELEMENTOS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Elementos gráficos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DIVISORES Y LÍNEAS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1568" y="21031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ETIQUETAS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8776" y="21031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NÚMEROS DE SECCIÓN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5984" y="2103120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DESTACADOS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06040"/>
            <a:ext cx="2468880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Línea fina · #D8D4EA · 0,75 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154680"/>
            <a:ext cx="2468880" cy="10973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Línea de acento · morado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703320"/>
            <a:ext cx="548640" cy="27432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79476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Marca corta · portadas y cierre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206240"/>
            <a:ext cx="10973" cy="640080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Separador vertical entre columnas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5603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1568" y="256032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6D4ABE"/>
                </a:solidFill>
                <a:latin typeface="Poppins"/>
              </a:rPr>
              <a:t>Etiqueta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30175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301752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Etiqueta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34747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347472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5283D"/>
                </a:solidFill>
                <a:latin typeface="Poppins"/>
              </a:rPr>
              <a:t>Etiqueta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3931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5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931920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oppins"/>
              </a:rPr>
              <a:t>Etiqueta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43891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E80"/>
                </a:solidFill>
                <a:latin typeface="Poppins"/>
              </a:rPr>
              <a:t>Para categorías, plazos o estados. Máximo 3 palabras.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25146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C0B0F4"/>
                </a:solidFill>
                <a:latin typeface="Poppin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32004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D4ABE"/>
                </a:solidFill>
                <a:latin typeface="Poppins"/>
              </a:rPr>
              <a:t>01  </a:t>
            </a:r>
            <a:r>
              <a:rPr sz="1400" b="1" i="0">
                <a:solidFill>
                  <a:srgbClr val="25283D"/>
                </a:solidFill>
                <a:latin typeface="Poppins"/>
              </a:rPr>
              <a:t>Paso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37033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D4ABE"/>
                </a:solidFill>
                <a:latin typeface="Poppins"/>
              </a:rPr>
              <a:t>01</a:t>
            </a:r>
            <a:r>
              <a:rPr sz="1400" b="1" i="0">
                <a:solidFill>
                  <a:srgbClr val="9A9CAB"/>
                </a:solidFill>
                <a:latin typeface="Poppins"/>
              </a:rPr>
              <a:t> /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256032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83D"/>
                </a:solidFill>
                <a:latin typeface="Poppins"/>
              </a:rPr>
              <a:t>La idea que debe </a:t>
            </a:r>
            <a:r>
              <a:rPr sz="1400" b="1" i="0">
                <a:solidFill>
                  <a:srgbClr val="6D4ABE"/>
                </a:solidFill>
                <a:latin typeface="Poppins"/>
              </a:rPr>
              <a:t>recordarse.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342900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D4ABE"/>
                </a:solidFill>
                <a:latin typeface="Poppins"/>
              </a:rPr>
              <a:t>+180%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40690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5283D"/>
                </a:solidFill>
                <a:latin typeface="Poppins"/>
              </a:rPr>
              <a:t>“Cita breve”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074920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2578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CONTENEDORES Y FORMAS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577840"/>
            <a:ext cx="1737360" cy="6400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68880" y="5577840"/>
            <a:ext cx="1737360" cy="640080"/>
          </a:xfrm>
          <a:prstGeom prst="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5577840"/>
            <a:ext cx="1737360" cy="640080"/>
          </a:xfrm>
          <a:prstGeom prst="rect">
            <a:avLst/>
          </a:prstGeom>
          <a:solidFill>
            <a:srgbClr val="25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5577840"/>
            <a:ext cx="1737360" cy="640080"/>
          </a:xfrm>
          <a:prstGeom prst="rect">
            <a:avLst/>
          </a:prstGeom>
          <a:noFill/>
          <a:ln w="9525">
            <a:solidFill>
              <a:srgbClr val="D8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83880" y="5577840"/>
            <a:ext cx="640080" cy="640080"/>
          </a:xfrm>
          <a:prstGeom prst="ellipse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006840" y="5577840"/>
            <a:ext cx="640080" cy="640080"/>
          </a:xfrm>
          <a:prstGeom prst="ellipse">
            <a:avLst/>
          </a:prstGeom>
          <a:noFill/>
          <a:ln w="9525">
            <a:solidFill>
              <a:srgbClr val="6D4A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29800" y="57150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577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Panel neutro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5577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Panel lavanda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5577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Poppins"/>
              </a:rPr>
              <a:t>Panel oscuro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577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Contorno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SISTEMA VISUAL · FONDOS Y MARCOS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Fondos, overlays y marcos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FONDOS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423160"/>
            <a:ext cx="16459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4930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Blanco ·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423160"/>
            <a:ext cx="1645920" cy="1005840"/>
          </a:xfrm>
          <a:prstGeom prst="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34930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Lavanda ·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423160"/>
            <a:ext cx="1645920" cy="1005840"/>
          </a:xfrm>
          <a:prstGeom prst="rect">
            <a:avLst/>
          </a:prstGeom>
          <a:solidFill>
            <a:srgbClr val="252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34930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Azul noche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423160"/>
            <a:ext cx="1645920" cy="1005840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4930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Morado · secciones</a:t>
            </a:r>
          </a:p>
        </p:txBody>
      </p:sp>
      <p:pic>
        <p:nvPicPr>
          <p:cNvPr id="13" name="Picture 12" descr="image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423160"/>
            <a:ext cx="1645920" cy="1005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26680" y="34930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Brillo inferior</a:t>
            </a:r>
          </a:p>
        </p:txBody>
      </p:sp>
      <p:pic>
        <p:nvPicPr>
          <p:cNvPr id="15" name="Picture 14" descr="image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423160"/>
            <a:ext cx="1645920" cy="1005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09760" y="34930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Brillo superior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233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OVERLAYS PARA TEXTO SOBRE FOTO</a:t>
            </a:r>
          </a:p>
        </p:txBody>
      </p:sp>
      <p:pic>
        <p:nvPicPr>
          <p:cNvPr id="18" name="Picture 17" descr="image2.jpg"/>
          <p:cNvPicPr>
            <a:picLocks noChangeAspect="1"/>
          </p:cNvPicPr>
          <p:nvPr/>
        </p:nvPicPr>
        <p:blipFill>
          <a:blip r:embed="rId5"/>
          <a:srcRect l="16607" r="11071"/>
          <a:stretch>
            <a:fillRect/>
          </a:stretch>
        </p:blipFill>
        <p:spPr>
          <a:xfrm>
            <a:off x="594360" y="4343400"/>
            <a:ext cx="1645920" cy="1280160"/>
          </a:xfrm>
          <a:prstGeom prst="rect">
            <a:avLst/>
          </a:prstGeom>
        </p:spPr>
      </p:pic>
      <p:pic>
        <p:nvPicPr>
          <p:cNvPr id="19" name="Picture 18" descr="fade_lef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43400"/>
            <a:ext cx="1645920" cy="1280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56875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Lateral</a:t>
            </a:r>
          </a:p>
        </p:txBody>
      </p:sp>
      <p:pic>
        <p:nvPicPr>
          <p:cNvPr id="21" name="Picture 20" descr="image2.jpg"/>
          <p:cNvPicPr>
            <a:picLocks noChangeAspect="1"/>
          </p:cNvPicPr>
          <p:nvPr/>
        </p:nvPicPr>
        <p:blipFill>
          <a:blip r:embed="rId5"/>
          <a:srcRect l="16607" r="11071"/>
          <a:stretch>
            <a:fillRect/>
          </a:stretch>
        </p:blipFill>
        <p:spPr>
          <a:xfrm>
            <a:off x="2377440" y="4343400"/>
            <a:ext cx="1645920" cy="1280160"/>
          </a:xfrm>
          <a:prstGeom prst="rect">
            <a:avLst/>
          </a:prstGeom>
        </p:spPr>
      </p:pic>
      <p:pic>
        <p:nvPicPr>
          <p:cNvPr id="22" name="Picture 21" descr="fade_bott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4343400"/>
            <a:ext cx="1645920" cy="12801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377440" y="56875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Inferior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0233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MARCOS DE IMAGEN</a:t>
            </a:r>
          </a:p>
        </p:txBody>
      </p:sp>
      <p:pic>
        <p:nvPicPr>
          <p:cNvPr id="25" name="Picture 24" descr="image35.jpg"/>
          <p:cNvPicPr>
            <a:picLocks noChangeAspect="1"/>
          </p:cNvPicPr>
          <p:nvPr/>
        </p:nvPicPr>
        <p:blipFill>
          <a:blip r:embed="rId8"/>
          <a:srcRect t="15858" b="47575"/>
          <a:stretch>
            <a:fillRect/>
          </a:stretch>
        </p:blipFill>
        <p:spPr>
          <a:xfrm>
            <a:off x="4526280" y="4343400"/>
            <a:ext cx="1828800" cy="1280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26280" y="56875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Rectangular</a:t>
            </a:r>
          </a:p>
        </p:txBody>
      </p:sp>
      <p:pic>
        <p:nvPicPr>
          <p:cNvPr id="27" name="Picture 26" descr="image35.jpg"/>
          <p:cNvPicPr>
            <a:picLocks noChangeAspect="1"/>
          </p:cNvPicPr>
          <p:nvPr/>
        </p:nvPicPr>
        <p:blipFill>
          <a:blip r:embed="rId8"/>
          <a:srcRect t="15858" b="47575"/>
          <a:stretch>
            <a:fillRect/>
          </a:stretch>
        </p:blipFill>
        <p:spPr>
          <a:xfrm>
            <a:off x="6629400" y="4343400"/>
            <a:ext cx="1828800" cy="1280160"/>
          </a:xfrm>
          <a:prstGeom prst="round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29400" y="56875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Redondeado</a:t>
            </a:r>
          </a:p>
        </p:txBody>
      </p:sp>
      <p:pic>
        <p:nvPicPr>
          <p:cNvPr id="29" name="Picture 28" descr="image34.jpg"/>
          <p:cNvPicPr>
            <a:picLocks noChangeAspect="1"/>
          </p:cNvPicPr>
          <p:nvPr/>
        </p:nvPicPr>
        <p:blipFill>
          <a:blip r:embed="rId9"/>
          <a:srcRect t="11940" b="35821"/>
          <a:stretch>
            <a:fillRect/>
          </a:stretch>
        </p:blipFill>
        <p:spPr>
          <a:xfrm>
            <a:off x="8732520" y="4343400"/>
            <a:ext cx="1280160" cy="1280160"/>
          </a:xfrm>
          <a:prstGeom prst="ellipse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732520" y="56875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Circular · perfiles</a:t>
            </a:r>
          </a:p>
        </p:txBody>
      </p:sp>
      <p:pic>
        <p:nvPicPr>
          <p:cNvPr id="31" name="Picture 30" descr="image34.jpg"/>
          <p:cNvPicPr>
            <a:picLocks noChangeAspect="1"/>
          </p:cNvPicPr>
          <p:nvPr/>
        </p:nvPicPr>
        <p:blipFill>
          <a:blip r:embed="rId9"/>
          <a:srcRect t="5754" b="17262"/>
          <a:stretch>
            <a:fillRect/>
          </a:stretch>
        </p:blipFill>
        <p:spPr>
          <a:xfrm>
            <a:off x="10287000" y="4343400"/>
            <a:ext cx="868680" cy="12801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287000" y="56875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5283D"/>
                </a:solidFill>
                <a:latin typeface="Poppins"/>
              </a:rPr>
              <a:t>Vertical · persona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SISTEMA VISUAL · ICONOGRAFÍA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Íconos de línea, simples y consistentes</a:t>
            </a:r>
          </a:p>
        </p:txBody>
      </p:sp>
      <p:pic>
        <p:nvPicPr>
          <p:cNvPr id="4" name="Picture 3" descr="message-square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4560"/>
            <a:ext cx="457200" cy="457200"/>
          </a:xfrm>
          <a:prstGeom prst="rect">
            <a:avLst/>
          </a:prstGeom>
        </p:spPr>
      </p:pic>
      <p:pic>
        <p:nvPicPr>
          <p:cNvPr id="5" name="Picture 4" descr="megaphone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744" y="2194560"/>
            <a:ext cx="457200" cy="457200"/>
          </a:xfrm>
          <a:prstGeom prst="rect">
            <a:avLst/>
          </a:prstGeom>
        </p:spPr>
      </p:pic>
      <p:pic>
        <p:nvPicPr>
          <p:cNvPr id="6" name="Picture 5" descr="users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128" y="2194560"/>
            <a:ext cx="457200" cy="457200"/>
          </a:xfrm>
          <a:prstGeom prst="rect">
            <a:avLst/>
          </a:prstGeom>
        </p:spPr>
      </p:pic>
      <p:pic>
        <p:nvPicPr>
          <p:cNvPr id="7" name="Picture 6" descr="user-round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3512" y="2194560"/>
            <a:ext cx="457200" cy="457200"/>
          </a:xfrm>
          <a:prstGeom prst="rect">
            <a:avLst/>
          </a:prstGeom>
        </p:spPr>
      </p:pic>
      <p:pic>
        <p:nvPicPr>
          <p:cNvPr id="8" name="Picture 7" descr="search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9896" y="2194560"/>
            <a:ext cx="457200" cy="457200"/>
          </a:xfrm>
          <a:prstGeom prst="rect">
            <a:avLst/>
          </a:prstGeom>
        </p:spPr>
      </p:pic>
      <p:pic>
        <p:nvPicPr>
          <p:cNvPr id="9" name="Picture 8" descr="chart-line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2194560"/>
            <a:ext cx="457200" cy="457200"/>
          </a:xfrm>
          <a:prstGeom prst="rect">
            <a:avLst/>
          </a:prstGeom>
        </p:spPr>
      </p:pic>
      <p:pic>
        <p:nvPicPr>
          <p:cNvPr id="10" name="Picture 9" descr="target_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2664" y="2194560"/>
            <a:ext cx="457200" cy="457200"/>
          </a:xfrm>
          <a:prstGeom prst="rect">
            <a:avLst/>
          </a:prstGeom>
        </p:spPr>
      </p:pic>
      <p:pic>
        <p:nvPicPr>
          <p:cNvPr id="11" name="Picture 10" descr="compass_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9048" y="2194560"/>
            <a:ext cx="457200" cy="457200"/>
          </a:xfrm>
          <a:prstGeom prst="rect">
            <a:avLst/>
          </a:prstGeom>
        </p:spPr>
      </p:pic>
      <p:pic>
        <p:nvPicPr>
          <p:cNvPr id="12" name="Picture 11" descr="lightbulb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5432" y="2194560"/>
            <a:ext cx="457200" cy="457200"/>
          </a:xfrm>
          <a:prstGeom prst="rect">
            <a:avLst/>
          </a:prstGeom>
        </p:spPr>
      </p:pic>
      <p:pic>
        <p:nvPicPr>
          <p:cNvPr id="13" name="Picture 12" descr="layers_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1816" y="2194560"/>
            <a:ext cx="457200" cy="457200"/>
          </a:xfrm>
          <a:prstGeom prst="rect">
            <a:avLst/>
          </a:prstGeom>
        </p:spPr>
      </p:pic>
      <p:pic>
        <p:nvPicPr>
          <p:cNvPr id="14" name="Picture 13" descr="graduation-cap_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2194560"/>
            <a:ext cx="457200" cy="457200"/>
          </a:xfrm>
          <a:prstGeom prst="rect">
            <a:avLst/>
          </a:prstGeom>
        </p:spPr>
      </p:pic>
      <p:pic>
        <p:nvPicPr>
          <p:cNvPr id="15" name="Picture 14" descr="shield-check_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44584" y="2194560"/>
            <a:ext cx="457200" cy="457200"/>
          </a:xfrm>
          <a:prstGeom prst="rect">
            <a:avLst/>
          </a:prstGeom>
        </p:spPr>
      </p:pic>
      <p:pic>
        <p:nvPicPr>
          <p:cNvPr id="16" name="Picture 15" descr="globe_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4360" y="3063240"/>
            <a:ext cx="457200" cy="457200"/>
          </a:xfrm>
          <a:prstGeom prst="rect">
            <a:avLst/>
          </a:prstGeom>
        </p:spPr>
      </p:pic>
      <p:pic>
        <p:nvPicPr>
          <p:cNvPr id="17" name="Picture 16" descr="calendar_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80744" y="3063240"/>
            <a:ext cx="457200" cy="457200"/>
          </a:xfrm>
          <a:prstGeom prst="rect">
            <a:avLst/>
          </a:prstGeom>
        </p:spPr>
      </p:pic>
      <p:pic>
        <p:nvPicPr>
          <p:cNvPr id="18" name="Picture 17" descr="mail_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67128" y="3063240"/>
            <a:ext cx="457200" cy="457200"/>
          </a:xfrm>
          <a:prstGeom prst="rect">
            <a:avLst/>
          </a:prstGeom>
        </p:spPr>
      </p:pic>
      <p:pic>
        <p:nvPicPr>
          <p:cNvPr id="19" name="Picture 18" descr="phone_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53512" y="3063240"/>
            <a:ext cx="457200" cy="457200"/>
          </a:xfrm>
          <a:prstGeom prst="rect">
            <a:avLst/>
          </a:prstGeom>
        </p:spPr>
      </p:pic>
      <p:pic>
        <p:nvPicPr>
          <p:cNvPr id="20" name="Picture 19" descr="map-pin_p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39896" y="3063240"/>
            <a:ext cx="457200" cy="457200"/>
          </a:xfrm>
          <a:prstGeom prst="rect">
            <a:avLst/>
          </a:prstGeom>
        </p:spPr>
      </p:pic>
      <p:pic>
        <p:nvPicPr>
          <p:cNvPr id="21" name="Picture 20" descr="file-text_p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26280" y="3063240"/>
            <a:ext cx="457200" cy="457200"/>
          </a:xfrm>
          <a:prstGeom prst="rect">
            <a:avLst/>
          </a:prstGeom>
        </p:spPr>
      </p:pic>
      <p:pic>
        <p:nvPicPr>
          <p:cNvPr id="22" name="Picture 21" descr="pen-line_p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12664" y="3063240"/>
            <a:ext cx="457200" cy="457200"/>
          </a:xfrm>
          <a:prstGeom prst="rect">
            <a:avLst/>
          </a:prstGeom>
        </p:spPr>
      </p:pic>
      <p:pic>
        <p:nvPicPr>
          <p:cNvPr id="23" name="Picture 22" descr="mic_p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9048" y="3063240"/>
            <a:ext cx="457200" cy="457200"/>
          </a:xfrm>
          <a:prstGeom prst="rect">
            <a:avLst/>
          </a:prstGeom>
        </p:spPr>
      </p:pic>
      <p:pic>
        <p:nvPicPr>
          <p:cNvPr id="24" name="Picture 23" descr="award_p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85432" y="3063240"/>
            <a:ext cx="457200" cy="457200"/>
          </a:xfrm>
          <a:prstGeom prst="rect">
            <a:avLst/>
          </a:prstGeom>
        </p:spPr>
      </p:pic>
      <p:pic>
        <p:nvPicPr>
          <p:cNvPr id="25" name="Picture 24" descr="trending-up_p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71816" y="3063240"/>
            <a:ext cx="457200" cy="457200"/>
          </a:xfrm>
          <a:prstGeom prst="rect">
            <a:avLst/>
          </a:prstGeom>
        </p:spPr>
      </p:pic>
      <p:pic>
        <p:nvPicPr>
          <p:cNvPr id="26" name="Picture 25" descr="book-open_p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58200" y="3063240"/>
            <a:ext cx="457200" cy="457200"/>
          </a:xfrm>
          <a:prstGeom prst="rect">
            <a:avLst/>
          </a:prstGeom>
        </p:spPr>
      </p:pic>
      <p:pic>
        <p:nvPicPr>
          <p:cNvPr id="27" name="Picture 26" descr="briefcase_p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44584" y="3063240"/>
            <a:ext cx="457200" cy="4572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94360" y="4069080"/>
            <a:ext cx="11002975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2519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300">
                <a:solidFill>
                  <a:srgbClr val="6D4ABE"/>
                </a:solidFill>
                <a:latin typeface="Poppins"/>
              </a:rPr>
              <a:t>VARIANTES</a:t>
            </a:r>
          </a:p>
        </p:txBody>
      </p:sp>
      <p:pic>
        <p:nvPicPr>
          <p:cNvPr id="30" name="Picture 29" descr="users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617720"/>
            <a:ext cx="502920" cy="502920"/>
          </a:xfrm>
          <a:prstGeom prst="rect">
            <a:avLst/>
          </a:prstGeom>
        </p:spPr>
      </p:pic>
      <p:pic>
        <p:nvPicPr>
          <p:cNvPr id="31" name="Picture 30" descr="target_n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17320" y="4617720"/>
            <a:ext cx="502920" cy="502920"/>
          </a:xfrm>
          <a:prstGeom prst="rect">
            <a:avLst/>
          </a:prstGeom>
        </p:spPr>
      </p:pic>
      <p:pic>
        <p:nvPicPr>
          <p:cNvPr id="32" name="Picture 31" descr="disc_chart-lin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31720" y="4572000"/>
            <a:ext cx="594360" cy="594360"/>
          </a:xfrm>
          <a:prstGeom prst="rect">
            <a:avLst/>
          </a:prstGeom>
        </p:spPr>
      </p:pic>
      <p:pic>
        <p:nvPicPr>
          <p:cNvPr id="33" name="Picture 32" descr="disc_shield-check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46120" y="4572000"/>
            <a:ext cx="594360" cy="5943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60" y="53492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B6E80"/>
                </a:solidFill>
                <a:latin typeface="Poppins"/>
              </a:rPr>
              <a:t>Línea morada o azul noche sobre claro · ícono blanco en círculo morado sobre oscuro.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54496" y="4251960"/>
            <a:ext cx="5340096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4ABE"/>
                </a:solidFill>
                <a:latin typeface="Poppins"/>
              </a:rPr>
              <a:t>Reglas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Poppins"/>
              </a:rPr>
              <a:t>Un solo estilo: línea de grosor uniforme, esquinas redondeadas.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Poppins"/>
              </a:rPr>
              <a:t>Tamaño mínimo 0,35". Un ícono por idea, nunca decorativo.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Poppins"/>
              </a:rPr>
              <a:t>Sin íconos 3D, con degradado, ni metáforas cliché de IA.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SISTEMA VISUAL · DATOS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Gráficos y tablas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2148840"/>
          <a:ext cx="51206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5321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E80"/>
                </a:solidFill>
                <a:latin typeface="Poppins"/>
              </a:rPr>
              <a:t>Ejemplo con datos reales: PetroTal · Embajadores. Una sola serie en morado; sin ejes ni cuadrícula innecesarios.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4496" y="2148840"/>
          <a:ext cx="5340096" cy="2194560"/>
        </p:xfrm>
        <a:graphic>
          <a:graphicData uri="http://schemas.openxmlformats.org/drawingml/2006/table">
            <a:tbl>
              <a:tblPr firstRow="1" bandRow="0" firstCol="1">
                <a:tableStyleId>{8A3F2C11-5E1B-4C7A-9D2E-7A1B3C4D5E6F}</a:tableStyleId>
              </a:tblPr>
              <a:tblGrid>
                <a:gridCol w="1737360"/>
                <a:gridCol w="1828800"/>
                <a:gridCol w="1773936"/>
              </a:tblGrid>
              <a:tr h="548640">
                <a:tc>
                  <a:txBody>
                    <a:bodyPr/>
                    <a:lstStyle/>
                    <a:p>
                      <a:r>
                        <a:rPr sz="1000">
                          <a:latin typeface="Poppins"/>
                        </a:rPr>
                        <a:t>Frente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/>
                        </a:rPr>
                        <a:t>Consultoría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Poppins"/>
                        </a:rPr>
                        <a:t>Formación</a:t>
                      </a:r>
                    </a:p>
                  </a:txBody>
                  <a:tcPr marL="109728" marR="109728" anchor="ctr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latin typeface="Poppins"/>
                        </a:rPr>
                        <a:t>Reputación y liderazgo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Poppins"/>
                        </a:rPr>
                        <a:t>Marca Directiva y Corporativa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Poppins"/>
                        </a:rPr>
                        <a:t>Talleres de Marca Directiva</a:t>
                      </a:r>
                    </a:p>
                  </a:txBody>
                  <a:tcPr marL="109728" marR="109728" anchor="ctr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latin typeface="Poppins"/>
                        </a:rPr>
                        <a:t>Visibilidad digital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Poppins"/>
                        </a:rPr>
                        <a:t>Posicionamiento GEO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Poppins"/>
                        </a:rPr>
                        <a:t>Formación para periodistas</a:t>
                      </a:r>
                    </a:p>
                  </a:txBody>
                  <a:tcPr marL="109728" marR="109728" anchor="ctr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>
                          <a:latin typeface="Poppins"/>
                        </a:rPr>
                        <a:t>Adopción de IA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Poppins"/>
                        </a:rPr>
                        <a:t>Diagnóstico de madurez digital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Poppins"/>
                        </a:rPr>
                        <a:t>Taller IA Agéntica</a:t>
                      </a:r>
                    </a:p>
                  </a:txBody>
                  <a:tcPr marL="109728" marR="109728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54496" y="4572000"/>
            <a:ext cx="534009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6B6E80"/>
                </a:solidFill>
                <a:latin typeface="Poppins"/>
              </a:rPr>
              <a:t>Tabla: encabezado azul noche, líneas finas horizontales, primera columna en negrita. Sin bordes verticales ni rellenos alternos.</a:t>
            </a:r>
          </a:p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25283D"/>
                </a:solidFill>
                <a:latin typeface="Poppins"/>
              </a:rPr>
              <a:t>Paleta de gráficos (orden del tema): #6D4ABE · #C0B0F4 · #25283D · #8F72D6 · #D8D4EA · #6B6E80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/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Catálogo de diseños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Un ejemplo por diseño. Duplica el que necesites o créalo desde Nueva diapositiva.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CREDENCIALES ·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Consultora Estratégica de Comunicación Digital, potenciada con Inteligencia Artificial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Reputación y liderazgo · Visibilidad y presencia digital · Adopción y capacidades de IA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www.verne.la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2.jpg"/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l="22501" r="22501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FORMACIÓN · 2026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Habilitamos a tu equipo para que trabaje con IA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Temario y casos a medida para cada empresa.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Propuesta · Cliente · Fecha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/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Visibilidad y presencia digital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Logramos que te encuentren, citen y recomienden en buscadores, IA y medios.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QUIÉNES SOMOS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El nexo entre la comunicación y la 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La comunicación estratégica ya no vive solo en los medios. Hoy se juega en tres frentes: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lvl="1"/>
            <a:r>
              <a:t>Reputación y liderazgo</a:t>
            </a:r>
          </a:p>
          <a:p>
            <a:pPr lvl="1"/>
            <a:r>
              <a:t>Visibilidad y presencia digital</a:t>
            </a:r>
          </a:p>
          <a:p>
            <a:pPr lvl="1"/>
            <a:r>
              <a:t>Adopción y capacidades de IA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34.jpg"/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t="22874" b="22874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REPUTACIÓN Y LIDERAZGO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Marca Corporativa y Marca Directiva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Construimos la marca de tu empresa a través de la voz de sus líderes.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/>
            <a:r>
              <a:t>Los líderes cambian, la marca permanece.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/>
            <a:r>
              <a:t>Diagnóstico · Estrategia · Gestión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35.jpg"/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t="15019" b="15019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REPUTACIÓN Y LIDERAZGO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Embajadores Digitales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Amplificamos la comunicación corporativa a través de tus colaboradores.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lvl="1"/>
            <a:r>
              <a:t>Estrategia: seleccionamos y activamos embajadores alineados a los objetivos de la marca.</a:t>
            </a:r>
          </a:p>
          <a:p>
            <a:pPr lvl="1"/>
            <a:r>
              <a:t>Acompañamiento: buenas prácticas, benchmark y co-creación de contenidos.</a:t>
            </a:r>
          </a:p>
          <a:p>
            <a:pPr lvl="1"/>
            <a:r>
              <a:t>Medición: informe mensual de desempeño, con Data Pulse.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2.jpg"/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l="1" r="1"/>
          <a:stretch>
            <a:fillRect/>
          </a:stretch>
        </p:blipFill>
        <p:spPr/>
      </p:pic>
      <p:pic>
        <p:nvPicPr>
          <p:cNvPr id="6" name="Picture 5" descr="fade_le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REPUTACIÓN Y LIDERAZGO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Los líderes cambian, la marca permanece.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Construimos la marca de tu empresa a través de la voz de sus líderes.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NUESTRA POSTURA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Ni solo tecnología ni solo comunicación tradicional.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El nexo entre la comunicación y la IA.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QUIÉNES SOMOS · FRENTE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Visibilidad y presencia digital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/>
            <a:r>
              <a:t>70%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/>
            <a:r>
              <a:t>de los consumidores peruanos usa IA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/>
            <a:r>
              <a:t>para informarse antes de comprar o contratar.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/>
            <a:r>
              <a:t>Fuente: Impronta Research, ago 2025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REPUTACIÓN Y LIDERAZGO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Marca Corporativa y Marca Directiva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Construimos la marca de tu empresa a través de la voz de sus líderes.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pPr/>
            <a:r>
              <a:t>Marca Corporativa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/>
            <a:r>
              <a:t>La reputación y credibilidad de la empresa en el ecosistema digital. Es lo que permanece.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pPr/>
            <a:r>
              <a:t>Marca Directiva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pPr/>
            <a:r>
              <a:t>Tus C-level, directivos y voceros dan rostro y voz a esa narrativa. Es lo que la amplifica.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EMBAJADORES DIGITALES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Cómo trabajamos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Amplificamos la comunicación corporativa a través de tus colaboradores.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pPr/>
            <a:r>
              <a:t>01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33"/>
          </p:nvPr>
        </p:nvSpPr>
        <p:spPr/>
        <p:txBody>
          <a:bodyPr/>
          <a:lstStyle/>
          <a:p>
            <a:pPr/>
            <a:r>
              <a:t>Estrategia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36"/>
          </p:nvPr>
        </p:nvSpPr>
        <p:spPr/>
        <p:txBody>
          <a:bodyPr/>
          <a:lstStyle/>
          <a:p>
            <a:pPr/>
            <a:r>
              <a:t>Seleccionamos y activamos embajadores alineados a los objetivos de la marca.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31"/>
          </p:nvPr>
        </p:nvSpPr>
        <p:spPr/>
        <p:txBody>
          <a:bodyPr/>
          <a:lstStyle/>
          <a:p>
            <a:pPr/>
            <a:r>
              <a:t>02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pPr/>
            <a:r>
              <a:t>Acompañamiento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37"/>
          </p:nvPr>
        </p:nvSpPr>
        <p:spPr/>
        <p:txBody>
          <a:bodyPr/>
          <a:lstStyle/>
          <a:p>
            <a:pPr/>
            <a:r>
              <a:t>Buenas prácticas, benchmark y co-creación de contenidos, con soporte continuo.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32"/>
          </p:nvPr>
        </p:nvSpPr>
        <p:spPr/>
        <p:txBody>
          <a:bodyPr/>
          <a:lstStyle/>
          <a:p>
            <a:pPr/>
            <a:r>
              <a:t>03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35"/>
          </p:nvPr>
        </p:nvSpPr>
        <p:spPr/>
        <p:txBody>
          <a:bodyPr/>
          <a:lstStyle/>
          <a:p>
            <a:pPr/>
            <a:r>
              <a:t>Medición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38"/>
          </p:nvPr>
        </p:nvSpPr>
        <p:spPr/>
        <p:txBody>
          <a:bodyPr/>
          <a:lstStyle/>
          <a:p>
            <a:pPr/>
            <a:r>
              <a:t>Data pública, matriz de evaluación e informe mensual de desempeño, con Data Pulse.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QUÉ HACEMOS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Nuestros servicios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0"/>
          </p:nvPr>
        </p:nvSpPr>
        <p:spPr/>
        <p:txBody>
          <a:bodyPr/>
          <a:lstStyle/>
          <a:p>
            <a:pPr/>
            <a:r>
              <a:t>CONSULTORÍA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1"/>
          </p:nvPr>
        </p:nvSpPr>
        <p:spPr/>
        <p:txBody>
          <a:bodyPr/>
          <a:lstStyle/>
          <a:p>
            <a:pPr/>
            <a:r>
              <a:t>Lo hacemos por ti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2"/>
          </p:nvPr>
        </p:nvSpPr>
        <p:spPr/>
        <p:txBody>
          <a:bodyPr/>
          <a:lstStyle/>
          <a:p>
            <a:pPr lvl="1"/>
            <a:r>
              <a:t>Marca Directiva y Corporativa</a:t>
            </a:r>
          </a:p>
          <a:p>
            <a:pPr lvl="1"/>
            <a:r>
              <a:t>Posicionamiento GEO</a:t>
            </a:r>
          </a:p>
          <a:p>
            <a:pPr lvl="1"/>
            <a:r>
              <a:t>Diagnóstico de madurez digital</a:t>
            </a:r>
          </a:p>
          <a:p>
            <a:pPr lvl="1"/>
            <a:r>
              <a:t>Agentic AI Studio · GEO Rank · Data Pulse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43"/>
          </p:nvPr>
        </p:nvSpPr>
        <p:spPr/>
        <p:txBody>
          <a:bodyPr/>
          <a:lstStyle/>
          <a:p>
            <a:pPr/>
            <a:r>
              <a:t>FORMACIÓN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44"/>
          </p:nvPr>
        </p:nvSpPr>
        <p:spPr/>
        <p:txBody>
          <a:bodyPr/>
          <a:lstStyle/>
          <a:p>
            <a:pPr/>
            <a:r>
              <a:t>Habilitamos a tu equipo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pPr lvl="1"/>
            <a:r>
              <a:t>Talleres de Marca Directiva y Embajadores</a:t>
            </a:r>
          </a:p>
          <a:p>
            <a:pPr lvl="1"/>
            <a:r>
              <a:t>Formación para periodistas</a:t>
            </a:r>
          </a:p>
          <a:p>
            <a:pPr lvl="1"/>
            <a:r>
              <a:t>Talleres de IA, data y automatización</a:t>
            </a:r>
          </a:p>
          <a:p>
            <a:pPr lvl="1"/>
            <a:r>
              <a:t>Claude AI para empresas · Taller IA Agéntica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REPUTACIÓN Y LIDERAZGO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Marca Corporativa y Directiva: el método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Para que el mensaje sea de la empresa y no dependa de una sola persona.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50"/>
          </p:nvPr>
        </p:nvSpPr>
        <p:spPr/>
        <p:txBody>
          <a:bodyPr/>
          <a:lstStyle/>
          <a:p>
            <a:pPr/>
            <a:r>
              <a:t>01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54"/>
          </p:nvPr>
        </p:nvSpPr>
        <p:spPr/>
        <p:txBody>
          <a:bodyPr/>
          <a:lstStyle/>
          <a:p>
            <a:pPr/>
            <a:r>
              <a:t>Diagnóstico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58"/>
          </p:nvPr>
        </p:nvSpPr>
        <p:spPr/>
        <p:txBody>
          <a:bodyPr/>
          <a:lstStyle/>
          <a:p>
            <a:pPr/>
            <a:r>
              <a:t>Analizamos la presencia digital de la empresa y de sus directivos, y la comparamos con la de sus pares.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51"/>
          </p:nvPr>
        </p:nvSpPr>
        <p:spPr/>
        <p:txBody>
          <a:bodyPr/>
          <a:lstStyle/>
          <a:p>
            <a:pPr/>
            <a:r>
              <a:t>02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55"/>
          </p:nvPr>
        </p:nvSpPr>
        <p:spPr/>
        <p:txBody>
          <a:bodyPr/>
          <a:lstStyle/>
          <a:p>
            <a:pPr/>
            <a:r>
              <a:t>Estrategia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59"/>
          </p:nvPr>
        </p:nvSpPr>
        <p:spPr/>
        <p:txBody>
          <a:bodyPr/>
          <a:lstStyle/>
          <a:p>
            <a:pPr/>
            <a:r>
              <a:t>Definimos la narrativa corporativa, los ejes de contenido y el rol de cada vocero.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52"/>
          </p:nvPr>
        </p:nvSpPr>
        <p:spPr/>
        <p:txBody>
          <a:bodyPr/>
          <a:lstStyle/>
          <a:p>
            <a:pPr/>
            <a:r>
              <a:t>03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56"/>
          </p:nvPr>
        </p:nvSpPr>
        <p:spPr/>
        <p:txBody>
          <a:bodyPr/>
          <a:lstStyle/>
          <a:p>
            <a:pPr/>
            <a:r>
              <a:t>Gestión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60"/>
          </p:nvPr>
        </p:nvSpPr>
        <p:spPr/>
        <p:txBody>
          <a:bodyPr/>
          <a:lstStyle/>
          <a:p>
            <a:pPr/>
            <a:r>
              <a:t>Creamos contenidos, acompañamos a los voceros y medimos el desempeño.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POSICIONAMIENTO GEO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Un plan de 90 días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Logramos que la IA cite y recomiende a tu marca.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70"/>
          </p:nvPr>
        </p:nvSpPr>
        <p:spPr/>
        <p:txBody>
          <a:bodyPr/>
          <a:lstStyle/>
          <a:p>
            <a:pPr/>
            <a:r>
              <a:t>Días 1–15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75"/>
          </p:nvPr>
        </p:nvSpPr>
        <p:spPr/>
        <p:txBody>
          <a:bodyPr/>
          <a:lstStyle/>
          <a:p>
            <a:pPr/>
            <a:r>
              <a:t>Diagnóstico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80"/>
          </p:nvPr>
        </p:nvSpPr>
        <p:spPr/>
        <p:txBody>
          <a:bodyPr/>
          <a:lstStyle/>
          <a:p>
            <a:pPr/>
            <a:r>
              <a:t>Cómo aparece tu marca frente a la competencia, con brechas y oportunidades.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71"/>
          </p:nvPr>
        </p:nvSpPr>
        <p:spPr/>
        <p:txBody>
          <a:bodyPr/>
          <a:lstStyle/>
          <a:p>
            <a:pPr/>
            <a:r>
              <a:t>Días 16–30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76"/>
          </p:nvPr>
        </p:nvSpPr>
        <p:spPr/>
        <p:txBody>
          <a:bodyPr/>
          <a:lstStyle/>
          <a:p>
            <a:pPr/>
            <a:r>
              <a:t>Estrategia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81"/>
          </p:nvPr>
        </p:nvSpPr>
        <p:spPr/>
        <p:txBody>
          <a:bodyPr/>
          <a:lstStyle/>
          <a:p>
            <a:pPr/>
            <a:r>
              <a:t>Narrativas, arquitectura de contenidos y recorrido del usuario en la IA.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72"/>
          </p:nvPr>
        </p:nvSpPr>
        <p:spPr/>
        <p:txBody>
          <a:bodyPr/>
          <a:lstStyle/>
          <a:p>
            <a:pPr/>
            <a:r>
              <a:t>Días 31–90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77"/>
          </p:nvPr>
        </p:nvSpPr>
        <p:spPr/>
        <p:txBody>
          <a:bodyPr/>
          <a:lstStyle/>
          <a:p>
            <a:pPr/>
            <a:r>
              <a:t>Implementación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82"/>
          </p:nvPr>
        </p:nvSpPr>
        <p:spPr/>
        <p:txBody>
          <a:bodyPr/>
          <a:lstStyle/>
          <a:p>
            <a:pPr/>
            <a:r>
              <a:t>Parrilla GEO, producción de contenidos y verificación de citación.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73"/>
          </p:nvPr>
        </p:nvSpPr>
        <p:spPr/>
        <p:txBody>
          <a:bodyPr/>
          <a:lstStyle/>
          <a:p>
            <a:pPr/>
            <a:r>
              <a:t>Día 90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78"/>
          </p:nvPr>
        </p:nvSpPr>
        <p:spPr/>
        <p:txBody>
          <a:bodyPr/>
          <a:lstStyle/>
          <a:p>
            <a:pPr/>
            <a:r>
              <a:t>Resultados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83"/>
          </p:nvPr>
        </p:nvSpPr>
        <p:spPr/>
        <p:txBody>
          <a:bodyPr/>
          <a:lstStyle/>
          <a:p>
            <a:pPr/>
            <a:r>
              <a:t>Medibles en visibilidad, posición, citaciones y share of voice en IA.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REPUTACIÓN Y LIDERAZGO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La marca, del centro hacia afuera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Cada capa amplifica a la anterior.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lvl="1"/>
            <a:r>
              <a:t>Marca Corporativa: lo que permanece.</a:t>
            </a:r>
          </a:p>
          <a:p>
            <a:pPr lvl="1"/>
            <a:r>
              <a:t>Marca Directiva: lo que la amplifica.</a:t>
            </a:r>
          </a:p>
          <a:p>
            <a:pPr lvl="1"/>
            <a:r>
              <a:t>Embajadores: la voz más genuina de la marca.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90"/>
          </p:nvPr>
        </p:nvSpPr>
        <p:spPr/>
        <p:txBody>
          <a:bodyPr/>
          <a:lstStyle/>
          <a:p>
            <a:pPr/>
            <a:r>
              <a:t>Marca Corporativa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91"/>
          </p:nvPr>
        </p:nvSpPr>
        <p:spPr/>
        <p:txBody>
          <a:bodyPr/>
          <a:lstStyle/>
          <a:p>
            <a:pPr/>
            <a:r>
              <a:t>Marca Directiva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92"/>
          </p:nvPr>
        </p:nvSpPr>
        <p:spPr/>
        <p:txBody>
          <a:bodyPr/>
          <a:lstStyle/>
          <a:p>
            <a:pPr/>
            <a:r>
              <a:t>Embajadores digitales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ADOPCIÓN Y CAPACIDADES DE 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Nuestras cuatro soluciones de Inteligencia Artificial</a:t>
            </a:r>
          </a:p>
        </p:txBody>
      </p:sp>
      <p:pic>
        <p:nvPicPr>
          <p:cNvPr id="4" name="Picture Placeholder 3" descr="disc_pen-line.png"/>
          <p:cNvPicPr>
            <a:picLocks noGrp="1" noChangeAspect="1"/>
          </p:cNvPicPr>
          <p:nvPr>
            <p:ph type="pic" idx="100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5" name="Content Placeholder 4"/>
          <p:cNvSpPr>
            <a:spLocks noGrp="1"/>
          </p:cNvSpPr>
          <p:nvPr>
            <p:ph idx="104"/>
          </p:nvPr>
        </p:nvSpPr>
        <p:spPr/>
        <p:txBody>
          <a:bodyPr/>
          <a:lstStyle/>
          <a:p>
            <a:pPr/>
            <a:r>
              <a:t>Agentic AI Studio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08"/>
          </p:nvPr>
        </p:nvSpPr>
        <p:spPr/>
        <p:txBody>
          <a:bodyPr/>
          <a:lstStyle/>
          <a:p>
            <a:pPr/>
            <a:r>
              <a:t>Estudio de contenidos con agentes de IA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12"/>
          </p:nvPr>
        </p:nvSpPr>
        <p:spPr/>
        <p:txBody>
          <a:bodyPr/>
          <a:lstStyle/>
          <a:p>
            <a:pPr/>
            <a:r>
              <a:t>Desde el ADN de tu marca, los agentes crean piezas multiformato listas para aprobar en minutos.</a:t>
            </a:r>
          </a:p>
        </p:txBody>
      </p:sp>
      <p:pic>
        <p:nvPicPr>
          <p:cNvPr id="8" name="Picture Placeholder 7" descr="disc_shield-check.png"/>
          <p:cNvPicPr>
            <a:picLocks noGrp="1" noChangeAspect="1"/>
          </p:cNvPicPr>
          <p:nvPr>
            <p:ph type="pic" idx="101"/>
          </p:nvPr>
        </p:nvPicPr>
        <p:blipFill>
          <a:blip r:embed="rId4"/>
          <a:srcRect/>
          <a:stretch>
            <a:fillRect/>
          </a:stretch>
        </p:blipFill>
        <p:spPr/>
      </p:pic>
      <p:sp>
        <p:nvSpPr>
          <p:cNvPr id="9" name="Content Placeholder 8"/>
          <p:cNvSpPr>
            <a:spLocks noGrp="1"/>
          </p:cNvSpPr>
          <p:nvPr>
            <p:ph idx="105"/>
          </p:nvPr>
        </p:nvSpPr>
        <p:spPr/>
        <p:txBody>
          <a:bodyPr/>
          <a:lstStyle/>
          <a:p>
            <a:pPr/>
            <a:r>
              <a:t>Agentic AI Reputation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09"/>
          </p:nvPr>
        </p:nvSpPr>
        <p:spPr/>
        <p:txBody>
          <a:bodyPr/>
          <a:lstStyle/>
          <a:p>
            <a:pPr/>
            <a:r>
              <a:t>Consultor de reputación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13"/>
          </p:nvPr>
        </p:nvSpPr>
        <p:spPr/>
        <p:txBody>
          <a:bodyPr/>
          <a:lstStyle/>
          <a:p>
            <a:pPr/>
            <a:r>
              <a:t>Asesora ante cualquier situación que afecte tu reputación.</a:t>
            </a:r>
          </a:p>
        </p:txBody>
      </p:sp>
      <p:pic>
        <p:nvPicPr>
          <p:cNvPr id="12" name="Picture Placeholder 11" descr="disc_search.png"/>
          <p:cNvPicPr>
            <a:picLocks noGrp="1" noChangeAspect="1"/>
          </p:cNvPicPr>
          <p:nvPr>
            <p:ph type="pic" idx="102"/>
          </p:nvPr>
        </p:nvPicPr>
        <p:blipFill>
          <a:blip r:embed="rId5"/>
          <a:srcRect/>
          <a:stretch>
            <a:fillRect/>
          </a:stretch>
        </p:blipFill>
        <p:spPr/>
      </p:pic>
      <p:sp>
        <p:nvSpPr>
          <p:cNvPr id="13" name="Content Placeholder 12"/>
          <p:cNvSpPr>
            <a:spLocks noGrp="1"/>
          </p:cNvSpPr>
          <p:nvPr>
            <p:ph idx="106"/>
          </p:nvPr>
        </p:nvSpPr>
        <p:spPr/>
        <p:txBody>
          <a:bodyPr/>
          <a:lstStyle/>
          <a:p>
            <a:pPr/>
            <a:r>
              <a:t>GEO Rank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10"/>
          </p:nvPr>
        </p:nvSpPr>
        <p:spPr/>
        <p:txBody>
          <a:bodyPr/>
          <a:lstStyle/>
          <a:p>
            <a:pPr/>
            <a:r>
              <a:t>Plataforma de monitoreo GEO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14"/>
          </p:nvPr>
        </p:nvSpPr>
        <p:spPr/>
        <p:txBody>
          <a:bodyPr/>
          <a:lstStyle/>
          <a:p>
            <a:pPr/>
            <a:r>
              <a:t>Mide la visibilidad, las citas y la veracidad de tu marca en las IAs.</a:t>
            </a:r>
          </a:p>
        </p:txBody>
      </p:sp>
      <p:pic>
        <p:nvPicPr>
          <p:cNvPr id="16" name="Picture Placeholder 15" descr="disc_chart-column.png"/>
          <p:cNvPicPr>
            <a:picLocks noGrp="1" noChangeAspect="1"/>
          </p:cNvPicPr>
          <p:nvPr>
            <p:ph type="pic" idx="103"/>
          </p:nvPr>
        </p:nvPicPr>
        <p:blipFill>
          <a:blip r:embed="rId6"/>
          <a:srcRect/>
          <a:stretch>
            <a:fillRect/>
          </a:stretch>
        </p:blipFill>
        <p:spPr/>
      </p:pic>
      <p:sp>
        <p:nvSpPr>
          <p:cNvPr id="17" name="Content Placeholder 16"/>
          <p:cNvSpPr>
            <a:spLocks noGrp="1"/>
          </p:cNvSpPr>
          <p:nvPr>
            <p:ph idx="107"/>
          </p:nvPr>
        </p:nvSpPr>
        <p:spPr/>
        <p:txBody>
          <a:bodyPr/>
          <a:lstStyle/>
          <a:p>
            <a:pPr/>
            <a:r>
              <a:t>Data Pulse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idx="111"/>
          </p:nvPr>
        </p:nvSpPr>
        <p:spPr/>
        <p:txBody>
          <a:bodyPr/>
          <a:lstStyle/>
          <a:p>
            <a:pPr/>
            <a:r>
              <a:t>Tracking de embajadores digitales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15"/>
          </p:nvPr>
        </p:nvSpPr>
        <p:spPr/>
        <p:txBody>
          <a:bodyPr/>
          <a:lstStyle/>
          <a:p>
            <a:pPr/>
            <a:r>
              <a:t>Mide el desempeño de tus embajadores y convierte la data en acciones.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35.jpg"/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t="33279" b="33279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CASO · REPUTACIÓN Y LIDERAZGO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PetroTal · Embajadores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Amplificamos la comunicación corporativa a través de sus colaboradores.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/>
            <a:r>
              <a:t>Estrategia, acompañamiento y medición con Data Pulse.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20"/>
          </p:nvPr>
        </p:nvSpPr>
        <p:spPr/>
        <p:txBody>
          <a:bodyPr/>
          <a:lstStyle/>
          <a:p>
            <a:pPr/>
            <a:r>
              <a:t>+180%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23"/>
          </p:nvPr>
        </p:nvSpPr>
        <p:spPr/>
        <p:txBody>
          <a:bodyPr/>
          <a:lstStyle/>
          <a:p>
            <a:pPr/>
            <a:r>
              <a:t>interacciones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21"/>
          </p:nvPr>
        </p:nvSpPr>
        <p:spPr/>
        <p:txBody>
          <a:bodyPr/>
          <a:lstStyle/>
          <a:p>
            <a:pPr/>
            <a:r>
              <a:t>+256%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24"/>
          </p:nvPr>
        </p:nvSpPr>
        <p:spPr/>
        <p:txBody>
          <a:bodyPr/>
          <a:lstStyle/>
          <a:p>
            <a:pPr/>
            <a:r>
              <a:t>publicaciones propias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22"/>
          </p:nvPr>
        </p:nvSpPr>
        <p:spPr/>
        <p:txBody>
          <a:bodyPr/>
          <a:lstStyle/>
          <a:p>
            <a:pPr/>
            <a:r>
              <a:t>+13%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25"/>
          </p:nvPr>
        </p:nvSpPr>
        <p:spPr/>
        <p:txBody>
          <a:bodyPr/>
          <a:lstStyle/>
          <a:p>
            <a:pPr/>
            <a:r>
              <a:t>seguidores (+6,365)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CON QUIÉNES TRABAJAMOS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Confían en nosotros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Empresas líderes de sectores regulados y competitivos.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30"/>
          </p:nvPr>
        </p:nvSpPr>
        <p:spPr/>
        <p:txBody>
          <a:bodyPr/>
          <a:lstStyle/>
          <a:p>
            <a:pPr/>
            <a:r>
              <a:t>Energía, Minería e Hidrocarburos</a:t>
            </a:r>
          </a:p>
        </p:txBody>
      </p:sp>
      <p:pic>
        <p:nvPicPr>
          <p:cNvPr id="23" name="Picture 2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95463"/>
            <a:ext cx="1176467" cy="249553"/>
          </a:xfrm>
          <a:prstGeom prst="rect">
            <a:avLst/>
          </a:prstGeom>
        </p:spPr>
      </p:pic>
      <p:pic>
        <p:nvPicPr>
          <p:cNvPr id="24" name="Picture 23" descr="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4187" y="1799001"/>
            <a:ext cx="1176467" cy="242477"/>
          </a:xfrm>
          <a:prstGeom prst="rect">
            <a:avLst/>
          </a:prstGeom>
        </p:spPr>
      </p:pic>
      <p:pic>
        <p:nvPicPr>
          <p:cNvPr id="25" name="Picture 24" descr="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4974" y="1732005"/>
            <a:ext cx="1176467" cy="376469"/>
          </a:xfrm>
          <a:prstGeom prst="rect">
            <a:avLst/>
          </a:prstGeom>
        </p:spPr>
      </p:pic>
      <p:pic>
        <p:nvPicPr>
          <p:cNvPr id="26" name="Picture 25" descr="imag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409" y="1728216"/>
            <a:ext cx="1099171" cy="384047"/>
          </a:xfrm>
          <a:prstGeom prst="rect">
            <a:avLst/>
          </a:prstGeom>
        </p:spPr>
      </p:pic>
      <p:pic>
        <p:nvPicPr>
          <p:cNvPr id="27" name="Picture 26" descr="image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4054" y="1728216"/>
            <a:ext cx="981455" cy="384047"/>
          </a:xfrm>
          <a:prstGeom prst="rect">
            <a:avLst/>
          </a:prstGeom>
        </p:spPr>
      </p:pic>
      <p:sp>
        <p:nvSpPr>
          <p:cNvPr id="11" name="Content Placeholder 10"/>
          <p:cNvSpPr>
            <a:spLocks noGrp="1"/>
          </p:cNvSpPr>
          <p:nvPr>
            <p:ph idx="131"/>
          </p:nvPr>
        </p:nvSpPr>
        <p:spPr/>
        <p:txBody>
          <a:bodyPr/>
          <a:lstStyle/>
          <a:p>
            <a:pPr/>
            <a:r>
              <a:t>Banca y Servicios Financieros</a:t>
            </a:r>
          </a:p>
        </p:txBody>
      </p:sp>
      <p:pic>
        <p:nvPicPr>
          <p:cNvPr id="28" name="Picture 27" descr="imag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3500148"/>
            <a:ext cx="1176467" cy="223463"/>
          </a:xfrm>
          <a:prstGeom prst="rect">
            <a:avLst/>
          </a:prstGeom>
        </p:spPr>
      </p:pic>
      <p:pic>
        <p:nvPicPr>
          <p:cNvPr id="29" name="Picture 28" descr="image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4187" y="3471406"/>
            <a:ext cx="1176467" cy="280947"/>
          </a:xfrm>
          <a:prstGeom prst="rect">
            <a:avLst/>
          </a:prstGeom>
        </p:spPr>
      </p:pic>
      <p:pic>
        <p:nvPicPr>
          <p:cNvPr id="30" name="Picture 29" descr="image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4974" y="3469565"/>
            <a:ext cx="1176467" cy="284629"/>
          </a:xfrm>
          <a:prstGeom prst="rect">
            <a:avLst/>
          </a:prstGeom>
        </p:spPr>
      </p:pic>
      <p:pic>
        <p:nvPicPr>
          <p:cNvPr id="31" name="Picture 30" descr="image1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95761" y="3479741"/>
            <a:ext cx="1176467" cy="264278"/>
          </a:xfrm>
          <a:prstGeom prst="rect">
            <a:avLst/>
          </a:prstGeom>
        </p:spPr>
      </p:pic>
      <p:pic>
        <p:nvPicPr>
          <p:cNvPr id="32" name="Picture 31" descr="image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46548" y="3504928"/>
            <a:ext cx="1176467" cy="213903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idx="132"/>
          </p:nvPr>
        </p:nvSpPr>
        <p:spPr/>
        <p:txBody>
          <a:bodyPr/>
          <a:lstStyle/>
          <a:p>
            <a:pPr/>
            <a:r>
              <a:t>Consumo, Retail e Industria</a:t>
            </a:r>
          </a:p>
        </p:txBody>
      </p:sp>
      <p:pic>
        <p:nvPicPr>
          <p:cNvPr id="33" name="Picture 32" descr="image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5210006"/>
            <a:ext cx="1176467" cy="187028"/>
          </a:xfrm>
          <a:prstGeom prst="rect">
            <a:avLst/>
          </a:prstGeom>
        </p:spPr>
      </p:pic>
      <p:pic>
        <p:nvPicPr>
          <p:cNvPr id="34" name="Picture 33" descr="image2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42949" y="5111496"/>
            <a:ext cx="678942" cy="384048"/>
          </a:xfrm>
          <a:prstGeom prst="rect">
            <a:avLst/>
          </a:prstGeom>
        </p:spPr>
      </p:pic>
      <p:pic>
        <p:nvPicPr>
          <p:cNvPr id="35" name="Picture 34" descr="image2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44974" y="5155559"/>
            <a:ext cx="1176467" cy="295921"/>
          </a:xfrm>
          <a:prstGeom prst="rect">
            <a:avLst/>
          </a:prstGeom>
        </p:spPr>
      </p:pic>
      <p:pic>
        <p:nvPicPr>
          <p:cNvPr id="36" name="Picture 35" descr="image2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5761" y="5213023"/>
            <a:ext cx="1176467" cy="18099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EQUIPO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Nosotros te acompañamos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Potenciamos la comunicación digital en empresas, mejorando el posicionamiento y reputación de directivos y equipos.</a:t>
            </a:r>
          </a:p>
        </p:txBody>
      </p:sp>
      <p:pic>
        <p:nvPicPr>
          <p:cNvPr id="5" name="Picture Placeholder 4" descr="image51.png"/>
          <p:cNvPicPr>
            <a:picLocks noGrp="1" noChangeAspect="1"/>
          </p:cNvPicPr>
          <p:nvPr>
            <p:ph type="pic" idx="160"/>
          </p:nvPr>
        </p:nvPicPr>
        <p:blipFill>
          <a:blip r:embed="rId3"/>
          <a:srcRect l="103" r="103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63"/>
          </p:nvPr>
        </p:nvSpPr>
        <p:spPr/>
        <p:txBody>
          <a:bodyPr/>
          <a:lstStyle/>
          <a:p>
            <a:pPr/>
            <a:r>
              <a:t>Víctor Lozano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66"/>
          </p:nvPr>
        </p:nvSpPr>
        <p:spPr/>
        <p:txBody>
          <a:bodyPr/>
          <a:lstStyle/>
          <a:p>
            <a:pPr/>
            <a:r>
              <a:t>DIRECTOR DE INNOVACIÓN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69"/>
          </p:nvPr>
        </p:nvSpPr>
        <p:spPr/>
        <p:txBody>
          <a:bodyPr/>
          <a:lstStyle/>
          <a:p>
            <a:pPr/>
            <a:r>
              <a:t>+20 años de experiencia en Investigación de Mercados, Marketing Digital, Gestión de Marcas Directivas y Reputación.</a:t>
            </a:r>
          </a:p>
        </p:txBody>
      </p:sp>
      <p:pic>
        <p:nvPicPr>
          <p:cNvPr id="9" name="Picture Placeholder 8" descr="image55.png"/>
          <p:cNvPicPr>
            <a:picLocks noGrp="1" noChangeAspect="1"/>
          </p:cNvPicPr>
          <p:nvPr>
            <p:ph type="pic" idx="161"/>
          </p:nvPr>
        </p:nvPicPr>
        <p:blipFill>
          <a:blip r:embed="rId4"/>
          <a:srcRect/>
          <a:stretch>
            <a:fillRect/>
          </a:stretch>
        </p:blipFill>
        <p:spPr/>
      </p:pic>
      <p:sp>
        <p:nvSpPr>
          <p:cNvPr id="10" name="Content Placeholder 9"/>
          <p:cNvSpPr>
            <a:spLocks noGrp="1"/>
          </p:cNvSpPr>
          <p:nvPr>
            <p:ph idx="164"/>
          </p:nvPr>
        </p:nvSpPr>
        <p:spPr/>
        <p:txBody>
          <a:bodyPr/>
          <a:lstStyle/>
          <a:p>
            <a:pPr/>
            <a:r>
              <a:t>Julio Talledo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67"/>
          </p:nvPr>
        </p:nvSpPr>
        <p:spPr/>
        <p:txBody>
          <a:bodyPr/>
          <a:lstStyle/>
          <a:p>
            <a:pPr/>
            <a:r>
              <a:t>DIRECTOR COMERCIAL &amp; MARKETING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70"/>
          </p:nvPr>
        </p:nvSpPr>
        <p:spPr/>
        <p:txBody>
          <a:bodyPr/>
          <a:lstStyle/>
          <a:p>
            <a:pPr/>
            <a:r>
              <a:t>Especialista en Marketing e Inteligencia Artificial Generativa. Docente de IA Generativa en UDEP, CENTRUM PUCP, UPC y USIL.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70"/>
          </p:nvPr>
        </p:nvSpPr>
        <p:spPr/>
        <p:txBody>
          <a:bodyPr/>
          <a:lstStyle/>
          <a:p>
            <a:pPr/>
            <a:r>
              <a:t>Los líderes cambian, la marca permanece.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2"/>
          </p:nvPr>
        </p:nvSpPr>
        <p:spPr>
          <a:xfrm>
            <a:off x="594360" y="5029200"/>
            <a:ext cx="6400800" cy="365760"/>
          </a:xfrm>
        </p:spPr>
        <p:txBody>
          <a:bodyPr/>
          <a:lstStyle/>
          <a:p>
            <a:pPr/>
            <a:r>
              <a:t>VERNE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73"/>
          </p:nvPr>
        </p:nvSpPr>
        <p:spPr>
          <a:xfrm>
            <a:off x="594360" y="5413248"/>
            <a:ext cx="6400800" cy="274320"/>
          </a:xfrm>
        </p:spPr>
        <p:txBody>
          <a:bodyPr/>
          <a:lstStyle/>
          <a:p>
            <a:pPr/>
            <a:r>
              <a:t>Comunicación e Innovación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CASO · MARCA DIRECTIVA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Enel Perú · Marca Directiva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Resultados medidos con nuestros clientes.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0"/>
          </p:nvPr>
        </p:nvSpPr>
        <p:spPr/>
        <p:txBody>
          <a:bodyPr/>
          <a:lstStyle/>
          <a:p>
            <a:pPr/>
            <a:r>
              <a:t>+2 pts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84"/>
          </p:nvPr>
        </p:nvSpPr>
        <p:spPr/>
        <p:txBody>
          <a:bodyPr/>
          <a:lstStyle/>
          <a:p>
            <a:pPr/>
            <a:r>
              <a:t>Posicionamiento digital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1"/>
          </p:nvPr>
        </p:nvSpPr>
        <p:spPr/>
        <p:txBody>
          <a:bodyPr/>
          <a:lstStyle/>
          <a:p>
            <a:pPr/>
            <a:r>
              <a:t>+68%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85"/>
          </p:nvPr>
        </p:nvSpPr>
        <p:spPr/>
        <p:txBody>
          <a:bodyPr/>
          <a:lstStyle/>
          <a:p>
            <a:pPr/>
            <a:r>
              <a:t>Seguidores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82"/>
          </p:nvPr>
        </p:nvSpPr>
        <p:spPr/>
        <p:txBody>
          <a:bodyPr/>
          <a:lstStyle/>
          <a:p>
            <a:pPr/>
            <a:r>
              <a:t>+35%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86"/>
          </p:nvPr>
        </p:nvSpPr>
        <p:spPr/>
        <p:txBody>
          <a:bodyPr/>
          <a:lstStyle/>
          <a:p>
            <a:pPr/>
            <a:r>
              <a:t>Contenido propio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83"/>
          </p:nvPr>
        </p:nvSpPr>
        <p:spPr/>
        <p:txBody>
          <a:bodyPr/>
          <a:lstStyle/>
          <a:p>
            <a:pPr/>
            <a:r>
              <a:t>+27%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87"/>
          </p:nvPr>
        </p:nvSpPr>
        <p:spPr/>
        <p:txBody>
          <a:bodyPr/>
          <a:lstStyle/>
          <a:p>
            <a:pPr/>
            <a:r>
              <a:t>Interacciones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QUÉ HACEMOS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Nuestros servicios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Consultoría (lo hacemos por ti) y Formación (habilitamos a tu equipo) en cada frente.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200"/>
          </p:nvPr>
        </p:nvGraphicFramePr>
        <p:xfrm>
          <a:off x="594360" y="2788920"/>
          <a:ext cx="11000232" cy="1483360"/>
        </p:xfrm>
        <a:graphic>
          <a:graphicData uri="http://schemas.openxmlformats.org/drawingml/2006/table">
            <a:tbl>
              <a:tblPr firstRow="1" bandRow="0" firstCol="1">
                <a:tableStyleId>{8A3F2C11-5E1B-4C7A-9D2E-7A1B3C4D5E6F}</a:tableStyleId>
              </a:tblPr>
              <a:tblGrid>
                <a:gridCol w="2743200"/>
                <a:gridCol w="4206240"/>
                <a:gridCol w="4050792"/>
              </a:tblGrid>
              <a:tr h="370840"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Frente</a:t>
                      </a:r>
                    </a:p>
                  </a:txBody>
                  <a:tcPr anchor="ctr" marL="109728" marR="109728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Consultoría</a:t>
                      </a:r>
                    </a:p>
                  </a:txBody>
                  <a:tcPr anchor="ctr" marL="109728" marR="109728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Formación</a:t>
                      </a:r>
                    </a:p>
                  </a:txBody>
                  <a:tcPr anchor="ctr" marL="109728" marR="109728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Reputación y liderazgo</a:t>
                      </a:r>
                    </a:p>
                  </a:txBody>
                  <a:tcPr anchor="ctr" marL="109728" marR="109728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Marca Directiva y Corporativa · Embajadores digitales</a:t>
                      </a:r>
                    </a:p>
                  </a:txBody>
                  <a:tcPr anchor="ctr" marL="109728" marR="109728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Talleres de Marca Directiva y Embajadores</a:t>
                      </a:r>
                    </a:p>
                  </a:txBody>
                  <a:tcPr anchor="ctr" marL="109728" marR="109728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Visibilidad y presencia digital</a:t>
                      </a:r>
                    </a:p>
                  </a:txBody>
                  <a:tcPr anchor="ctr" marL="109728" marR="109728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Posicionamiento GEO · Marketing de Contenidos · Asuntos Públicos</a:t>
                      </a:r>
                    </a:p>
                  </a:txBody>
                  <a:tcPr anchor="ctr" marL="109728" marR="109728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Formación para periodistas · Political Intelligence AI</a:t>
                      </a:r>
                    </a:p>
                  </a:txBody>
                  <a:tcPr anchor="ctr" marL="109728" marR="109728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Adopción y capacidades de IA</a:t>
                      </a:r>
                    </a:p>
                  </a:txBody>
                  <a:tcPr anchor="ctr" marL="109728" marR="109728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Diagnóstico de madurez digital · Agentic AI Studio · GEO Rank · Data Pulse</a:t>
                      </a:r>
                    </a:p>
                  </a:txBody>
                  <a:tcPr anchor="ctr" marL="109728" marR="109728"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Poppins"/>
                        </a:rPr>
                        <a:t>Talleres de IA, data y automatización · Claude AI para empresas</a:t>
                      </a:r>
                    </a:p>
                  </a:txBody>
                  <a:tcPr anchor="ctr" marL="109728" marR="109728"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CASO · EMBAJADORES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PetroTal · Embajadores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Resultados medidos con nuestros clientes.</a:t>
            </a:r>
          </a:p>
        </p:txBody>
      </p:sp>
      <p:graphicFrame>
        <p:nvGraphicFramePr>
          <p:cNvPr id="5" name="Chart Placeholder 4"/>
          <p:cNvGraphicFramePr>
            <a:graphicFrameLocks noGrp="1"/>
          </p:cNvGraphicFramePr>
          <p:nvPr>
            <p:ph type="chart" idx="210"/>
          </p:nvPr>
        </p:nvGraphicFramePr>
        <p:xfrm>
          <a:off x="594360" y="2743200"/>
          <a:ext cx="722376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/>
            <a:r>
              <a:t>+256% en publicaciones propias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/>
            <a:r>
              <a:t>La cifra con mayor crecimiento del caso, junto a +180% en interacciones y +13% en seguidores (+6,365).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Consultora Estratégica de Comunicación Digital, potenciada con Inteligencia Artificial.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2.jpg"/>
          <p:cNvPicPr>
            <a:picLocks noGrp="1" noChangeAspect="1"/>
          </p:cNvPicPr>
          <p:nvPr>
            <p:ph type="pic" idx="13"/>
          </p:nvPr>
        </p:nvPicPr>
        <p:blipFill>
          <a:blip r:embed="rId3"/>
          <a:srcRect l="24841" r="24841"/>
          <a:stretch>
            <a:fillRect/>
          </a:stretch>
        </p:blipFill>
        <p:spPr/>
      </p:pic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CONTACTO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Conversemos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/>
            <a:r>
              <a:t>Nosotros te acompañamos.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20"/>
          </p:nvPr>
        </p:nvSpPr>
        <p:spPr/>
        <p:txBody>
          <a:bodyPr/>
          <a:lstStyle/>
          <a:p>
            <a:pPr/>
            <a:r>
              <a:t>WEB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223"/>
          </p:nvPr>
        </p:nvSpPr>
        <p:spPr/>
        <p:txBody>
          <a:bodyPr/>
          <a:lstStyle/>
          <a:p>
            <a:pPr/>
            <a:r>
              <a:t>www.verne.la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221"/>
          </p:nvPr>
        </p:nvSpPr>
        <p:spPr/>
        <p:txBody>
          <a:bodyPr/>
          <a:lstStyle/>
          <a:p>
            <a:pPr/>
            <a:r>
              <a:t>VÍCTOR LOZANO · DIRECTOR DE INNOVACIÓN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224"/>
          </p:nvPr>
        </p:nvSpPr>
        <p:spPr/>
        <p:txBody>
          <a:bodyPr/>
          <a:lstStyle/>
          <a:p>
            <a:pPr/>
            <a:r>
              <a:t>linkedin.com/in/victorlozanou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222"/>
          </p:nvPr>
        </p:nvSpPr>
        <p:spPr/>
        <p:txBody>
          <a:bodyPr/>
          <a:lstStyle/>
          <a:p>
            <a:pPr/>
            <a:r>
              <a:t>JULIO TALLEDO · DIRECTOR COMERCIAL &amp; MARKETING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225"/>
          </p:nvPr>
        </p:nvSpPr>
        <p:spPr/>
        <p:txBody>
          <a:bodyPr/>
          <a:lstStyle/>
          <a:p>
            <a:pPr/>
            <a:r>
              <a:t>linkedin.com/in/juliotalledo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/>
            <a:r>
              <a:t>DISEÑO LIBRE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Solo título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194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B6E80"/>
                </a:solidFill>
                <a:latin typeface="Poppins"/>
              </a:rPr>
              <a:t>Usa este diseño cuando ninguno de los anteriores se ajuste. Mantén los márgenes de 0,65", los estilos tipográficos y la paleta.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VERNE">
  <a:themeElements>
    <a:clrScheme name="VERNE">
      <a:dk1>
        <a:srgbClr val="333333"/>
      </a:dk1>
      <a:lt1>
        <a:srgbClr val="FFFFFF"/>
      </a:lt1>
      <a:dk2>
        <a:srgbClr val="25283D"/>
      </a:dk2>
      <a:lt2>
        <a:srgbClr val="F3F0FB"/>
      </a:lt2>
      <a:accent1>
        <a:srgbClr val="6D4ABE"/>
      </a:accent1>
      <a:accent2>
        <a:srgbClr val="C0B0F4"/>
      </a:accent2>
      <a:accent3>
        <a:srgbClr val="25283D"/>
      </a:accent3>
      <a:accent4>
        <a:srgbClr val="8F72D6"/>
      </a:accent4>
      <a:accent5>
        <a:srgbClr val="D8D4EA"/>
      </a:accent5>
      <a:accent6>
        <a:srgbClr val="6B6E80"/>
      </a:accent6>
      <a:hlink>
        <a:srgbClr val="6D4ABE"/>
      </a:hlink>
      <a:folHlink>
        <a:srgbClr val="8F72D6"/>
      </a:folHlink>
    </a:clrScheme>
    <a:fontScheme name="VERNE · Poppins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maestra VERNE</dc:title>
  <dc:subject/>
  <dc:creator>VERNE · Comunicación e Innovación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